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handoutMasterIdLst>
    <p:handoutMasterId r:id="rId30"/>
  </p:handoutMasterIdLst>
  <p:sldIdLst>
    <p:sldId id="256" r:id="rId2"/>
    <p:sldId id="279" r:id="rId3"/>
    <p:sldId id="323" r:id="rId4"/>
    <p:sldId id="281" r:id="rId5"/>
    <p:sldId id="326" r:id="rId6"/>
    <p:sldId id="327" r:id="rId7"/>
    <p:sldId id="328" r:id="rId8"/>
    <p:sldId id="329" r:id="rId9"/>
    <p:sldId id="330" r:id="rId10"/>
    <p:sldId id="331" r:id="rId11"/>
    <p:sldId id="332" r:id="rId12"/>
    <p:sldId id="333" r:id="rId13"/>
    <p:sldId id="334" r:id="rId14"/>
    <p:sldId id="335" r:id="rId15"/>
    <p:sldId id="336" r:id="rId16"/>
    <p:sldId id="337" r:id="rId17"/>
    <p:sldId id="338" r:id="rId18"/>
    <p:sldId id="339" r:id="rId19"/>
    <p:sldId id="340" r:id="rId20"/>
    <p:sldId id="341" r:id="rId21"/>
    <p:sldId id="342" r:id="rId22"/>
    <p:sldId id="343" r:id="rId23"/>
    <p:sldId id="291" r:id="rId24"/>
    <p:sldId id="308" r:id="rId25"/>
    <p:sldId id="344" r:id="rId26"/>
    <p:sldId id="345" r:id="rId27"/>
    <p:sldId id="346" r:id="rId28"/>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510" initials="K" lastIdx="1" clrIdx="0">
    <p:extLst>
      <p:ext uri="{19B8F6BF-5375-455C-9EA6-DF929625EA0E}">
        <p15:presenceInfo xmlns:p15="http://schemas.microsoft.com/office/powerpoint/2012/main" userId="K510"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990000"/>
    <a:srgbClr val="FFFF99"/>
    <a:srgbClr val="FFFFFF"/>
    <a:srgbClr val="FF0066"/>
    <a:srgbClr val="70A8DA"/>
    <a:srgbClr val="333333"/>
    <a:srgbClr val="FFFF00"/>
    <a:srgbClr val="C5C5C5"/>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86" autoAdjust="0"/>
    <p:restoredTop sz="75691" autoAdjust="0"/>
  </p:normalViewPr>
  <p:slideViewPr>
    <p:cSldViewPr>
      <p:cViewPr varScale="1">
        <p:scale>
          <a:sx n="85" d="100"/>
          <a:sy n="85" d="100"/>
        </p:scale>
        <p:origin x="624" y="53"/>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87" d="100"/>
          <a:sy n="87" d="100"/>
        </p:scale>
        <p:origin x="3840"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4D93EE-21FB-4713-8464-D61DC972F65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A5A9D9B-4DA7-411D-8345-328D1AED3A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CDD1965-8F53-4611-B166-F63011AE04E7}" type="datetimeFigureOut">
              <a:rPr lang="en-US" smtClean="0"/>
              <a:t>12/10/2025</a:t>
            </a:fld>
            <a:endParaRPr lang="en-US"/>
          </a:p>
        </p:txBody>
      </p:sp>
      <p:sp>
        <p:nvSpPr>
          <p:cNvPr id="4" name="Footer Placeholder 3">
            <a:extLst>
              <a:ext uri="{FF2B5EF4-FFF2-40B4-BE49-F238E27FC236}">
                <a16:creationId xmlns:a16="http://schemas.microsoft.com/office/drawing/2014/main" id="{BD6D8BC6-8A84-4EBB-BF52-677A26D0023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AAAE917-6840-4D74-9D97-EA90E2C8EC9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362D45-E47C-4463-8BD2-C006E19FFE13}" type="slidenum">
              <a:rPr lang="en-US" smtClean="0"/>
              <a:t>‹#›</a:t>
            </a:fld>
            <a:endParaRPr lang="en-US"/>
          </a:p>
        </p:txBody>
      </p:sp>
    </p:spTree>
    <p:extLst>
      <p:ext uri="{BB962C8B-B14F-4D97-AF65-F5344CB8AC3E}">
        <p14:creationId xmlns:p14="http://schemas.microsoft.com/office/powerpoint/2010/main" val="13773067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1024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1024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1024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4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1024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85A77F36-C0E9-435B-A23E-C02F8ADA1E40}"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A77F36-C0E9-435B-A23E-C02F8ADA1E40}" type="slidenum">
              <a:rPr lang="en-US" smtClean="0"/>
              <a:pPr/>
              <a:t>1</a:t>
            </a:fld>
            <a:endParaRPr lang="en-US"/>
          </a:p>
        </p:txBody>
      </p:sp>
    </p:spTree>
    <p:extLst>
      <p:ext uri="{BB962C8B-B14F-4D97-AF65-F5344CB8AC3E}">
        <p14:creationId xmlns:p14="http://schemas.microsoft.com/office/powerpoint/2010/main" val="2068752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4109286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100D9-DF4B-2C47-F0DC-5150CBA4AA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5C3FC-C1F1-73C8-F1E7-C6486538161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F5166B9-9481-EF43-B6E9-F67410A1CF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7AF66D-4BCF-D4AA-53C2-6AC1A62689E2}"/>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400043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4082695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441137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937824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3029336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455636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463615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880205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222860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4533884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1C8AC-3D3C-8942-A70A-3F40779FA6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7B0F77-BBBA-80F0-4927-70882D37865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D52F914-10D7-7846-F90D-2D529A91DA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5F7A25-BE02-51AA-6598-D804EE2CC2E0}"/>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6886415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AAF94-ABD5-D915-0997-E56E66D7AF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62A469-720D-B7FD-725C-0783B8DD14D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C40A02F-98E1-A3DC-D7C3-3A6BFBCE55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01451A-D042-5358-46D6-5B52E6E700AD}"/>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3087573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A03F7-873D-7EE6-AD9F-2EB6A0260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640488-45B0-B29C-0F0E-F6F1D631023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AC15782-8728-B897-5AC6-396024183F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388335-F67F-D062-FEB6-2FDECB9B659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7208876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F19E4-FFBD-260B-8E34-70204556ED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98762-2A43-0895-50BA-DF1315CB9D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6F1FF23-8751-EA74-78C4-EEA12ED431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89549B-5715-14BE-9764-E366E2C2459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9469763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1DBED-B567-3099-B74B-5E74B7D6A0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9285ED-134A-9242-AA86-E258175F97A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F02D5BD-B006-0113-DFC4-FEC03B9853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93AB22-6C46-9C3A-7DF1-89DEE76D941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847921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45916-286D-790E-1427-1B3945A69B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2D8BFD-8BC9-8F77-81F1-A34DCDD2582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D269515-5284-3E55-2C4F-1EF0933196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253B81-6710-F8ED-77B0-D19EDE42501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40553323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A4598-9C3C-90ED-B180-76267DFB62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FC7F5-206A-9B6A-01B7-FDC1D7F3DF4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6FE9C70-80EC-6A95-89F5-A5C2D18FCC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5F5A23-99A2-6F67-9367-E36A13B99DE3}"/>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9290630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AF35F-56A5-3641-2206-25807D4FE3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E78A1E-7233-3B4A-E6BB-F2BE5AC4B3B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CE8DD80-6BFB-C954-5146-0A7E04B28C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8BC6C0-C586-FEEF-F3D7-5C4378F25E86}"/>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9242736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AF35F-56A5-3641-2206-25807D4FE3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E78A1E-7233-3B4A-E6BB-F2BE5AC4B3B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CE8DD80-6BFB-C954-5146-0A7E04B28C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8BC6C0-C586-FEEF-F3D7-5C4378F25E86}"/>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8926009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AF35F-56A5-3641-2206-25807D4FE3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E78A1E-7233-3B4A-E6BB-F2BE5AC4B3B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CE8DD80-6BFB-C954-5146-0A7E04B28C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8BC6C0-C586-FEEF-F3D7-5C4378F25E86}"/>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4382783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42733970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40126664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5660047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9726692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A77F36-C0E9-435B-A23E-C02F8ADA1E4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7519388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le Slide">
    <p:spTree>
      <p:nvGrpSpPr>
        <p:cNvPr id="1" name=""/>
        <p:cNvGrpSpPr/>
        <p:nvPr/>
      </p:nvGrpSpPr>
      <p:grpSpPr>
        <a:xfrm>
          <a:off x="0" y="0"/>
          <a:ext cx="0" cy="0"/>
          <a:chOff x="0" y="0"/>
          <a:chExt cx="0" cy="0"/>
        </a:xfrm>
      </p:grpSpPr>
      <p:grpSp>
        <p:nvGrpSpPr>
          <p:cNvPr id="3147" name="Group 75"/>
          <p:cNvGrpSpPr>
            <a:grpSpLocks/>
          </p:cNvGrpSpPr>
          <p:nvPr/>
        </p:nvGrpSpPr>
        <p:grpSpPr bwMode="auto">
          <a:xfrm>
            <a:off x="150286" y="5954716"/>
            <a:ext cx="11914716" cy="631825"/>
            <a:chOff x="71" y="3751"/>
            <a:chExt cx="5629" cy="398"/>
          </a:xfrm>
        </p:grpSpPr>
        <p:sp>
          <p:nvSpPr>
            <p:cNvPr id="3096" name="Freeform 24"/>
            <p:cNvSpPr>
              <a:spLocks/>
            </p:cNvSpPr>
            <p:nvPr userDrawn="1"/>
          </p:nvSpPr>
          <p:spPr bwMode="gray">
            <a:xfrm>
              <a:off x="71" y="3751"/>
              <a:ext cx="5626" cy="349"/>
            </a:xfrm>
            <a:custGeom>
              <a:avLst/>
              <a:gdLst/>
              <a:ahLst/>
              <a:cxnLst>
                <a:cxn ang="0">
                  <a:pos x="5626" y="349"/>
                </a:cxn>
                <a:cxn ang="0">
                  <a:pos x="0" y="349"/>
                </a:cxn>
                <a:cxn ang="0">
                  <a:pos x="0" y="187"/>
                </a:cxn>
                <a:cxn ang="0">
                  <a:pos x="0" y="114"/>
                </a:cxn>
                <a:cxn ang="0">
                  <a:pos x="4064" y="118"/>
                </a:cxn>
                <a:cxn ang="0">
                  <a:pos x="4329" y="0"/>
                </a:cxn>
                <a:cxn ang="0">
                  <a:pos x="5623" y="0"/>
                </a:cxn>
                <a:cxn ang="0">
                  <a:pos x="5626" y="349"/>
                </a:cxn>
              </a:cxnLst>
              <a:rect l="0" t="0" r="r" b="b"/>
              <a:pathLst>
                <a:path w="5626" h="349">
                  <a:moveTo>
                    <a:pt x="5626" y="349"/>
                  </a:moveTo>
                  <a:lnTo>
                    <a:pt x="0" y="349"/>
                  </a:lnTo>
                  <a:lnTo>
                    <a:pt x="0" y="187"/>
                  </a:lnTo>
                  <a:lnTo>
                    <a:pt x="0" y="114"/>
                  </a:lnTo>
                  <a:cubicBezTo>
                    <a:pt x="678" y="103"/>
                    <a:pt x="3343" y="137"/>
                    <a:pt x="4064" y="118"/>
                  </a:cubicBezTo>
                  <a:lnTo>
                    <a:pt x="4329" y="0"/>
                  </a:lnTo>
                  <a:lnTo>
                    <a:pt x="5623" y="0"/>
                  </a:lnTo>
                  <a:lnTo>
                    <a:pt x="5626" y="349"/>
                  </a:lnTo>
                  <a:close/>
                </a:path>
              </a:pathLst>
            </a:custGeom>
            <a:solidFill>
              <a:schemeClr val="tx1"/>
            </a:solidFill>
            <a:ln w="9525">
              <a:noFill/>
              <a:round/>
              <a:headEnd/>
              <a:tailEnd/>
            </a:ln>
            <a:effectLst/>
          </p:spPr>
          <p:txBody>
            <a:bodyPr/>
            <a:lstStyle/>
            <a:p>
              <a:endParaRPr lang="en-US"/>
            </a:p>
          </p:txBody>
        </p:sp>
        <p:sp>
          <p:nvSpPr>
            <p:cNvPr id="3097" name="Freeform 25"/>
            <p:cNvSpPr>
              <a:spLocks/>
            </p:cNvSpPr>
            <p:nvPr userDrawn="1"/>
          </p:nvSpPr>
          <p:spPr bwMode="gray">
            <a:xfrm>
              <a:off x="71" y="3800"/>
              <a:ext cx="5626" cy="349"/>
            </a:xfrm>
            <a:custGeom>
              <a:avLst/>
              <a:gdLst/>
              <a:ahLst/>
              <a:cxnLst>
                <a:cxn ang="0">
                  <a:pos x="5626" y="349"/>
                </a:cxn>
                <a:cxn ang="0">
                  <a:pos x="0" y="349"/>
                </a:cxn>
                <a:cxn ang="0">
                  <a:pos x="0" y="187"/>
                </a:cxn>
                <a:cxn ang="0">
                  <a:pos x="0" y="114"/>
                </a:cxn>
                <a:cxn ang="0">
                  <a:pos x="4082" y="118"/>
                </a:cxn>
                <a:cxn ang="0">
                  <a:pos x="4345" y="0"/>
                </a:cxn>
                <a:cxn ang="0">
                  <a:pos x="5623" y="6"/>
                </a:cxn>
                <a:cxn ang="0">
                  <a:pos x="5626" y="349"/>
                </a:cxn>
              </a:cxnLst>
              <a:rect l="0" t="0" r="r" b="b"/>
              <a:pathLst>
                <a:path w="5626" h="349">
                  <a:moveTo>
                    <a:pt x="5626" y="349"/>
                  </a:moveTo>
                  <a:lnTo>
                    <a:pt x="0" y="349"/>
                  </a:lnTo>
                  <a:lnTo>
                    <a:pt x="0" y="187"/>
                  </a:lnTo>
                  <a:lnTo>
                    <a:pt x="0" y="114"/>
                  </a:lnTo>
                  <a:cubicBezTo>
                    <a:pt x="680" y="103"/>
                    <a:pt x="3358" y="137"/>
                    <a:pt x="4082" y="118"/>
                  </a:cubicBezTo>
                  <a:lnTo>
                    <a:pt x="4345" y="0"/>
                  </a:lnTo>
                  <a:lnTo>
                    <a:pt x="5623" y="6"/>
                  </a:lnTo>
                  <a:lnTo>
                    <a:pt x="5626" y="349"/>
                  </a:lnTo>
                  <a:close/>
                </a:path>
              </a:pathLst>
            </a:custGeom>
            <a:solidFill>
              <a:schemeClr val="bg1"/>
            </a:solidFill>
            <a:ln w="9525">
              <a:noFill/>
              <a:round/>
              <a:headEnd/>
              <a:tailEnd/>
            </a:ln>
            <a:effectLst/>
          </p:spPr>
          <p:txBody>
            <a:bodyPr/>
            <a:lstStyle/>
            <a:p>
              <a:endParaRPr lang="en-US"/>
            </a:p>
          </p:txBody>
        </p:sp>
        <p:sp>
          <p:nvSpPr>
            <p:cNvPr id="3098" name="Freeform 26"/>
            <p:cNvSpPr>
              <a:spLocks/>
            </p:cNvSpPr>
            <p:nvPr userDrawn="1"/>
          </p:nvSpPr>
          <p:spPr bwMode="gray">
            <a:xfrm>
              <a:off x="4209" y="3833"/>
              <a:ext cx="1491" cy="88"/>
            </a:xfrm>
            <a:custGeom>
              <a:avLst/>
              <a:gdLst/>
              <a:ahLst/>
              <a:cxnLst>
                <a:cxn ang="0">
                  <a:pos x="0" y="84"/>
                </a:cxn>
                <a:cxn ang="0">
                  <a:pos x="223" y="0"/>
                </a:cxn>
                <a:cxn ang="0">
                  <a:pos x="1491" y="0"/>
                </a:cxn>
                <a:cxn ang="0">
                  <a:pos x="1488" y="60"/>
                </a:cxn>
                <a:cxn ang="0">
                  <a:pos x="383" y="59"/>
                </a:cxn>
                <a:cxn ang="0">
                  <a:pos x="273" y="88"/>
                </a:cxn>
                <a:cxn ang="0">
                  <a:pos x="0" y="84"/>
                </a:cxn>
              </a:cxnLst>
              <a:rect l="0" t="0" r="r" b="b"/>
              <a:pathLst>
                <a:path w="1491" h="88">
                  <a:moveTo>
                    <a:pt x="0" y="84"/>
                  </a:moveTo>
                  <a:lnTo>
                    <a:pt x="223" y="0"/>
                  </a:lnTo>
                  <a:lnTo>
                    <a:pt x="1491" y="0"/>
                  </a:lnTo>
                  <a:lnTo>
                    <a:pt x="1488" y="60"/>
                  </a:lnTo>
                  <a:lnTo>
                    <a:pt x="383" y="59"/>
                  </a:lnTo>
                  <a:lnTo>
                    <a:pt x="273" y="88"/>
                  </a:lnTo>
                  <a:lnTo>
                    <a:pt x="0" y="84"/>
                  </a:lnTo>
                  <a:close/>
                </a:path>
              </a:pathLst>
            </a:custGeom>
            <a:solidFill>
              <a:srgbClr val="FFFFFF">
                <a:alpha val="30000"/>
              </a:srgbClr>
            </a:solidFill>
            <a:ln w="9525">
              <a:noFill/>
              <a:round/>
              <a:headEnd/>
              <a:tailEnd/>
            </a:ln>
            <a:effectLst/>
          </p:spPr>
          <p:txBody>
            <a:bodyPr/>
            <a:lstStyle/>
            <a:p>
              <a:endParaRPr lang="en-US"/>
            </a:p>
          </p:txBody>
        </p:sp>
      </p:grpSp>
      <p:sp>
        <p:nvSpPr>
          <p:cNvPr id="3099" name="Freeform 27" descr="Dark upward diagonal"/>
          <p:cNvSpPr>
            <a:spLocks/>
          </p:cNvSpPr>
          <p:nvPr/>
        </p:nvSpPr>
        <p:spPr bwMode="gray">
          <a:xfrm>
            <a:off x="0" y="11115"/>
            <a:ext cx="12192000" cy="500063"/>
          </a:xfrm>
          <a:custGeom>
            <a:avLst/>
            <a:gdLst/>
            <a:ahLst/>
            <a:cxnLst>
              <a:cxn ang="0">
                <a:pos x="0" y="1"/>
              </a:cxn>
              <a:cxn ang="0">
                <a:pos x="5546" y="0"/>
              </a:cxn>
              <a:cxn ang="0">
                <a:pos x="5655" y="84"/>
              </a:cxn>
              <a:cxn ang="0">
                <a:pos x="5649" y="315"/>
              </a:cxn>
              <a:cxn ang="0">
                <a:pos x="1" y="314"/>
              </a:cxn>
              <a:cxn ang="0">
                <a:pos x="0" y="1"/>
              </a:cxn>
            </a:cxnLst>
            <a:rect l="0" t="0" r="r" b="b"/>
            <a:pathLst>
              <a:path w="5655" h="315">
                <a:moveTo>
                  <a:pt x="0" y="1"/>
                </a:moveTo>
                <a:lnTo>
                  <a:pt x="5546" y="0"/>
                </a:lnTo>
                <a:cubicBezTo>
                  <a:pt x="5652" y="0"/>
                  <a:pt x="5655" y="84"/>
                  <a:pt x="5655" y="84"/>
                </a:cubicBezTo>
                <a:lnTo>
                  <a:pt x="5649" y="315"/>
                </a:lnTo>
                <a:lnTo>
                  <a:pt x="1" y="314"/>
                </a:lnTo>
                <a:lnTo>
                  <a:pt x="0" y="1"/>
                </a:lnTo>
                <a:close/>
              </a:path>
            </a:pathLst>
          </a:custGeom>
          <a:pattFill prst="dkUpDiag">
            <a:fgClr>
              <a:schemeClr val="bg1">
                <a:alpha val="77000"/>
              </a:schemeClr>
            </a:fgClr>
            <a:bgClr>
              <a:schemeClr val="tx1">
                <a:alpha val="77000"/>
              </a:schemeClr>
            </a:bgClr>
          </a:pattFill>
          <a:ln w="9525">
            <a:noFill/>
            <a:round/>
            <a:headEnd/>
            <a:tailEnd/>
          </a:ln>
          <a:effectLst/>
        </p:spPr>
        <p:txBody>
          <a:bodyPr/>
          <a:lstStyle/>
          <a:p>
            <a:endParaRPr lang="en-US"/>
          </a:p>
        </p:txBody>
      </p:sp>
      <p:sp>
        <p:nvSpPr>
          <p:cNvPr id="3100" name="Rectangle 28"/>
          <p:cNvSpPr>
            <a:spLocks noChangeArrowheads="1"/>
          </p:cNvSpPr>
          <p:nvPr/>
        </p:nvSpPr>
        <p:spPr bwMode="gray">
          <a:xfrm>
            <a:off x="152402" y="6610353"/>
            <a:ext cx="11908367" cy="163513"/>
          </a:xfrm>
          <a:prstGeom prst="rect">
            <a:avLst/>
          </a:prstGeom>
          <a:solidFill>
            <a:schemeClr val="accent1"/>
          </a:solidFill>
          <a:ln w="9525">
            <a:noFill/>
            <a:miter lim="800000"/>
            <a:headEnd/>
            <a:tailEnd/>
          </a:ln>
          <a:effectLst/>
        </p:spPr>
        <p:txBody>
          <a:bodyPr wrap="none" anchor="ctr"/>
          <a:lstStyle/>
          <a:p>
            <a:endParaRPr lang="en-US"/>
          </a:p>
        </p:txBody>
      </p:sp>
      <p:sp>
        <p:nvSpPr>
          <p:cNvPr id="3105" name="Rectangle 33"/>
          <p:cNvSpPr>
            <a:spLocks noChangeArrowheads="1"/>
          </p:cNvSpPr>
          <p:nvPr/>
        </p:nvSpPr>
        <p:spPr bwMode="gray">
          <a:xfrm>
            <a:off x="0" y="524010"/>
            <a:ext cx="12192000" cy="219071"/>
          </a:xfrm>
          <a:prstGeom prst="rect">
            <a:avLst/>
          </a:prstGeom>
          <a:solidFill>
            <a:schemeClr val="accent1"/>
          </a:solidFill>
          <a:ln w="9525">
            <a:noFill/>
            <a:miter lim="800000"/>
            <a:headEnd/>
            <a:tailEnd/>
          </a:ln>
          <a:effectLst/>
        </p:spPr>
        <p:txBody>
          <a:bodyPr wrap="none" anchor="ctr"/>
          <a:lstStyle/>
          <a:p>
            <a:endParaRPr lang="en-US"/>
          </a:p>
        </p:txBody>
      </p:sp>
      <p:sp>
        <p:nvSpPr>
          <p:cNvPr id="3076" name="Rectangle 4"/>
          <p:cNvSpPr>
            <a:spLocks noGrp="1" noChangeArrowheads="1"/>
          </p:cNvSpPr>
          <p:nvPr>
            <p:ph type="dt" sz="half" idx="2"/>
          </p:nvPr>
        </p:nvSpPr>
        <p:spPr>
          <a:xfrm>
            <a:off x="309033" y="6445250"/>
            <a:ext cx="2940051" cy="317500"/>
          </a:xfrm>
        </p:spPr>
        <p:txBody>
          <a:bodyPr/>
          <a:lstStyle>
            <a:lvl1pPr>
              <a:defRPr/>
            </a:lvl1pPr>
          </a:lstStyle>
          <a:p>
            <a:endParaRPr lang="en-US"/>
          </a:p>
        </p:txBody>
      </p:sp>
      <p:sp>
        <p:nvSpPr>
          <p:cNvPr id="3077" name="Rectangle 5"/>
          <p:cNvSpPr>
            <a:spLocks noGrp="1" noChangeArrowheads="1"/>
          </p:cNvSpPr>
          <p:nvPr>
            <p:ph type="ftr" sz="quarter" idx="3"/>
          </p:nvPr>
        </p:nvSpPr>
        <p:spPr>
          <a:xfrm>
            <a:off x="3433233" y="6445250"/>
            <a:ext cx="3987800" cy="317500"/>
          </a:xfrm>
        </p:spPr>
        <p:txBody>
          <a:bodyPr/>
          <a:lstStyle>
            <a:lvl1pPr>
              <a:defRPr/>
            </a:lvl1pPr>
          </a:lstStyle>
          <a:p>
            <a:endParaRPr lang="en-US"/>
          </a:p>
        </p:txBody>
      </p:sp>
      <p:sp>
        <p:nvSpPr>
          <p:cNvPr id="3078" name="Rectangle 6"/>
          <p:cNvSpPr>
            <a:spLocks noGrp="1" noChangeArrowheads="1"/>
          </p:cNvSpPr>
          <p:nvPr>
            <p:ph type="sldNum" sz="quarter" idx="4"/>
          </p:nvPr>
        </p:nvSpPr>
        <p:spPr>
          <a:xfrm>
            <a:off x="7600953" y="6445250"/>
            <a:ext cx="2940049" cy="317500"/>
          </a:xfrm>
        </p:spPr>
        <p:txBody>
          <a:bodyPr/>
          <a:lstStyle>
            <a:lvl1pPr>
              <a:defRPr sz="1400"/>
            </a:lvl1pPr>
          </a:lstStyle>
          <a:p>
            <a:fld id="{0A099D71-8491-4B33-93F4-50FBDB349578}" type="slidenum">
              <a:rPr lang="en-US" smtClean="0"/>
              <a:pPr/>
              <a:t>‹#›</a:t>
            </a:fld>
            <a:endParaRPr lang="en-US" dirty="0"/>
          </a:p>
        </p:txBody>
      </p:sp>
      <p:pic>
        <p:nvPicPr>
          <p:cNvPr id="1028" name="Picture 4" descr="Ý nghĩa logo Đại học Công nghệ Tp.HCM (HUTECH)">
            <a:extLst>
              <a:ext uri="{FF2B5EF4-FFF2-40B4-BE49-F238E27FC236}">
                <a16:creationId xmlns:a16="http://schemas.microsoft.com/office/drawing/2014/main" id="{5D69D83C-A6B7-4905-AA0C-6FF6F64D7C1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740129"/>
            <a:ext cx="3781425" cy="1209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38128"/>
            <a:ext cx="11201399" cy="868363"/>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sz="1400"/>
            </a:lvl1pPr>
          </a:lstStyle>
          <a:p>
            <a:fld id="{ADF2E8D5-BEF0-49D0-9908-6830265409DF}"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dirty="0"/>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sz="1400"/>
            </a:lvl1pPr>
          </a:lstStyle>
          <a:p>
            <a:fld id="{DE74851E-9E76-428D-BC7E-C769517E5F53}"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438278"/>
            <a:ext cx="5384800" cy="4733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38278"/>
            <a:ext cx="5384800" cy="4733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sz="1400"/>
            </a:lvl1pPr>
          </a:lstStyle>
          <a:p>
            <a:fld id="{5B8F496D-84B6-4568-B375-843DD2E9BD3E}"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sz="1400"/>
            </a:lvl1pPr>
          </a:lstStyle>
          <a:p>
            <a:fld id="{36BC87C1-EA51-4462-8763-6E3C7C1E02EF}"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sz="1400"/>
            </a:lvl1pPr>
          </a:lstStyle>
          <a:p>
            <a:fld id="{8D009CAE-CB16-4D37-BECA-A9CD3784EC7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sz="1400"/>
            </a:lvl1pPr>
          </a:lstStyle>
          <a:p>
            <a:fld id="{F550449B-5463-4793-9817-04934DDC43A7}"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sz="1400"/>
            </a:lvl1pPr>
          </a:lstStyle>
          <a:p>
            <a:fld id="{2CE70D59-EA16-4037-94ED-4C5C55F8C7C7}"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sz="1400"/>
            </a:lvl1pPr>
          </a:lstStyle>
          <a:p>
            <a:fld id="{0489B9B5-89C4-4C39-BAC2-56A6AA307D4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35028E16-ACAC-4600-9DF2-72626C038601}"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38128"/>
            <a:ext cx="2743200" cy="59340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38128"/>
            <a:ext cx="8026400" cy="59340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sz="1400"/>
            </a:lvl1pPr>
          </a:lstStyle>
          <a:p>
            <a:fld id="{BEF68485-55E5-4591-9694-AECEB1B48197}"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38128"/>
            <a:ext cx="8636000" cy="868363"/>
          </a:xfrm>
        </p:spPr>
        <p:txBody>
          <a:bodyPr/>
          <a:lstStyle/>
          <a:p>
            <a:r>
              <a:rPr lang="en-US"/>
              <a:t>Click to edit Master title style</a:t>
            </a:r>
          </a:p>
        </p:txBody>
      </p:sp>
      <p:sp>
        <p:nvSpPr>
          <p:cNvPr id="3" name="Text Placeholder 2"/>
          <p:cNvSpPr>
            <a:spLocks noGrp="1"/>
          </p:cNvSpPr>
          <p:nvPr>
            <p:ph type="body" sz="half" idx="1"/>
          </p:nvPr>
        </p:nvSpPr>
        <p:spPr>
          <a:xfrm>
            <a:off x="609600" y="1438278"/>
            <a:ext cx="5384800" cy="4733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38278"/>
            <a:ext cx="5384800" cy="4733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064002" y="6311903"/>
            <a:ext cx="2283884" cy="290513"/>
          </a:xfrm>
        </p:spPr>
        <p:txBody>
          <a:bodyPr/>
          <a:lstStyle>
            <a:lvl1pPr>
              <a:defRPr/>
            </a:lvl1pPr>
          </a:lstStyle>
          <a:p>
            <a:endParaRPr lang="en-US"/>
          </a:p>
        </p:txBody>
      </p:sp>
      <p:sp>
        <p:nvSpPr>
          <p:cNvPr id="6" name="Footer Placeholder 5"/>
          <p:cNvSpPr>
            <a:spLocks noGrp="1"/>
          </p:cNvSpPr>
          <p:nvPr>
            <p:ph type="ftr" sz="quarter" idx="11"/>
          </p:nvPr>
        </p:nvSpPr>
        <p:spPr>
          <a:xfrm>
            <a:off x="6441017" y="6323013"/>
            <a:ext cx="3081867" cy="290512"/>
          </a:xfrm>
        </p:spPr>
        <p:txBody>
          <a:bodyPr/>
          <a:lstStyle>
            <a:lvl1pPr>
              <a:defRPr/>
            </a:lvl1pPr>
          </a:lstStyle>
          <a:p>
            <a:endParaRPr lang="en-US"/>
          </a:p>
        </p:txBody>
      </p:sp>
      <p:sp>
        <p:nvSpPr>
          <p:cNvPr id="7" name="Slide Number Placeholder 6"/>
          <p:cNvSpPr>
            <a:spLocks noGrp="1"/>
          </p:cNvSpPr>
          <p:nvPr>
            <p:ph type="sldNum" sz="quarter" idx="12"/>
          </p:nvPr>
        </p:nvSpPr>
        <p:spPr>
          <a:xfrm>
            <a:off x="9489019" y="6323013"/>
            <a:ext cx="2154767" cy="290512"/>
          </a:xfrm>
        </p:spPr>
        <p:txBody>
          <a:bodyPr/>
          <a:lstStyle>
            <a:lvl1pPr>
              <a:defRPr sz="1400"/>
            </a:lvl1pPr>
          </a:lstStyle>
          <a:p>
            <a:fld id="{6000D101-AD16-4FBD-8EDD-A12EE12F67D8}" type="slidenum">
              <a:rPr lang="en-US" smtClean="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38128"/>
            <a:ext cx="8636000" cy="868363"/>
          </a:xfrm>
        </p:spPr>
        <p:txBody>
          <a:bodyPr/>
          <a:lstStyle/>
          <a:p>
            <a:r>
              <a:rPr lang="en-US"/>
              <a:t>Click to edit Master title style</a:t>
            </a:r>
          </a:p>
        </p:txBody>
      </p:sp>
      <p:sp>
        <p:nvSpPr>
          <p:cNvPr id="3" name="Table Placeholder 2"/>
          <p:cNvSpPr>
            <a:spLocks noGrp="1"/>
          </p:cNvSpPr>
          <p:nvPr>
            <p:ph type="tbl" idx="1"/>
          </p:nvPr>
        </p:nvSpPr>
        <p:spPr>
          <a:xfrm>
            <a:off x="609600" y="1438278"/>
            <a:ext cx="10972800" cy="4733925"/>
          </a:xfrm>
        </p:spPr>
        <p:txBody>
          <a:bodyPr/>
          <a:lstStyle/>
          <a:p>
            <a:r>
              <a:rPr lang="en-US"/>
              <a:t>Click icon to add table</a:t>
            </a:r>
          </a:p>
        </p:txBody>
      </p:sp>
      <p:sp>
        <p:nvSpPr>
          <p:cNvPr id="4" name="Date Placeholder 3"/>
          <p:cNvSpPr>
            <a:spLocks noGrp="1"/>
          </p:cNvSpPr>
          <p:nvPr>
            <p:ph type="dt" sz="half" idx="10"/>
          </p:nvPr>
        </p:nvSpPr>
        <p:spPr>
          <a:xfrm>
            <a:off x="4064002" y="6311903"/>
            <a:ext cx="2283884" cy="290513"/>
          </a:xfrm>
        </p:spPr>
        <p:txBody>
          <a:bodyPr/>
          <a:lstStyle>
            <a:lvl1pPr>
              <a:defRPr/>
            </a:lvl1pPr>
          </a:lstStyle>
          <a:p>
            <a:endParaRPr lang="en-US"/>
          </a:p>
        </p:txBody>
      </p:sp>
      <p:sp>
        <p:nvSpPr>
          <p:cNvPr id="5" name="Footer Placeholder 4"/>
          <p:cNvSpPr>
            <a:spLocks noGrp="1"/>
          </p:cNvSpPr>
          <p:nvPr>
            <p:ph type="ftr" sz="quarter" idx="11"/>
          </p:nvPr>
        </p:nvSpPr>
        <p:spPr>
          <a:xfrm>
            <a:off x="6441017" y="6323013"/>
            <a:ext cx="3081867" cy="290512"/>
          </a:xfrm>
        </p:spPr>
        <p:txBody>
          <a:bodyPr/>
          <a:lstStyle>
            <a:lvl1pPr>
              <a:defRPr/>
            </a:lvl1pPr>
          </a:lstStyle>
          <a:p>
            <a:endParaRPr lang="en-US"/>
          </a:p>
        </p:txBody>
      </p:sp>
      <p:sp>
        <p:nvSpPr>
          <p:cNvPr id="6" name="Slide Number Placeholder 5"/>
          <p:cNvSpPr>
            <a:spLocks noGrp="1"/>
          </p:cNvSpPr>
          <p:nvPr>
            <p:ph type="sldNum" sz="quarter" idx="12"/>
          </p:nvPr>
        </p:nvSpPr>
        <p:spPr>
          <a:xfrm>
            <a:off x="9489019" y="6323013"/>
            <a:ext cx="2154767" cy="290512"/>
          </a:xfrm>
        </p:spPr>
        <p:txBody>
          <a:bodyPr/>
          <a:lstStyle>
            <a:lvl1pPr>
              <a:defRPr sz="1400"/>
            </a:lvl1pPr>
          </a:lstStyle>
          <a:p>
            <a:fld id="{17287EBC-B7B3-4021-9796-42380107E34D}" type="slidenum">
              <a:rPr lang="en-US" smtClean="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101600" y="238128"/>
            <a:ext cx="10566400" cy="868363"/>
          </a:xfrm>
        </p:spPr>
        <p:txBody>
          <a:bodyPr/>
          <a:lstStyle>
            <a:lvl1pPr>
              <a:defRPr sz="3200"/>
            </a:lvl1pPr>
          </a:lstStyle>
          <a:p>
            <a:r>
              <a:rPr lang="en-US" dirty="0"/>
              <a:t>Click to edit Master title style</a:t>
            </a:r>
          </a:p>
        </p:txBody>
      </p:sp>
      <p:sp>
        <p:nvSpPr>
          <p:cNvPr id="3" name="Chart Placeholder 2"/>
          <p:cNvSpPr>
            <a:spLocks noGrp="1"/>
          </p:cNvSpPr>
          <p:nvPr>
            <p:ph type="chart" idx="1"/>
          </p:nvPr>
        </p:nvSpPr>
        <p:spPr>
          <a:xfrm>
            <a:off x="609600" y="1438278"/>
            <a:ext cx="10972800" cy="4733925"/>
          </a:xfrm>
        </p:spPr>
        <p:txBody>
          <a:bodyPr/>
          <a:lstStyle/>
          <a:p>
            <a:r>
              <a:rPr lang="en-US"/>
              <a:t>Click icon to add chart</a:t>
            </a:r>
          </a:p>
        </p:txBody>
      </p:sp>
      <p:sp>
        <p:nvSpPr>
          <p:cNvPr id="4" name="Date Placeholder 3"/>
          <p:cNvSpPr>
            <a:spLocks noGrp="1"/>
          </p:cNvSpPr>
          <p:nvPr>
            <p:ph type="dt" sz="half" idx="10"/>
          </p:nvPr>
        </p:nvSpPr>
        <p:spPr>
          <a:xfrm>
            <a:off x="4064002" y="6311903"/>
            <a:ext cx="2283884" cy="290513"/>
          </a:xfrm>
        </p:spPr>
        <p:txBody>
          <a:bodyPr/>
          <a:lstStyle>
            <a:lvl1pPr>
              <a:defRPr/>
            </a:lvl1pPr>
          </a:lstStyle>
          <a:p>
            <a:endParaRPr lang="en-US"/>
          </a:p>
        </p:txBody>
      </p:sp>
      <p:sp>
        <p:nvSpPr>
          <p:cNvPr id="5" name="Footer Placeholder 4"/>
          <p:cNvSpPr>
            <a:spLocks noGrp="1"/>
          </p:cNvSpPr>
          <p:nvPr>
            <p:ph type="ftr" sz="quarter" idx="11"/>
          </p:nvPr>
        </p:nvSpPr>
        <p:spPr>
          <a:xfrm>
            <a:off x="6441017" y="6323013"/>
            <a:ext cx="3081867" cy="290512"/>
          </a:xfrm>
        </p:spPr>
        <p:txBody>
          <a:bodyPr/>
          <a:lstStyle>
            <a:lvl1pPr>
              <a:defRPr/>
            </a:lvl1pPr>
          </a:lstStyle>
          <a:p>
            <a:endParaRPr lang="en-US"/>
          </a:p>
        </p:txBody>
      </p:sp>
      <p:sp>
        <p:nvSpPr>
          <p:cNvPr id="6" name="Slide Number Placeholder 5"/>
          <p:cNvSpPr>
            <a:spLocks noGrp="1"/>
          </p:cNvSpPr>
          <p:nvPr>
            <p:ph type="sldNum" sz="quarter" idx="12"/>
          </p:nvPr>
        </p:nvSpPr>
        <p:spPr>
          <a:xfrm>
            <a:off x="9489019" y="6323013"/>
            <a:ext cx="2154767" cy="290512"/>
          </a:xfrm>
        </p:spPr>
        <p:txBody>
          <a:bodyPr/>
          <a:lstStyle>
            <a:lvl1pPr>
              <a:defRPr sz="1400"/>
            </a:lvl1pPr>
          </a:lstStyle>
          <a:p>
            <a:fld id="{A12A188F-71BD-4693-9ED5-446B189C330B}" type="slidenum">
              <a:rPr lang="en-US" smtClean="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01600" y="238128"/>
            <a:ext cx="10566400" cy="868363"/>
          </a:xfrm>
        </p:spPr>
        <p:txBody>
          <a:bodyPr/>
          <a:lstStyle>
            <a:lvl1pPr>
              <a:defRPr sz="3200">
                <a:latin typeface="+mn-lt"/>
              </a:defRPr>
            </a:lvl1pPr>
          </a:lstStyle>
          <a:p>
            <a:r>
              <a:rPr lang="en-US" dirty="0"/>
              <a:t>Click to edit Master title style</a:t>
            </a:r>
          </a:p>
        </p:txBody>
      </p:sp>
      <p:sp>
        <p:nvSpPr>
          <p:cNvPr id="3" name="SmartArt Placeholder 2"/>
          <p:cNvSpPr>
            <a:spLocks noGrp="1"/>
          </p:cNvSpPr>
          <p:nvPr>
            <p:ph type="dgm" idx="1"/>
          </p:nvPr>
        </p:nvSpPr>
        <p:spPr>
          <a:xfrm>
            <a:off x="609600" y="1438278"/>
            <a:ext cx="10972800" cy="4733925"/>
          </a:xfrm>
        </p:spPr>
        <p:txBody>
          <a:bodyPr/>
          <a:lstStyle/>
          <a:p>
            <a:r>
              <a:rPr lang="en-US"/>
              <a:t>Click icon to add SmartArt graphic</a:t>
            </a:r>
          </a:p>
        </p:txBody>
      </p:sp>
      <p:sp>
        <p:nvSpPr>
          <p:cNvPr id="4" name="Date Placeholder 3"/>
          <p:cNvSpPr>
            <a:spLocks noGrp="1"/>
          </p:cNvSpPr>
          <p:nvPr>
            <p:ph type="dt" sz="half" idx="10"/>
          </p:nvPr>
        </p:nvSpPr>
        <p:spPr>
          <a:xfrm>
            <a:off x="4064002" y="6311903"/>
            <a:ext cx="2283884" cy="290513"/>
          </a:xfrm>
        </p:spPr>
        <p:txBody>
          <a:bodyPr/>
          <a:lstStyle>
            <a:lvl1pPr>
              <a:defRPr/>
            </a:lvl1pPr>
          </a:lstStyle>
          <a:p>
            <a:endParaRPr lang="en-US"/>
          </a:p>
        </p:txBody>
      </p:sp>
      <p:sp>
        <p:nvSpPr>
          <p:cNvPr id="5" name="Footer Placeholder 4"/>
          <p:cNvSpPr>
            <a:spLocks noGrp="1"/>
          </p:cNvSpPr>
          <p:nvPr>
            <p:ph type="ftr" sz="quarter" idx="11"/>
          </p:nvPr>
        </p:nvSpPr>
        <p:spPr>
          <a:xfrm>
            <a:off x="6441017" y="6323013"/>
            <a:ext cx="3081867" cy="290512"/>
          </a:xfrm>
        </p:spPr>
        <p:txBody>
          <a:bodyPr/>
          <a:lstStyle>
            <a:lvl1pPr>
              <a:defRPr/>
            </a:lvl1pPr>
          </a:lstStyle>
          <a:p>
            <a:endParaRPr lang="en-US"/>
          </a:p>
        </p:txBody>
      </p:sp>
      <p:sp>
        <p:nvSpPr>
          <p:cNvPr id="6" name="Slide Number Placeholder 5"/>
          <p:cNvSpPr>
            <a:spLocks noGrp="1"/>
          </p:cNvSpPr>
          <p:nvPr>
            <p:ph type="sldNum" sz="quarter" idx="12"/>
          </p:nvPr>
        </p:nvSpPr>
        <p:spPr>
          <a:xfrm>
            <a:off x="9489019" y="6323013"/>
            <a:ext cx="2154767" cy="290512"/>
          </a:xfrm>
        </p:spPr>
        <p:txBody>
          <a:bodyPr/>
          <a:lstStyle>
            <a:lvl1pPr>
              <a:defRPr sz="1400"/>
            </a:lvl1pPr>
          </a:lstStyle>
          <a:p>
            <a:fld id="{E6C0F03F-0146-4B2F-8A98-79B3B1AC98C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9" name="Freeform 25"/>
          <p:cNvSpPr>
            <a:spLocks/>
          </p:cNvSpPr>
          <p:nvPr/>
        </p:nvSpPr>
        <p:spPr bwMode="gray">
          <a:xfrm>
            <a:off x="127002" y="6446841"/>
            <a:ext cx="11961284" cy="314325"/>
          </a:xfrm>
          <a:custGeom>
            <a:avLst/>
            <a:gdLst/>
            <a:ahLst/>
            <a:cxnLst>
              <a:cxn ang="0">
                <a:pos x="4" y="198"/>
              </a:cxn>
              <a:cxn ang="0">
                <a:pos x="5651" y="198"/>
              </a:cxn>
              <a:cxn ang="0">
                <a:pos x="5646" y="94"/>
              </a:cxn>
              <a:cxn ang="0">
                <a:pos x="1491" y="94"/>
              </a:cxn>
              <a:cxn ang="0">
                <a:pos x="1343" y="2"/>
              </a:cxn>
              <a:cxn ang="0">
                <a:pos x="0" y="0"/>
              </a:cxn>
              <a:cxn ang="0">
                <a:pos x="4" y="198"/>
              </a:cxn>
            </a:cxnLst>
            <a:rect l="0" t="0" r="r" b="b"/>
            <a:pathLst>
              <a:path w="5651" h="198">
                <a:moveTo>
                  <a:pt x="4" y="198"/>
                </a:moveTo>
                <a:lnTo>
                  <a:pt x="5651" y="198"/>
                </a:lnTo>
                <a:lnTo>
                  <a:pt x="5646" y="94"/>
                </a:lnTo>
                <a:lnTo>
                  <a:pt x="1491" y="94"/>
                </a:lnTo>
                <a:lnTo>
                  <a:pt x="1343" y="2"/>
                </a:lnTo>
                <a:lnTo>
                  <a:pt x="0" y="0"/>
                </a:lnTo>
                <a:lnTo>
                  <a:pt x="4" y="198"/>
                </a:lnTo>
                <a:close/>
              </a:path>
            </a:pathLst>
          </a:custGeom>
          <a:solidFill>
            <a:schemeClr val="tx1"/>
          </a:solidFill>
          <a:ln w="9525">
            <a:noFill/>
            <a:round/>
            <a:headEnd/>
            <a:tailEnd/>
          </a:ln>
          <a:effectLst/>
        </p:spPr>
        <p:txBody>
          <a:bodyPr/>
          <a:lstStyle/>
          <a:p>
            <a:endParaRPr lang="en-US"/>
          </a:p>
        </p:txBody>
      </p:sp>
      <p:sp>
        <p:nvSpPr>
          <p:cNvPr id="1050" name="Freeform 26"/>
          <p:cNvSpPr>
            <a:spLocks/>
          </p:cNvSpPr>
          <p:nvPr/>
        </p:nvSpPr>
        <p:spPr bwMode="gray">
          <a:xfrm>
            <a:off x="127002" y="6491288"/>
            <a:ext cx="11967633" cy="279400"/>
          </a:xfrm>
          <a:custGeom>
            <a:avLst/>
            <a:gdLst/>
            <a:ahLst/>
            <a:cxnLst>
              <a:cxn ang="0">
                <a:pos x="0" y="176"/>
              </a:cxn>
              <a:cxn ang="0">
                <a:pos x="5650" y="169"/>
              </a:cxn>
              <a:cxn ang="0">
                <a:pos x="5646" y="95"/>
              </a:cxn>
              <a:cxn ang="0">
                <a:pos x="1478" y="95"/>
              </a:cxn>
              <a:cxn ang="0">
                <a:pos x="1317" y="3"/>
              </a:cxn>
              <a:cxn ang="0">
                <a:pos x="0" y="0"/>
              </a:cxn>
              <a:cxn ang="0">
                <a:pos x="0" y="176"/>
              </a:cxn>
            </a:cxnLst>
            <a:rect l="0" t="0" r="r" b="b"/>
            <a:pathLst>
              <a:path w="5650" h="176">
                <a:moveTo>
                  <a:pt x="0" y="176"/>
                </a:moveTo>
                <a:lnTo>
                  <a:pt x="5650" y="169"/>
                </a:lnTo>
                <a:lnTo>
                  <a:pt x="5646" y="95"/>
                </a:lnTo>
                <a:lnTo>
                  <a:pt x="1478" y="95"/>
                </a:lnTo>
                <a:lnTo>
                  <a:pt x="1317" y="3"/>
                </a:lnTo>
                <a:lnTo>
                  <a:pt x="0" y="0"/>
                </a:lnTo>
                <a:lnTo>
                  <a:pt x="0" y="176"/>
                </a:lnTo>
                <a:close/>
              </a:path>
            </a:pathLst>
          </a:custGeom>
          <a:solidFill>
            <a:schemeClr val="bg1"/>
          </a:solidFill>
          <a:ln w="9525">
            <a:noFill/>
            <a:round/>
            <a:headEnd/>
            <a:tailEnd/>
          </a:ln>
          <a:effectLst/>
        </p:spPr>
        <p:txBody>
          <a:bodyPr/>
          <a:lstStyle/>
          <a:p>
            <a:endParaRPr lang="en-US"/>
          </a:p>
        </p:txBody>
      </p:sp>
      <p:sp>
        <p:nvSpPr>
          <p:cNvPr id="1051" name="Freeform 27" descr="Dark upward diagonal"/>
          <p:cNvSpPr>
            <a:spLocks/>
          </p:cNvSpPr>
          <p:nvPr/>
        </p:nvSpPr>
        <p:spPr bwMode="gray">
          <a:xfrm>
            <a:off x="-19593" y="2381"/>
            <a:ext cx="12191999" cy="223836"/>
          </a:xfrm>
          <a:custGeom>
            <a:avLst/>
            <a:gdLst/>
            <a:ahLst/>
            <a:cxnLst>
              <a:cxn ang="0">
                <a:pos x="0" y="0"/>
              </a:cxn>
              <a:cxn ang="0">
                <a:pos x="5582" y="0"/>
              </a:cxn>
              <a:cxn ang="0">
                <a:pos x="5639" y="45"/>
              </a:cxn>
              <a:cxn ang="0">
                <a:pos x="5636" y="113"/>
              </a:cxn>
              <a:cxn ang="0">
                <a:pos x="0" y="113"/>
              </a:cxn>
              <a:cxn ang="0">
                <a:pos x="0" y="0"/>
              </a:cxn>
            </a:cxnLst>
            <a:rect l="0" t="0" r="r" b="b"/>
            <a:pathLst>
              <a:path w="5639" h="113">
                <a:moveTo>
                  <a:pt x="0" y="0"/>
                </a:moveTo>
                <a:lnTo>
                  <a:pt x="5582" y="0"/>
                </a:lnTo>
                <a:cubicBezTo>
                  <a:pt x="5630" y="3"/>
                  <a:pt x="5639" y="45"/>
                  <a:pt x="5639" y="45"/>
                </a:cubicBezTo>
                <a:lnTo>
                  <a:pt x="5636" y="113"/>
                </a:lnTo>
                <a:lnTo>
                  <a:pt x="0" y="113"/>
                </a:lnTo>
                <a:lnTo>
                  <a:pt x="0" y="0"/>
                </a:lnTo>
                <a:close/>
              </a:path>
            </a:pathLst>
          </a:custGeom>
          <a:pattFill prst="dkUpDiag">
            <a:fgClr>
              <a:schemeClr val="accent1"/>
            </a:fgClr>
            <a:bgClr>
              <a:schemeClr val="bg1"/>
            </a:bgClr>
          </a:pattFill>
          <a:ln w="9525">
            <a:noFill/>
            <a:round/>
            <a:headEnd/>
            <a:tailEnd/>
          </a:ln>
          <a:effectLst/>
        </p:spPr>
        <p:txBody>
          <a:bodyPr/>
          <a:lstStyle/>
          <a:p>
            <a:endParaRPr lang="en-US"/>
          </a:p>
        </p:txBody>
      </p:sp>
      <p:sp>
        <p:nvSpPr>
          <p:cNvPr id="1052" name="Freeform 28"/>
          <p:cNvSpPr>
            <a:spLocks/>
          </p:cNvSpPr>
          <p:nvPr/>
        </p:nvSpPr>
        <p:spPr bwMode="gray">
          <a:xfrm>
            <a:off x="-19593" y="269081"/>
            <a:ext cx="12191999" cy="938213"/>
          </a:xfrm>
          <a:custGeom>
            <a:avLst/>
            <a:gdLst/>
            <a:ahLst/>
            <a:cxnLst>
              <a:cxn ang="0">
                <a:pos x="5446" y="0"/>
              </a:cxn>
              <a:cxn ang="0">
                <a:pos x="0" y="0"/>
              </a:cxn>
              <a:cxn ang="0">
                <a:pos x="2" y="470"/>
              </a:cxn>
              <a:cxn ang="0">
                <a:pos x="4078" y="474"/>
              </a:cxn>
              <a:cxn ang="0">
                <a:pos x="4178" y="527"/>
              </a:cxn>
              <a:cxn ang="0">
                <a:pos x="5446" y="531"/>
              </a:cxn>
              <a:cxn ang="0">
                <a:pos x="5446" y="0"/>
              </a:cxn>
            </a:cxnLst>
            <a:rect l="0" t="0" r="r" b="b"/>
            <a:pathLst>
              <a:path w="5446" h="531">
                <a:moveTo>
                  <a:pt x="5446" y="0"/>
                </a:moveTo>
                <a:lnTo>
                  <a:pt x="0" y="0"/>
                </a:lnTo>
                <a:lnTo>
                  <a:pt x="2" y="470"/>
                </a:lnTo>
                <a:lnTo>
                  <a:pt x="4078" y="474"/>
                </a:lnTo>
                <a:lnTo>
                  <a:pt x="4178" y="527"/>
                </a:lnTo>
                <a:lnTo>
                  <a:pt x="5446" y="531"/>
                </a:lnTo>
                <a:lnTo>
                  <a:pt x="5446" y="0"/>
                </a:lnTo>
                <a:close/>
              </a:path>
            </a:pathLst>
          </a:custGeom>
          <a:solidFill>
            <a:schemeClr val="tx1"/>
          </a:solidFill>
          <a:ln w="9525">
            <a:noFill/>
            <a:round/>
            <a:headEnd/>
            <a:tailEnd/>
          </a:ln>
          <a:effectLst/>
        </p:spPr>
        <p:txBody>
          <a:bodyPr/>
          <a:lstStyle/>
          <a:p>
            <a:endParaRPr lang="en-US"/>
          </a:p>
        </p:txBody>
      </p:sp>
      <p:sp>
        <p:nvSpPr>
          <p:cNvPr id="1053" name="Freeform 29"/>
          <p:cNvSpPr>
            <a:spLocks/>
          </p:cNvSpPr>
          <p:nvPr/>
        </p:nvSpPr>
        <p:spPr bwMode="gray">
          <a:xfrm>
            <a:off x="-19593" y="267491"/>
            <a:ext cx="12191999" cy="836612"/>
          </a:xfrm>
          <a:custGeom>
            <a:avLst/>
            <a:gdLst/>
            <a:ahLst/>
            <a:cxnLst>
              <a:cxn ang="0">
                <a:pos x="5446" y="0"/>
              </a:cxn>
              <a:cxn ang="0">
                <a:pos x="0" y="0"/>
              </a:cxn>
              <a:cxn ang="0">
                <a:pos x="2" y="470"/>
              </a:cxn>
              <a:cxn ang="0">
                <a:pos x="4078" y="474"/>
              </a:cxn>
              <a:cxn ang="0">
                <a:pos x="4178" y="527"/>
              </a:cxn>
              <a:cxn ang="0">
                <a:pos x="5446" y="531"/>
              </a:cxn>
              <a:cxn ang="0">
                <a:pos x="5446" y="0"/>
              </a:cxn>
            </a:cxnLst>
            <a:rect l="0" t="0" r="r" b="b"/>
            <a:pathLst>
              <a:path w="5446" h="531">
                <a:moveTo>
                  <a:pt x="5446" y="0"/>
                </a:moveTo>
                <a:lnTo>
                  <a:pt x="0" y="0"/>
                </a:lnTo>
                <a:lnTo>
                  <a:pt x="2" y="470"/>
                </a:lnTo>
                <a:lnTo>
                  <a:pt x="4078" y="474"/>
                </a:lnTo>
                <a:lnTo>
                  <a:pt x="4178" y="527"/>
                </a:lnTo>
                <a:lnTo>
                  <a:pt x="5446" y="531"/>
                </a:lnTo>
                <a:lnTo>
                  <a:pt x="5446" y="0"/>
                </a:lnTo>
                <a:close/>
              </a:path>
            </a:pathLst>
          </a:custGeom>
          <a:gradFill rotWithShape="0">
            <a:gsLst>
              <a:gs pos="0">
                <a:schemeClr val="bg1"/>
              </a:gs>
              <a:gs pos="100000">
                <a:schemeClr val="bg1">
                  <a:gamma/>
                  <a:tint val="66667"/>
                  <a:invGamma/>
                </a:schemeClr>
              </a:gs>
            </a:gsLst>
            <a:lin ang="0" scaled="1"/>
          </a:gradFill>
          <a:ln w="9525">
            <a:noFill/>
            <a:round/>
            <a:headEnd/>
            <a:tailEnd/>
          </a:ln>
          <a:effectLst/>
        </p:spPr>
        <p:txBody>
          <a:bodyPr/>
          <a:lstStyle/>
          <a:p>
            <a:endParaRPr lang="en-US"/>
          </a:p>
        </p:txBody>
      </p:sp>
      <p:sp>
        <p:nvSpPr>
          <p:cNvPr id="1056" name="Rectangle 32"/>
          <p:cNvSpPr>
            <a:spLocks noChangeArrowheads="1"/>
          </p:cNvSpPr>
          <p:nvPr/>
        </p:nvSpPr>
        <p:spPr bwMode="gray">
          <a:xfrm flipV="1">
            <a:off x="127002" y="6723063"/>
            <a:ext cx="11969751" cy="55562"/>
          </a:xfrm>
          <a:prstGeom prst="rect">
            <a:avLst/>
          </a:prstGeom>
          <a:solidFill>
            <a:schemeClr val="accent1"/>
          </a:solidFill>
          <a:ln w="9525">
            <a:noFill/>
            <a:miter lim="800000"/>
            <a:headEnd/>
            <a:tailEnd/>
          </a:ln>
          <a:effectLst/>
        </p:spPr>
        <p:txBody>
          <a:bodyPr wrap="none" anchor="ctr"/>
          <a:lstStyle/>
          <a:p>
            <a:endParaRPr lang="en-US"/>
          </a:p>
        </p:txBody>
      </p:sp>
      <p:sp>
        <p:nvSpPr>
          <p:cNvPr id="1026" name="Rectangle 2"/>
          <p:cNvSpPr>
            <a:spLocks noGrp="1" noChangeArrowheads="1"/>
          </p:cNvSpPr>
          <p:nvPr>
            <p:ph type="title"/>
          </p:nvPr>
        </p:nvSpPr>
        <p:spPr bwMode="gray">
          <a:xfrm>
            <a:off x="-19593" y="267491"/>
            <a:ext cx="11385247" cy="868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gray">
          <a:xfrm>
            <a:off x="609600" y="1438278"/>
            <a:ext cx="10972800" cy="47339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gray">
          <a:xfrm>
            <a:off x="4064002" y="6311903"/>
            <a:ext cx="2283884" cy="2905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solidFill>
                  <a:srgbClr val="000000"/>
                </a:solidFill>
              </a:defRPr>
            </a:lvl1pPr>
          </a:lstStyle>
          <a:p>
            <a:endParaRPr lang="en-US"/>
          </a:p>
        </p:txBody>
      </p:sp>
      <p:sp>
        <p:nvSpPr>
          <p:cNvPr id="1029" name="Rectangle 5"/>
          <p:cNvSpPr>
            <a:spLocks noGrp="1" noChangeArrowheads="1"/>
          </p:cNvSpPr>
          <p:nvPr>
            <p:ph type="ftr" sz="quarter" idx="3"/>
          </p:nvPr>
        </p:nvSpPr>
        <p:spPr bwMode="gray">
          <a:xfrm>
            <a:off x="6441017" y="6323013"/>
            <a:ext cx="3081867" cy="2905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solidFill>
                  <a:srgbClr val="000000"/>
                </a:solidFill>
              </a:defRPr>
            </a:lvl1pPr>
          </a:lstStyle>
          <a:p>
            <a:endParaRPr lang="en-US"/>
          </a:p>
        </p:txBody>
      </p:sp>
      <p:sp>
        <p:nvSpPr>
          <p:cNvPr id="1030" name="Rectangle 6"/>
          <p:cNvSpPr>
            <a:spLocks noGrp="1" noChangeArrowheads="1"/>
          </p:cNvSpPr>
          <p:nvPr>
            <p:ph type="sldNum" sz="quarter" idx="4"/>
          </p:nvPr>
        </p:nvSpPr>
        <p:spPr bwMode="gray">
          <a:xfrm>
            <a:off x="9489019" y="6323013"/>
            <a:ext cx="2154767" cy="2905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rgbClr val="000000"/>
                </a:solidFill>
              </a:defRPr>
            </a:lvl1pPr>
          </a:lstStyle>
          <a:p>
            <a:fld id="{F6D84CF6-9893-4FFA-9699-73DE5EFC2F69}" type="slidenum">
              <a:rPr lang="en-US" smtClean="0"/>
              <a:pPr/>
              <a:t>‹#›</a:t>
            </a:fld>
            <a:endParaRPr lang="en-US" dirty="0"/>
          </a:p>
        </p:txBody>
      </p:sp>
      <p:pic>
        <p:nvPicPr>
          <p:cNvPr id="14" name="Picture 2" descr="Danh sách Hình ảnh - Hình ảnh Tốt nghiệp - HUTECH">
            <a:extLst>
              <a:ext uri="{FF2B5EF4-FFF2-40B4-BE49-F238E27FC236}">
                <a16:creationId xmlns:a16="http://schemas.microsoft.com/office/drawing/2014/main" id="{336FF425-37B8-48B8-93FF-3DC59309E2E0}"/>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11365654" y="283363"/>
            <a:ext cx="806752" cy="796042"/>
          </a:xfrm>
          <a:prstGeom prst="rect">
            <a:avLst/>
          </a:prstGeom>
          <a:noFill/>
          <a:extLst>
            <a:ext uri="{909E8E84-426E-40DD-AFC4-6F175D3DCCD1}">
              <a14:hiddenFill xmlns:a14="http://schemas.microsoft.com/office/drawing/2010/main">
                <a:solidFill>
                  <a:srgbClr val="FFFFFF"/>
                </a:solidFill>
              </a14:hiddenFill>
            </a:ext>
          </a:extLst>
        </p:spPr>
      </p:pic>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l" rtl="0" eaLnBrk="1" fontAlgn="base" hangingPunct="1">
        <a:spcBef>
          <a:spcPct val="0"/>
        </a:spcBef>
        <a:spcAft>
          <a:spcPct val="0"/>
        </a:spcAft>
        <a:defRPr sz="3600" b="1">
          <a:solidFill>
            <a:srgbClr val="FFFFFF"/>
          </a:solidFill>
          <a:latin typeface="+mj-lt"/>
          <a:ea typeface="+mj-ea"/>
          <a:cs typeface="+mj-cs"/>
        </a:defRPr>
      </a:lvl1pPr>
      <a:lvl2pPr algn="l" rtl="0" eaLnBrk="1" fontAlgn="base" hangingPunct="1">
        <a:spcBef>
          <a:spcPct val="0"/>
        </a:spcBef>
        <a:spcAft>
          <a:spcPct val="0"/>
        </a:spcAft>
        <a:defRPr sz="4400" b="1">
          <a:solidFill>
            <a:srgbClr val="FFFFFF"/>
          </a:solidFill>
          <a:latin typeface="Arial" charset="0"/>
        </a:defRPr>
      </a:lvl2pPr>
      <a:lvl3pPr algn="l" rtl="0" eaLnBrk="1" fontAlgn="base" hangingPunct="1">
        <a:spcBef>
          <a:spcPct val="0"/>
        </a:spcBef>
        <a:spcAft>
          <a:spcPct val="0"/>
        </a:spcAft>
        <a:defRPr sz="4400" b="1">
          <a:solidFill>
            <a:srgbClr val="FFFFFF"/>
          </a:solidFill>
          <a:latin typeface="Arial" charset="0"/>
        </a:defRPr>
      </a:lvl3pPr>
      <a:lvl4pPr algn="l" rtl="0" eaLnBrk="1" fontAlgn="base" hangingPunct="1">
        <a:spcBef>
          <a:spcPct val="0"/>
        </a:spcBef>
        <a:spcAft>
          <a:spcPct val="0"/>
        </a:spcAft>
        <a:defRPr sz="4400" b="1">
          <a:solidFill>
            <a:srgbClr val="FFFFFF"/>
          </a:solidFill>
          <a:latin typeface="Arial" charset="0"/>
        </a:defRPr>
      </a:lvl4pPr>
      <a:lvl5pPr algn="l" rtl="0" eaLnBrk="1" fontAlgn="base" hangingPunct="1">
        <a:spcBef>
          <a:spcPct val="0"/>
        </a:spcBef>
        <a:spcAft>
          <a:spcPct val="0"/>
        </a:spcAft>
        <a:defRPr sz="4400" b="1">
          <a:solidFill>
            <a:srgbClr val="FFFFFF"/>
          </a:solidFill>
          <a:latin typeface="Arial" charset="0"/>
        </a:defRPr>
      </a:lvl5pPr>
      <a:lvl6pPr marL="457200" algn="l" rtl="0" eaLnBrk="1" fontAlgn="base" hangingPunct="1">
        <a:spcBef>
          <a:spcPct val="0"/>
        </a:spcBef>
        <a:spcAft>
          <a:spcPct val="0"/>
        </a:spcAft>
        <a:defRPr sz="4400" b="1">
          <a:solidFill>
            <a:srgbClr val="FFFFFF"/>
          </a:solidFill>
          <a:latin typeface="Arial" charset="0"/>
        </a:defRPr>
      </a:lvl6pPr>
      <a:lvl7pPr marL="914400" algn="l" rtl="0" eaLnBrk="1" fontAlgn="base" hangingPunct="1">
        <a:spcBef>
          <a:spcPct val="0"/>
        </a:spcBef>
        <a:spcAft>
          <a:spcPct val="0"/>
        </a:spcAft>
        <a:defRPr sz="4400" b="1">
          <a:solidFill>
            <a:srgbClr val="FFFFFF"/>
          </a:solidFill>
          <a:latin typeface="Arial" charset="0"/>
        </a:defRPr>
      </a:lvl7pPr>
      <a:lvl8pPr marL="1371600" algn="l" rtl="0" eaLnBrk="1" fontAlgn="base" hangingPunct="1">
        <a:spcBef>
          <a:spcPct val="0"/>
        </a:spcBef>
        <a:spcAft>
          <a:spcPct val="0"/>
        </a:spcAft>
        <a:defRPr sz="4400" b="1">
          <a:solidFill>
            <a:srgbClr val="FFFFFF"/>
          </a:solidFill>
          <a:latin typeface="Arial" charset="0"/>
        </a:defRPr>
      </a:lvl8pPr>
      <a:lvl9pPr marL="1828800" algn="l" rtl="0" eaLnBrk="1" fontAlgn="base" hangingPunct="1">
        <a:spcBef>
          <a:spcPct val="0"/>
        </a:spcBef>
        <a:spcAft>
          <a:spcPct val="0"/>
        </a:spcAft>
        <a:defRPr sz="4400" b="1">
          <a:solidFill>
            <a:srgbClr val="FFFFFF"/>
          </a:solidFill>
          <a:latin typeface="Arial" charset="0"/>
        </a:defRPr>
      </a:lvl9pPr>
    </p:titleStyle>
    <p:bodyStyle>
      <a:lvl1pPr marL="342900" indent="-342900" algn="l" rtl="0" eaLnBrk="1" fontAlgn="base" hangingPunct="1">
        <a:spcBef>
          <a:spcPct val="20000"/>
        </a:spcBef>
        <a:spcAft>
          <a:spcPct val="0"/>
        </a:spcAft>
        <a:buChar char="•"/>
        <a:defRPr sz="3200">
          <a:solidFill>
            <a:srgbClr val="000000"/>
          </a:solidFill>
          <a:latin typeface="+mn-lt"/>
          <a:ea typeface="+mn-ea"/>
          <a:cs typeface="+mn-cs"/>
        </a:defRPr>
      </a:lvl1pPr>
      <a:lvl2pPr marL="742950" indent="-285750" algn="l" rtl="0" eaLnBrk="1" fontAlgn="base" hangingPunct="1">
        <a:spcBef>
          <a:spcPct val="20000"/>
        </a:spcBef>
        <a:spcAft>
          <a:spcPct val="0"/>
        </a:spcAft>
        <a:buChar char="–"/>
        <a:defRPr sz="2800">
          <a:solidFill>
            <a:srgbClr val="000000"/>
          </a:solidFill>
          <a:latin typeface="+mn-lt"/>
        </a:defRPr>
      </a:lvl2pPr>
      <a:lvl3pPr marL="1143000" indent="-228600" algn="l" rtl="0" eaLnBrk="1" fontAlgn="base" hangingPunct="1">
        <a:spcBef>
          <a:spcPct val="20000"/>
        </a:spcBef>
        <a:spcAft>
          <a:spcPct val="0"/>
        </a:spcAft>
        <a:buChar char="•"/>
        <a:defRPr sz="2400">
          <a:solidFill>
            <a:srgbClr val="000000"/>
          </a:solidFill>
          <a:latin typeface="+mn-lt"/>
        </a:defRPr>
      </a:lvl3pPr>
      <a:lvl4pPr marL="1600200" indent="-228600" algn="l" rtl="0" eaLnBrk="1" fontAlgn="base" hangingPunct="1">
        <a:spcBef>
          <a:spcPct val="20000"/>
        </a:spcBef>
        <a:spcAft>
          <a:spcPct val="0"/>
        </a:spcAft>
        <a:buChar char="–"/>
        <a:defRPr sz="2000">
          <a:solidFill>
            <a:srgbClr val="000000"/>
          </a:solidFill>
          <a:latin typeface="+mn-lt"/>
        </a:defRPr>
      </a:lvl4pPr>
      <a:lvl5pPr marL="2057400" indent="-228600" algn="l" rtl="0" eaLnBrk="1" fontAlgn="base" hangingPunct="1">
        <a:spcBef>
          <a:spcPct val="20000"/>
        </a:spcBef>
        <a:spcAft>
          <a:spcPct val="0"/>
        </a:spcAft>
        <a:buChar char="»"/>
        <a:defRPr sz="2000">
          <a:solidFill>
            <a:srgbClr val="000000"/>
          </a:solidFill>
          <a:latin typeface="+mn-lt"/>
        </a:defRPr>
      </a:lvl5pPr>
      <a:lvl6pPr marL="2514600" indent="-228600" algn="l" rtl="0" eaLnBrk="1" fontAlgn="base" hangingPunct="1">
        <a:spcBef>
          <a:spcPct val="20000"/>
        </a:spcBef>
        <a:spcAft>
          <a:spcPct val="0"/>
        </a:spcAft>
        <a:buChar char="»"/>
        <a:defRPr sz="2000">
          <a:solidFill>
            <a:srgbClr val="000000"/>
          </a:solidFill>
          <a:latin typeface="+mn-lt"/>
        </a:defRPr>
      </a:lvl6pPr>
      <a:lvl7pPr marL="2971800" indent="-228600" algn="l" rtl="0" eaLnBrk="1" fontAlgn="base" hangingPunct="1">
        <a:spcBef>
          <a:spcPct val="20000"/>
        </a:spcBef>
        <a:spcAft>
          <a:spcPct val="0"/>
        </a:spcAft>
        <a:buChar char="»"/>
        <a:defRPr sz="2000">
          <a:solidFill>
            <a:srgbClr val="000000"/>
          </a:solidFill>
          <a:latin typeface="+mn-lt"/>
        </a:defRPr>
      </a:lvl7pPr>
      <a:lvl8pPr marL="3429000" indent="-228600" algn="l" rtl="0" eaLnBrk="1" fontAlgn="base" hangingPunct="1">
        <a:spcBef>
          <a:spcPct val="20000"/>
        </a:spcBef>
        <a:spcAft>
          <a:spcPct val="0"/>
        </a:spcAft>
        <a:buChar char="»"/>
        <a:defRPr sz="2000">
          <a:solidFill>
            <a:srgbClr val="000000"/>
          </a:solidFill>
          <a:latin typeface="+mn-lt"/>
        </a:defRPr>
      </a:lvl8pPr>
      <a:lvl9pPr marL="3886200" indent="-228600" algn="l" rtl="0" eaLnBrk="1" fontAlgn="base" hangingPunct="1">
        <a:spcBef>
          <a:spcPct val="20000"/>
        </a:spcBef>
        <a:spcAft>
          <a:spcPct val="0"/>
        </a:spcAft>
        <a:buChar char="»"/>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gif"/></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CCD108-E89F-4E80-BB98-D5CA6D0BCD89}"/>
              </a:ext>
            </a:extLst>
          </p:cNvPr>
          <p:cNvSpPr>
            <a:spLocks noGrp="1"/>
          </p:cNvSpPr>
          <p:nvPr>
            <p:ph type="sldNum" sz="quarter" idx="4"/>
          </p:nvPr>
        </p:nvSpPr>
        <p:spPr/>
        <p:txBody>
          <a:bodyPr/>
          <a:lstStyle/>
          <a:p>
            <a:fld id="{0A099D71-8491-4B33-93F4-50FBDB349578}" type="slidenum">
              <a:rPr lang="en-US" smtClean="0"/>
              <a:pPr/>
              <a:t>1</a:t>
            </a:fld>
            <a:endParaRPr lang="en-US"/>
          </a:p>
        </p:txBody>
      </p:sp>
      <p:sp>
        <p:nvSpPr>
          <p:cNvPr id="3" name="Rectangle 2">
            <a:extLst>
              <a:ext uri="{FF2B5EF4-FFF2-40B4-BE49-F238E27FC236}">
                <a16:creationId xmlns:a16="http://schemas.microsoft.com/office/drawing/2014/main" id="{B7A58814-241B-45C8-B4BE-3AD805C08329}"/>
              </a:ext>
            </a:extLst>
          </p:cNvPr>
          <p:cNvSpPr txBox="1">
            <a:spLocks noChangeArrowheads="1"/>
          </p:cNvSpPr>
          <p:nvPr/>
        </p:nvSpPr>
        <p:spPr>
          <a:xfrm>
            <a:off x="0" y="2027237"/>
            <a:ext cx="12192000" cy="868363"/>
          </a:xfrm>
          <a:prstGeom prst="rect">
            <a:avLst/>
          </a:prstGeom>
        </p:spPr>
        <p:txBody>
          <a:bodyPr/>
          <a:lstStyle>
            <a:lvl1pPr algn="l" rtl="0" eaLnBrk="1" fontAlgn="base" hangingPunct="1">
              <a:spcBef>
                <a:spcPct val="0"/>
              </a:spcBef>
              <a:spcAft>
                <a:spcPct val="0"/>
              </a:spcAft>
              <a:defRPr sz="3600" b="1">
                <a:solidFill>
                  <a:srgbClr val="FFFFFF"/>
                </a:solidFill>
                <a:latin typeface="+mj-lt"/>
                <a:ea typeface="+mj-ea"/>
                <a:cs typeface="+mj-cs"/>
              </a:defRPr>
            </a:lvl1pPr>
            <a:lvl2pPr algn="l" rtl="0" eaLnBrk="1" fontAlgn="base" hangingPunct="1">
              <a:spcBef>
                <a:spcPct val="0"/>
              </a:spcBef>
              <a:spcAft>
                <a:spcPct val="0"/>
              </a:spcAft>
              <a:defRPr sz="4400" b="1">
                <a:solidFill>
                  <a:srgbClr val="FFFFFF"/>
                </a:solidFill>
                <a:latin typeface="Arial" charset="0"/>
              </a:defRPr>
            </a:lvl2pPr>
            <a:lvl3pPr algn="l" rtl="0" eaLnBrk="1" fontAlgn="base" hangingPunct="1">
              <a:spcBef>
                <a:spcPct val="0"/>
              </a:spcBef>
              <a:spcAft>
                <a:spcPct val="0"/>
              </a:spcAft>
              <a:defRPr sz="4400" b="1">
                <a:solidFill>
                  <a:srgbClr val="FFFFFF"/>
                </a:solidFill>
                <a:latin typeface="Arial" charset="0"/>
              </a:defRPr>
            </a:lvl3pPr>
            <a:lvl4pPr algn="l" rtl="0" eaLnBrk="1" fontAlgn="base" hangingPunct="1">
              <a:spcBef>
                <a:spcPct val="0"/>
              </a:spcBef>
              <a:spcAft>
                <a:spcPct val="0"/>
              </a:spcAft>
              <a:defRPr sz="4400" b="1">
                <a:solidFill>
                  <a:srgbClr val="FFFFFF"/>
                </a:solidFill>
                <a:latin typeface="Arial" charset="0"/>
              </a:defRPr>
            </a:lvl4pPr>
            <a:lvl5pPr algn="l" rtl="0" eaLnBrk="1" fontAlgn="base" hangingPunct="1">
              <a:spcBef>
                <a:spcPct val="0"/>
              </a:spcBef>
              <a:spcAft>
                <a:spcPct val="0"/>
              </a:spcAft>
              <a:defRPr sz="4400" b="1">
                <a:solidFill>
                  <a:srgbClr val="FFFFFF"/>
                </a:solidFill>
                <a:latin typeface="Arial" charset="0"/>
              </a:defRPr>
            </a:lvl5pPr>
            <a:lvl6pPr marL="457200" algn="l" rtl="0" eaLnBrk="1" fontAlgn="base" hangingPunct="1">
              <a:spcBef>
                <a:spcPct val="0"/>
              </a:spcBef>
              <a:spcAft>
                <a:spcPct val="0"/>
              </a:spcAft>
              <a:defRPr sz="4400" b="1">
                <a:solidFill>
                  <a:srgbClr val="FFFFFF"/>
                </a:solidFill>
                <a:latin typeface="Arial" charset="0"/>
              </a:defRPr>
            </a:lvl6pPr>
            <a:lvl7pPr marL="914400" algn="l" rtl="0" eaLnBrk="1" fontAlgn="base" hangingPunct="1">
              <a:spcBef>
                <a:spcPct val="0"/>
              </a:spcBef>
              <a:spcAft>
                <a:spcPct val="0"/>
              </a:spcAft>
              <a:defRPr sz="4400" b="1">
                <a:solidFill>
                  <a:srgbClr val="FFFFFF"/>
                </a:solidFill>
                <a:latin typeface="Arial" charset="0"/>
              </a:defRPr>
            </a:lvl7pPr>
            <a:lvl8pPr marL="1371600" algn="l" rtl="0" eaLnBrk="1" fontAlgn="base" hangingPunct="1">
              <a:spcBef>
                <a:spcPct val="0"/>
              </a:spcBef>
              <a:spcAft>
                <a:spcPct val="0"/>
              </a:spcAft>
              <a:defRPr sz="4400" b="1">
                <a:solidFill>
                  <a:srgbClr val="FFFFFF"/>
                </a:solidFill>
                <a:latin typeface="Arial" charset="0"/>
              </a:defRPr>
            </a:lvl8pPr>
            <a:lvl9pPr marL="1828800" algn="l" rtl="0" eaLnBrk="1" fontAlgn="base" hangingPunct="1">
              <a:spcBef>
                <a:spcPct val="0"/>
              </a:spcBef>
              <a:spcAft>
                <a:spcPct val="0"/>
              </a:spcAft>
              <a:defRPr sz="4400" b="1">
                <a:solidFill>
                  <a:srgbClr val="FFFFFF"/>
                </a:solidFill>
                <a:latin typeface="Arial" charset="0"/>
              </a:defRPr>
            </a:lvl9pPr>
          </a:lstStyle>
          <a:p>
            <a:pPr algn="ctr"/>
            <a:r>
              <a:rPr lang="en-US" sz="4000" kern="0">
                <a:solidFill>
                  <a:srgbClr val="0070C0"/>
                </a:solidFill>
              </a:rPr>
              <a:t>HỌC SÂU VÀ ỨNG DỤNG</a:t>
            </a:r>
            <a:endParaRPr lang="en-US" sz="4000" kern="0" dirty="0">
              <a:solidFill>
                <a:srgbClr val="0070C0"/>
              </a:solidFill>
            </a:endParaRPr>
          </a:p>
        </p:txBody>
      </p:sp>
      <p:sp>
        <p:nvSpPr>
          <p:cNvPr id="4" name="Rectangle 2">
            <a:extLst>
              <a:ext uri="{FF2B5EF4-FFF2-40B4-BE49-F238E27FC236}">
                <a16:creationId xmlns:a16="http://schemas.microsoft.com/office/drawing/2014/main" id="{D6185DE1-D6BE-4600-9073-824DD8E3658E}"/>
              </a:ext>
            </a:extLst>
          </p:cNvPr>
          <p:cNvSpPr txBox="1">
            <a:spLocks noChangeArrowheads="1"/>
          </p:cNvSpPr>
          <p:nvPr/>
        </p:nvSpPr>
        <p:spPr>
          <a:xfrm>
            <a:off x="2400300" y="2895600"/>
            <a:ext cx="7391400" cy="1219200"/>
          </a:xfrm>
          <a:prstGeom prst="rect">
            <a:avLst/>
          </a:prstGeom>
        </p:spPr>
        <p:txBody>
          <a:bodyPr/>
          <a:lstStyle>
            <a:lvl1pPr algn="l" rtl="0" eaLnBrk="1" fontAlgn="base" hangingPunct="1">
              <a:spcBef>
                <a:spcPct val="0"/>
              </a:spcBef>
              <a:spcAft>
                <a:spcPct val="0"/>
              </a:spcAft>
              <a:defRPr sz="3600" b="1">
                <a:solidFill>
                  <a:srgbClr val="FFFFFF"/>
                </a:solidFill>
                <a:latin typeface="+mj-lt"/>
                <a:ea typeface="+mj-ea"/>
                <a:cs typeface="+mj-cs"/>
              </a:defRPr>
            </a:lvl1pPr>
            <a:lvl2pPr algn="l" rtl="0" eaLnBrk="1" fontAlgn="base" hangingPunct="1">
              <a:spcBef>
                <a:spcPct val="0"/>
              </a:spcBef>
              <a:spcAft>
                <a:spcPct val="0"/>
              </a:spcAft>
              <a:defRPr sz="4400" b="1">
                <a:solidFill>
                  <a:srgbClr val="FFFFFF"/>
                </a:solidFill>
                <a:latin typeface="Arial" charset="0"/>
              </a:defRPr>
            </a:lvl2pPr>
            <a:lvl3pPr algn="l" rtl="0" eaLnBrk="1" fontAlgn="base" hangingPunct="1">
              <a:spcBef>
                <a:spcPct val="0"/>
              </a:spcBef>
              <a:spcAft>
                <a:spcPct val="0"/>
              </a:spcAft>
              <a:defRPr sz="4400" b="1">
                <a:solidFill>
                  <a:srgbClr val="FFFFFF"/>
                </a:solidFill>
                <a:latin typeface="Arial" charset="0"/>
              </a:defRPr>
            </a:lvl3pPr>
            <a:lvl4pPr algn="l" rtl="0" eaLnBrk="1" fontAlgn="base" hangingPunct="1">
              <a:spcBef>
                <a:spcPct val="0"/>
              </a:spcBef>
              <a:spcAft>
                <a:spcPct val="0"/>
              </a:spcAft>
              <a:defRPr sz="4400" b="1">
                <a:solidFill>
                  <a:srgbClr val="FFFFFF"/>
                </a:solidFill>
                <a:latin typeface="Arial" charset="0"/>
              </a:defRPr>
            </a:lvl4pPr>
            <a:lvl5pPr algn="l" rtl="0" eaLnBrk="1" fontAlgn="base" hangingPunct="1">
              <a:spcBef>
                <a:spcPct val="0"/>
              </a:spcBef>
              <a:spcAft>
                <a:spcPct val="0"/>
              </a:spcAft>
              <a:defRPr sz="4400" b="1">
                <a:solidFill>
                  <a:srgbClr val="FFFFFF"/>
                </a:solidFill>
                <a:latin typeface="Arial" charset="0"/>
              </a:defRPr>
            </a:lvl5pPr>
            <a:lvl6pPr marL="457200" algn="l" rtl="0" eaLnBrk="1" fontAlgn="base" hangingPunct="1">
              <a:spcBef>
                <a:spcPct val="0"/>
              </a:spcBef>
              <a:spcAft>
                <a:spcPct val="0"/>
              </a:spcAft>
              <a:defRPr sz="4400" b="1">
                <a:solidFill>
                  <a:srgbClr val="FFFFFF"/>
                </a:solidFill>
                <a:latin typeface="Arial" charset="0"/>
              </a:defRPr>
            </a:lvl6pPr>
            <a:lvl7pPr marL="914400" algn="l" rtl="0" eaLnBrk="1" fontAlgn="base" hangingPunct="1">
              <a:spcBef>
                <a:spcPct val="0"/>
              </a:spcBef>
              <a:spcAft>
                <a:spcPct val="0"/>
              </a:spcAft>
              <a:defRPr sz="4400" b="1">
                <a:solidFill>
                  <a:srgbClr val="FFFFFF"/>
                </a:solidFill>
                <a:latin typeface="Arial" charset="0"/>
              </a:defRPr>
            </a:lvl7pPr>
            <a:lvl8pPr marL="1371600" algn="l" rtl="0" eaLnBrk="1" fontAlgn="base" hangingPunct="1">
              <a:spcBef>
                <a:spcPct val="0"/>
              </a:spcBef>
              <a:spcAft>
                <a:spcPct val="0"/>
              </a:spcAft>
              <a:defRPr sz="4400" b="1">
                <a:solidFill>
                  <a:srgbClr val="FFFFFF"/>
                </a:solidFill>
                <a:latin typeface="Arial" charset="0"/>
              </a:defRPr>
            </a:lvl8pPr>
            <a:lvl9pPr marL="1828800" algn="l" rtl="0" eaLnBrk="1" fontAlgn="base" hangingPunct="1">
              <a:spcBef>
                <a:spcPct val="0"/>
              </a:spcBef>
              <a:spcAft>
                <a:spcPct val="0"/>
              </a:spcAft>
              <a:defRPr sz="4400" b="1">
                <a:solidFill>
                  <a:srgbClr val="FFFFFF"/>
                </a:solidFill>
                <a:latin typeface="Arial" charset="0"/>
              </a:defRPr>
            </a:lvl9pPr>
          </a:lstStyle>
          <a:p>
            <a:pPr algn="ctr">
              <a:lnSpc>
                <a:spcPct val="150000"/>
              </a:lnSpc>
            </a:pPr>
            <a:r>
              <a:rPr lang="en-US" sz="2400" kern="0" dirty="0">
                <a:solidFill>
                  <a:srgbClr val="0070C0"/>
                </a:solidFill>
              </a:rPr>
              <a:t>GV: TS. </a:t>
            </a:r>
            <a:r>
              <a:rPr lang="en-US" sz="2400" kern="0" dirty="0" err="1">
                <a:solidFill>
                  <a:srgbClr val="0070C0"/>
                </a:solidFill>
              </a:rPr>
              <a:t>Phạm</a:t>
            </a:r>
            <a:r>
              <a:rPr lang="en-US" sz="2400" kern="0" dirty="0">
                <a:solidFill>
                  <a:srgbClr val="0070C0"/>
                </a:solidFill>
              </a:rPr>
              <a:t> </a:t>
            </a:r>
            <a:r>
              <a:rPr lang="en-US" sz="2400" kern="0" dirty="0" err="1">
                <a:solidFill>
                  <a:srgbClr val="0070C0"/>
                </a:solidFill>
              </a:rPr>
              <a:t>Quốc</a:t>
            </a:r>
            <a:r>
              <a:rPr lang="en-US" sz="2400" kern="0" dirty="0">
                <a:solidFill>
                  <a:srgbClr val="0070C0"/>
                </a:solidFill>
              </a:rPr>
              <a:t> </a:t>
            </a:r>
            <a:r>
              <a:rPr lang="en-US" sz="2400" kern="0" dirty="0" err="1">
                <a:solidFill>
                  <a:srgbClr val="0070C0"/>
                </a:solidFill>
              </a:rPr>
              <a:t>Thiện</a:t>
            </a:r>
            <a:endParaRPr lang="en-US" sz="2400" kern="0" dirty="0">
              <a:solidFill>
                <a:srgbClr val="0070C0"/>
              </a:solidFill>
            </a:endParaRPr>
          </a:p>
          <a:p>
            <a:pPr algn="ctr">
              <a:lnSpc>
                <a:spcPct val="150000"/>
              </a:lnSpc>
            </a:pPr>
            <a:r>
              <a:rPr lang="en-US" sz="2400" kern="0" dirty="0">
                <a:solidFill>
                  <a:srgbClr val="0070C0"/>
                </a:solidFill>
              </a:rPr>
              <a:t>Email</a:t>
            </a:r>
            <a:r>
              <a:rPr lang="en-US" sz="2400" kern="0">
                <a:solidFill>
                  <a:srgbClr val="0070C0"/>
                </a:solidFill>
              </a:rPr>
              <a:t>: pq.thien@hutech.edu.vn</a:t>
            </a:r>
            <a:endParaRPr lang="en-US" sz="2400" kern="0" dirty="0">
              <a:solidFill>
                <a:srgbClr val="0070C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endParaRPr lang="vi-VN" sz="3200" dirty="0"/>
          </a:p>
        </p:txBody>
      </p:sp>
      <p:sp>
        <p:nvSpPr>
          <p:cNvPr id="2" name="Slide Number Placeholder 1">
            <a:extLst>
              <a:ext uri="{FF2B5EF4-FFF2-40B4-BE49-F238E27FC236}">
                <a16:creationId xmlns:a16="http://schemas.microsoft.com/office/drawing/2014/main" id="{94D98416-5966-4429-8FC9-45E4C827526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30" name="Text Box 15">
            <a:extLst>
              <a:ext uri="{FF2B5EF4-FFF2-40B4-BE49-F238E27FC236}">
                <a16:creationId xmlns:a16="http://schemas.microsoft.com/office/drawing/2014/main" id="{A7CECB34-55BD-45B3-AB4C-AEC8A6D54E9D}"/>
              </a:ext>
            </a:extLst>
          </p:cNvPr>
          <p:cNvSpPr txBox="1">
            <a:spLocks noChangeArrowheads="1"/>
          </p:cNvSpPr>
          <p:nvPr/>
        </p:nvSpPr>
        <p:spPr bwMode="gray">
          <a:xfrm>
            <a:off x="3366756" y="3482975"/>
            <a:ext cx="354013" cy="457200"/>
          </a:xfrm>
          <a:prstGeom prst="rect">
            <a:avLst/>
          </a:prstGeom>
          <a:noFill/>
          <a:ln w="9525" algn="ctr">
            <a:noFill/>
            <a:miter lim="800000"/>
            <a:headEnd/>
            <a:tailEnd/>
          </a:ln>
          <a:effec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rial" charset="0"/>
                <a:ea typeface="+mn-ea"/>
                <a:cs typeface="Arial" charset="0"/>
              </a:rPr>
              <a:t>3</a:t>
            </a:r>
          </a:p>
        </p:txBody>
      </p:sp>
      <p:sp>
        <p:nvSpPr>
          <p:cNvPr id="33" name="Text Box 12">
            <a:extLst>
              <a:ext uri="{FF2B5EF4-FFF2-40B4-BE49-F238E27FC236}">
                <a16:creationId xmlns:a16="http://schemas.microsoft.com/office/drawing/2014/main" id="{CC10F6ED-E08F-497F-9DF7-EA572D0688FE}"/>
              </a:ext>
            </a:extLst>
          </p:cNvPr>
          <p:cNvSpPr txBox="1">
            <a:spLocks noChangeArrowheads="1"/>
          </p:cNvSpPr>
          <p:nvPr/>
        </p:nvSpPr>
        <p:spPr bwMode="gray">
          <a:xfrm>
            <a:off x="3366755" y="1795463"/>
            <a:ext cx="354013" cy="457200"/>
          </a:xfrm>
          <a:prstGeom prst="rect">
            <a:avLst/>
          </a:prstGeom>
          <a:noFill/>
          <a:ln w="9525" algn="ctr">
            <a:noFill/>
            <a:miter lim="800000"/>
            <a:headEnd/>
            <a:tailEnd/>
          </a:ln>
          <a:effec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charset="0"/>
                <a:ea typeface="+mn-ea"/>
                <a:cs typeface="Arial" charset="0"/>
              </a:rPr>
              <a:t>1</a:t>
            </a:r>
          </a:p>
        </p:txBody>
      </p:sp>
      <p:sp>
        <p:nvSpPr>
          <p:cNvPr id="36" name="Text Box 15">
            <a:extLst>
              <a:ext uri="{FF2B5EF4-FFF2-40B4-BE49-F238E27FC236}">
                <a16:creationId xmlns:a16="http://schemas.microsoft.com/office/drawing/2014/main" id="{8C9CEF5F-083A-4E8D-AF07-F151B057DD5C}"/>
              </a:ext>
            </a:extLst>
          </p:cNvPr>
          <p:cNvSpPr txBox="1">
            <a:spLocks noChangeArrowheads="1"/>
          </p:cNvSpPr>
          <p:nvPr/>
        </p:nvSpPr>
        <p:spPr bwMode="gray">
          <a:xfrm>
            <a:off x="3366756" y="4292646"/>
            <a:ext cx="354013" cy="457200"/>
          </a:xfrm>
          <a:prstGeom prst="rect">
            <a:avLst/>
          </a:prstGeom>
          <a:noFill/>
          <a:ln w="9525" algn="ctr">
            <a:noFill/>
            <a:miter lim="800000"/>
            <a:headEnd/>
            <a:tailEnd/>
          </a:ln>
          <a:effec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charset="0"/>
                <a:ea typeface="+mn-ea"/>
                <a:cs typeface="Arial" charset="0"/>
              </a:rPr>
              <a:t>4</a:t>
            </a:r>
          </a:p>
        </p:txBody>
      </p:sp>
      <p:sp>
        <p:nvSpPr>
          <p:cNvPr id="43" name="Text Box 15">
            <a:extLst>
              <a:ext uri="{FF2B5EF4-FFF2-40B4-BE49-F238E27FC236}">
                <a16:creationId xmlns:a16="http://schemas.microsoft.com/office/drawing/2014/main" id="{A0FE4705-1ADE-4554-A9AA-B21C929CF4E9}"/>
              </a:ext>
            </a:extLst>
          </p:cNvPr>
          <p:cNvSpPr txBox="1">
            <a:spLocks noChangeArrowheads="1"/>
          </p:cNvSpPr>
          <p:nvPr/>
        </p:nvSpPr>
        <p:spPr bwMode="gray">
          <a:xfrm>
            <a:off x="3365168" y="5073788"/>
            <a:ext cx="354013" cy="457200"/>
          </a:xfrm>
          <a:prstGeom prst="rect">
            <a:avLst/>
          </a:prstGeom>
          <a:noFill/>
          <a:ln w="9525" algn="ctr">
            <a:noFill/>
            <a:miter lim="800000"/>
            <a:headEnd/>
            <a:tailEnd/>
          </a:ln>
          <a:effec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charset="0"/>
                <a:ea typeface="+mn-ea"/>
                <a:cs typeface="Arial" charset="0"/>
              </a:rPr>
              <a:t>5</a:t>
            </a:r>
          </a:p>
        </p:txBody>
      </p:sp>
      <p:sp>
        <p:nvSpPr>
          <p:cNvPr id="35" name="Rectangle 2">
            <a:extLst>
              <a:ext uri="{FF2B5EF4-FFF2-40B4-BE49-F238E27FC236}">
                <a16:creationId xmlns:a16="http://schemas.microsoft.com/office/drawing/2014/main" id="{951CC16F-0599-4A0E-B9AC-4763892333C1}"/>
              </a:ext>
            </a:extLst>
          </p:cNvPr>
          <p:cNvSpPr txBox="1">
            <a:spLocks noChangeArrowheads="1"/>
          </p:cNvSpPr>
          <p:nvPr/>
        </p:nvSpPr>
        <p:spPr>
          <a:xfrm>
            <a:off x="1752600" y="2072547"/>
            <a:ext cx="8610600" cy="1896157"/>
          </a:xfrm>
          <a:prstGeom prst="rect">
            <a:avLst/>
          </a:prstGeom>
        </p:spPr>
        <p:txBody>
          <a:bodyPr/>
          <a:lstStyle>
            <a:lvl1pPr algn="l" rtl="0" eaLnBrk="1" fontAlgn="base" hangingPunct="1">
              <a:spcBef>
                <a:spcPct val="0"/>
              </a:spcBef>
              <a:spcAft>
                <a:spcPct val="0"/>
              </a:spcAft>
              <a:defRPr sz="3600" b="1">
                <a:solidFill>
                  <a:srgbClr val="FFFFFF"/>
                </a:solidFill>
                <a:latin typeface="+mj-lt"/>
                <a:ea typeface="+mj-ea"/>
                <a:cs typeface="+mj-cs"/>
              </a:defRPr>
            </a:lvl1pPr>
            <a:lvl2pPr algn="l" rtl="0" eaLnBrk="1" fontAlgn="base" hangingPunct="1">
              <a:spcBef>
                <a:spcPct val="0"/>
              </a:spcBef>
              <a:spcAft>
                <a:spcPct val="0"/>
              </a:spcAft>
              <a:defRPr sz="4400" b="1">
                <a:solidFill>
                  <a:srgbClr val="FFFFFF"/>
                </a:solidFill>
                <a:latin typeface="Arial" charset="0"/>
              </a:defRPr>
            </a:lvl2pPr>
            <a:lvl3pPr algn="l" rtl="0" eaLnBrk="1" fontAlgn="base" hangingPunct="1">
              <a:spcBef>
                <a:spcPct val="0"/>
              </a:spcBef>
              <a:spcAft>
                <a:spcPct val="0"/>
              </a:spcAft>
              <a:defRPr sz="4400" b="1">
                <a:solidFill>
                  <a:srgbClr val="FFFFFF"/>
                </a:solidFill>
                <a:latin typeface="Arial" charset="0"/>
              </a:defRPr>
            </a:lvl3pPr>
            <a:lvl4pPr algn="l" rtl="0" eaLnBrk="1" fontAlgn="base" hangingPunct="1">
              <a:spcBef>
                <a:spcPct val="0"/>
              </a:spcBef>
              <a:spcAft>
                <a:spcPct val="0"/>
              </a:spcAft>
              <a:defRPr sz="4400" b="1">
                <a:solidFill>
                  <a:srgbClr val="FFFFFF"/>
                </a:solidFill>
                <a:latin typeface="Arial" charset="0"/>
              </a:defRPr>
            </a:lvl4pPr>
            <a:lvl5pPr algn="l" rtl="0" eaLnBrk="1" fontAlgn="base" hangingPunct="1">
              <a:spcBef>
                <a:spcPct val="0"/>
              </a:spcBef>
              <a:spcAft>
                <a:spcPct val="0"/>
              </a:spcAft>
              <a:defRPr sz="4400" b="1">
                <a:solidFill>
                  <a:srgbClr val="FFFFFF"/>
                </a:solidFill>
                <a:latin typeface="Arial" charset="0"/>
              </a:defRPr>
            </a:lvl5pPr>
            <a:lvl6pPr marL="457200" algn="l" rtl="0" eaLnBrk="1" fontAlgn="base" hangingPunct="1">
              <a:spcBef>
                <a:spcPct val="0"/>
              </a:spcBef>
              <a:spcAft>
                <a:spcPct val="0"/>
              </a:spcAft>
              <a:defRPr sz="4400" b="1">
                <a:solidFill>
                  <a:srgbClr val="FFFFFF"/>
                </a:solidFill>
                <a:latin typeface="Arial" charset="0"/>
              </a:defRPr>
            </a:lvl6pPr>
            <a:lvl7pPr marL="914400" algn="l" rtl="0" eaLnBrk="1" fontAlgn="base" hangingPunct="1">
              <a:spcBef>
                <a:spcPct val="0"/>
              </a:spcBef>
              <a:spcAft>
                <a:spcPct val="0"/>
              </a:spcAft>
              <a:defRPr sz="4400" b="1">
                <a:solidFill>
                  <a:srgbClr val="FFFFFF"/>
                </a:solidFill>
                <a:latin typeface="Arial" charset="0"/>
              </a:defRPr>
            </a:lvl7pPr>
            <a:lvl8pPr marL="1371600" algn="l" rtl="0" eaLnBrk="1" fontAlgn="base" hangingPunct="1">
              <a:spcBef>
                <a:spcPct val="0"/>
              </a:spcBef>
              <a:spcAft>
                <a:spcPct val="0"/>
              </a:spcAft>
              <a:defRPr sz="4400" b="1">
                <a:solidFill>
                  <a:srgbClr val="FFFFFF"/>
                </a:solidFill>
                <a:latin typeface="Arial" charset="0"/>
              </a:defRPr>
            </a:lvl8pPr>
            <a:lvl9pPr marL="1828800" algn="l" rtl="0" eaLnBrk="1" fontAlgn="base" hangingPunct="1">
              <a:spcBef>
                <a:spcPct val="0"/>
              </a:spcBef>
              <a:spcAft>
                <a:spcPct val="0"/>
              </a:spcAft>
              <a:defRPr sz="4400" b="1">
                <a:solidFill>
                  <a:srgbClr val="FFFFFF"/>
                </a:solidFill>
                <a:latin typeface="Arial" charset="0"/>
              </a:defRPr>
            </a:lvl9pPr>
          </a:lstStyle>
          <a:p>
            <a:pPr lvl="0" algn="ctr">
              <a:lnSpc>
                <a:spcPct val="150000"/>
              </a:lnSpc>
              <a:defRPr/>
            </a:pPr>
            <a:r>
              <a:rPr lang="en-US">
                <a:solidFill>
                  <a:srgbClr val="0070C0"/>
                </a:solidFill>
                <a:latin typeface="+mn-lt"/>
              </a:rPr>
              <a:t>Bài 3</a:t>
            </a:r>
          </a:p>
          <a:p>
            <a:pPr lvl="0" algn="ctr">
              <a:lnSpc>
                <a:spcPct val="150000"/>
              </a:lnSpc>
              <a:defRPr/>
            </a:pPr>
            <a:r>
              <a:rPr kumimoji="0" lang="en-US" i="0" u="none" strike="noStrike" kern="0" cap="none" spc="0" normalizeH="0" baseline="0" noProof="0">
                <a:ln>
                  <a:noFill/>
                </a:ln>
                <a:solidFill>
                  <a:srgbClr val="0070C0"/>
                </a:solidFill>
                <a:effectLst/>
                <a:uLnTx/>
                <a:uFillTx/>
                <a:latin typeface="+mn-lt"/>
              </a:rPr>
              <a:t>Recurrent Neural Network</a:t>
            </a:r>
            <a:endParaRPr kumimoji="0" lang="en-US" i="0" u="none" strike="noStrike" kern="0" cap="none" spc="0" normalizeH="0" baseline="0" noProof="0" dirty="0">
              <a:ln>
                <a:noFill/>
              </a:ln>
              <a:solidFill>
                <a:srgbClr val="0070C0"/>
              </a:solidFill>
              <a:effectLst/>
              <a:uLnTx/>
              <a:uFillTx/>
              <a:latin typeface="+mn-lt"/>
            </a:endParaRPr>
          </a:p>
        </p:txBody>
      </p:sp>
    </p:spTree>
    <p:extLst>
      <p:ext uri="{BB962C8B-B14F-4D97-AF65-F5344CB8AC3E}">
        <p14:creationId xmlns:p14="http://schemas.microsoft.com/office/powerpoint/2010/main" val="59155826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DCACF-0359-87AE-C8A6-AA5DAB1269B3}"/>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5F328160-95E5-D251-D75A-3ECB6AF0C4D3}"/>
              </a:ext>
            </a:extLst>
          </p:cNvPr>
          <p:cNvSpPr>
            <a:spLocks noGrp="1" noChangeArrowheads="1"/>
          </p:cNvSpPr>
          <p:nvPr>
            <p:ph type="title"/>
          </p:nvPr>
        </p:nvSpPr>
        <p:spPr/>
        <p:txBody>
          <a:bodyPr/>
          <a:lstStyle/>
          <a:p>
            <a:r>
              <a:rPr lang="en-US" sz="3200"/>
              <a:t>Đặt vấn đề</a:t>
            </a:r>
            <a:endParaRPr lang="en-US" sz="3200" dirty="0"/>
          </a:p>
        </p:txBody>
      </p:sp>
      <p:sp>
        <p:nvSpPr>
          <p:cNvPr id="2" name="Slide Number Placeholder 1">
            <a:extLst>
              <a:ext uri="{FF2B5EF4-FFF2-40B4-BE49-F238E27FC236}">
                <a16:creationId xmlns:a16="http://schemas.microsoft.com/office/drawing/2014/main" id="{DA79779B-C733-26CE-7A34-1D9B81E3157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Rectangle 25">
            <a:extLst>
              <a:ext uri="{FF2B5EF4-FFF2-40B4-BE49-F238E27FC236}">
                <a16:creationId xmlns:a16="http://schemas.microsoft.com/office/drawing/2014/main" id="{6B78B95D-334E-A72F-E68D-1B2EED2068C3}"/>
              </a:ext>
            </a:extLst>
          </p:cNvPr>
          <p:cNvSpPr>
            <a:spLocks noChangeArrowheads="1"/>
          </p:cNvSpPr>
          <p:nvPr/>
        </p:nvSpPr>
        <p:spPr bwMode="black">
          <a:xfrm>
            <a:off x="0" y="1100804"/>
            <a:ext cx="12192000" cy="958660"/>
          </a:xfrm>
          <a:prstGeom prst="rect">
            <a:avLst/>
          </a:prstGeom>
          <a:noFill/>
          <a:ln w="9525" algn="ctr">
            <a:noFill/>
            <a:miter lim="800000"/>
            <a:headEnd/>
            <a:tailEnd/>
          </a:ln>
          <a:effectLst/>
        </p:spPr>
        <p:txBody>
          <a:bodyPr wrap="square">
            <a:spAutoFit/>
          </a:bodyPr>
          <a:lstStyle/>
          <a:p>
            <a:pPr lvl="0" algn="just" fontAlgn="auto">
              <a:lnSpc>
                <a:spcPct val="150000"/>
              </a:lnSpc>
              <a:spcBef>
                <a:spcPts val="0"/>
              </a:spcBef>
              <a:spcAft>
                <a:spcPts val="0"/>
              </a:spcAft>
              <a:defRPr/>
            </a:pPr>
            <a:r>
              <a:rPr lang="en-US" sz="2000" kern="0">
                <a:solidFill>
                  <a:srgbClr val="FF0000"/>
                </a:solidFill>
                <a:latin typeface="Arial"/>
              </a:rPr>
              <a:t>L</a:t>
            </a:r>
            <a:r>
              <a:rPr lang="vi-VN" sz="2000" kern="0">
                <a:solidFill>
                  <a:srgbClr val="FF0000"/>
                </a:solidFill>
                <a:latin typeface="Arial"/>
              </a:rPr>
              <a:t>àm thế nào chatbot hiểu được câu hỏi hoặc làm thế nào các ứng dụng như Siri và tìm kiếm bằng giọng nói có thể giải mã các yêu cầu?</a:t>
            </a:r>
            <a:endParaRPr kumimoji="0" lang="en-US" sz="2000" b="0" i="0" u="none" strike="noStrike" kern="0" cap="none" spc="0" normalizeH="0" baseline="0" noProof="0">
              <a:ln>
                <a:noFill/>
              </a:ln>
              <a:solidFill>
                <a:srgbClr val="FF0000"/>
              </a:solidFill>
              <a:effectLst/>
              <a:uLnTx/>
              <a:uFillTx/>
              <a:latin typeface="Arial"/>
            </a:endParaRPr>
          </a:p>
        </p:txBody>
      </p:sp>
      <p:sp>
        <p:nvSpPr>
          <p:cNvPr id="17" name="Rectangle 25">
            <a:extLst>
              <a:ext uri="{FF2B5EF4-FFF2-40B4-BE49-F238E27FC236}">
                <a16:creationId xmlns:a16="http://schemas.microsoft.com/office/drawing/2014/main" id="{A0693DB3-7992-C95B-C6A3-3A1C5D5E0C23}"/>
              </a:ext>
            </a:extLst>
          </p:cNvPr>
          <p:cNvSpPr>
            <a:spLocks noChangeArrowheads="1"/>
          </p:cNvSpPr>
          <p:nvPr/>
        </p:nvSpPr>
        <p:spPr bwMode="black">
          <a:xfrm>
            <a:off x="4190359" y="2017604"/>
            <a:ext cx="8001641" cy="1420325"/>
          </a:xfrm>
          <a:prstGeom prst="rect">
            <a:avLst/>
          </a:prstGeom>
          <a:noFill/>
          <a:ln w="9525" algn="ctr">
            <a:noFill/>
            <a:miter lim="800000"/>
            <a:headEnd/>
            <a:tailEnd/>
          </a:ln>
          <a:effectLst/>
        </p:spPr>
        <p:txBody>
          <a:bodyPr wrap="square">
            <a:spAutoFit/>
          </a:bodyPr>
          <a:lstStyle/>
          <a:p>
            <a:pPr lvl="0" algn="just" fontAlgn="auto">
              <a:lnSpc>
                <a:spcPct val="150000"/>
              </a:lnSpc>
              <a:spcBef>
                <a:spcPts val="0"/>
              </a:spcBef>
              <a:spcAft>
                <a:spcPts val="0"/>
              </a:spcAft>
              <a:defRPr/>
            </a:pPr>
            <a:r>
              <a:rPr lang="en-US" sz="2000" kern="0">
                <a:solidFill>
                  <a:srgbClr val="000000"/>
                </a:solidFill>
                <a:latin typeface="Arial"/>
              </a:rPr>
              <a:t>M</a:t>
            </a:r>
            <a:r>
              <a:rPr lang="vi-VN" sz="2000" kern="0">
                <a:solidFill>
                  <a:srgbClr val="000000"/>
                </a:solidFill>
                <a:latin typeface="Arial"/>
              </a:rPr>
              <a:t>ột loại trí tuệ nhân tạo được gọi là Mạng nơ-ron hồi quy (RNN)</a:t>
            </a:r>
            <a:r>
              <a:rPr lang="en-US" sz="2000" kern="0">
                <a:solidFill>
                  <a:srgbClr val="000000"/>
                </a:solidFill>
                <a:latin typeface="Arial"/>
              </a:rPr>
              <a:t> </a:t>
            </a:r>
            <a:r>
              <a:rPr lang="en-US" sz="2000" kern="0">
                <a:solidFill>
                  <a:srgbClr val="000000"/>
                </a:solidFill>
                <a:latin typeface="Arial"/>
                <a:sym typeface="Wingdings 3" panose="05040102010807070707" pitchFamily="18" charset="2"/>
              </a:rPr>
              <a:t> </a:t>
            </a:r>
            <a:r>
              <a:rPr lang="vi-VN" sz="2000" kern="0">
                <a:solidFill>
                  <a:srgbClr val="000000"/>
                </a:solidFill>
                <a:latin typeface="Arial"/>
                <a:sym typeface="Wingdings 3" panose="05040102010807070707" pitchFamily="18" charset="2"/>
              </a:rPr>
              <a:t>có khả năng ghi nhớ thông tin từ quá khứ, giúp phân tích dữ liệu tuần tự như văn bản hoặc giọng nói</a:t>
            </a:r>
            <a:endParaRPr kumimoji="0" lang="en-US" sz="2000" b="0" i="0" u="none" strike="noStrike" kern="0" cap="none" spc="0" normalizeH="0" baseline="0" noProof="0">
              <a:ln>
                <a:noFill/>
              </a:ln>
              <a:solidFill>
                <a:srgbClr val="000000"/>
              </a:solidFill>
              <a:effectLst/>
              <a:uLnTx/>
              <a:uFillTx/>
              <a:latin typeface="Arial"/>
            </a:endParaRPr>
          </a:p>
        </p:txBody>
      </p:sp>
      <p:sp>
        <p:nvSpPr>
          <p:cNvPr id="13" name="Rectangle 25">
            <a:extLst>
              <a:ext uri="{FF2B5EF4-FFF2-40B4-BE49-F238E27FC236}">
                <a16:creationId xmlns:a16="http://schemas.microsoft.com/office/drawing/2014/main" id="{83384AEE-FA39-9A46-F351-E27A1140CAB8}"/>
              </a:ext>
            </a:extLst>
          </p:cNvPr>
          <p:cNvSpPr>
            <a:spLocks noChangeArrowheads="1"/>
          </p:cNvSpPr>
          <p:nvPr/>
        </p:nvSpPr>
        <p:spPr bwMode="black">
          <a:xfrm>
            <a:off x="0" y="4222940"/>
            <a:ext cx="12192000" cy="95866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vi-VN" sz="2000" kern="0">
                <a:solidFill>
                  <a:srgbClr val="0070C0"/>
                </a:solidFill>
                <a:latin typeface="Arial"/>
              </a:rPr>
              <a:t>Sử dụng </a:t>
            </a:r>
            <a:r>
              <a:rPr lang="vi-VN" sz="2000" kern="0">
                <a:solidFill>
                  <a:srgbClr val="FF0000"/>
                </a:solidFill>
                <a:latin typeface="Arial"/>
              </a:rPr>
              <a:t>bộ nhớ nội bộ</a:t>
            </a:r>
            <a:r>
              <a:rPr lang="vi-VN" sz="2000" kern="0">
                <a:solidFill>
                  <a:srgbClr val="0070C0"/>
                </a:solidFill>
                <a:latin typeface="Arial"/>
              </a:rPr>
              <a:t> để lưu giữ thông tin từ các bước trước đó, giống như cách con người cần nhớ nội dung trước đó trong một cuộc hội thoại</a:t>
            </a:r>
            <a:endParaRPr kumimoji="0" lang="en-US" sz="2000" b="0" i="0" u="none" strike="noStrike" kern="0" cap="none" spc="0" normalizeH="0" baseline="0" noProof="0">
              <a:ln>
                <a:noFill/>
              </a:ln>
              <a:solidFill>
                <a:srgbClr val="FF0000"/>
              </a:solidFill>
              <a:effectLst/>
              <a:uLnTx/>
              <a:uFillTx/>
              <a:latin typeface="Arial"/>
              <a:ea typeface="+mn-ea"/>
              <a:cs typeface="+mn-cs"/>
            </a:endParaRPr>
          </a:p>
        </p:txBody>
      </p:sp>
      <p:pic>
        <p:nvPicPr>
          <p:cNvPr id="3" name="Picture 2" descr="Chatbot GIFs - Find &amp; Share on GIPHY">
            <a:extLst>
              <a:ext uri="{FF2B5EF4-FFF2-40B4-BE49-F238E27FC236}">
                <a16:creationId xmlns:a16="http://schemas.microsoft.com/office/drawing/2014/main" id="{31CC5308-43CD-4108-9875-2DFF3B278B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828800"/>
            <a:ext cx="2133211" cy="213321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Amoeba Labs - Leading UI/UX Design Agency for SaaS, Website, App Research &amp;  Design">
            <a:extLst>
              <a:ext uri="{FF2B5EF4-FFF2-40B4-BE49-F238E27FC236}">
                <a16:creationId xmlns:a16="http://schemas.microsoft.com/office/drawing/2014/main" id="{E17671BF-DB37-924F-8767-CBFE0FA2B0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769" y="2055979"/>
            <a:ext cx="1906032" cy="190603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5">
            <a:extLst>
              <a:ext uri="{FF2B5EF4-FFF2-40B4-BE49-F238E27FC236}">
                <a16:creationId xmlns:a16="http://schemas.microsoft.com/office/drawing/2014/main" id="{AF79E156-1643-BEDA-394C-12E0E9F49310}"/>
              </a:ext>
            </a:extLst>
          </p:cNvPr>
          <p:cNvSpPr>
            <a:spLocks noChangeArrowheads="1"/>
          </p:cNvSpPr>
          <p:nvPr/>
        </p:nvSpPr>
        <p:spPr bwMode="black">
          <a:xfrm>
            <a:off x="0" y="5094870"/>
            <a:ext cx="12192000" cy="95866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vi-VN" sz="2000" kern="0">
                <a:solidFill>
                  <a:srgbClr val="0070C0"/>
                </a:solidFill>
                <a:latin typeface="Arial"/>
              </a:rPr>
              <a:t>RNN cơ bản gặp vấn đề về "mất mát gradient" khi xử lý chuỗi dài, được khắc phục nhờ các mô hình cải tiến như Long Short-Term Memory</a:t>
            </a:r>
            <a:r>
              <a:rPr lang="en-US" sz="2000" kern="0">
                <a:solidFill>
                  <a:srgbClr val="0070C0"/>
                </a:solidFill>
                <a:latin typeface="Arial"/>
              </a:rPr>
              <a:t> (</a:t>
            </a:r>
            <a:r>
              <a:rPr lang="vi-VN" sz="2000" kern="0">
                <a:solidFill>
                  <a:srgbClr val="0070C0"/>
                </a:solidFill>
                <a:latin typeface="Arial"/>
              </a:rPr>
              <a:t>LSTM</a:t>
            </a:r>
            <a:r>
              <a:rPr lang="en-US" sz="2000" kern="0">
                <a:solidFill>
                  <a:srgbClr val="0070C0"/>
                </a:solidFill>
                <a:latin typeface="Arial"/>
              </a:rPr>
              <a:t>)</a:t>
            </a:r>
            <a:endParaRPr kumimoji="0" lang="en-US" sz="2000" b="0" i="0" u="none" strike="noStrike" kern="0" cap="none" spc="0" normalizeH="0" baseline="0" noProof="0">
              <a:ln>
                <a:noFill/>
              </a:ln>
              <a:solidFill>
                <a:srgbClr val="FF0000"/>
              </a:solidFill>
              <a:effectLst/>
              <a:uLnTx/>
              <a:uFillTx/>
              <a:latin typeface="Arial"/>
              <a:ea typeface="+mn-ea"/>
              <a:cs typeface="+mn-cs"/>
            </a:endParaRPr>
          </a:p>
        </p:txBody>
      </p:sp>
    </p:spTree>
    <p:extLst>
      <p:ext uri="{BB962C8B-B14F-4D97-AF65-F5344CB8AC3E}">
        <p14:creationId xmlns:p14="http://schemas.microsoft.com/office/powerpoint/2010/main" val="3291176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par>
                                <p:cTn id="13" presetID="14" presetClass="entr" presetSubtype="1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randombar(horizontal)">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randombar(horizontal)">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randombar(horizontal)">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randombar(horizontal)">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P spid="13"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sz="3200"/>
              <a:t>RNN là gì?</a:t>
            </a:r>
            <a:endParaRPr lang="en-US" sz="3200" dirty="0"/>
          </a:p>
        </p:txBody>
      </p:sp>
      <p:sp>
        <p:nvSpPr>
          <p:cNvPr id="2" name="Slide Number Placeholder 1">
            <a:extLst>
              <a:ext uri="{FF2B5EF4-FFF2-40B4-BE49-F238E27FC236}">
                <a16:creationId xmlns:a16="http://schemas.microsoft.com/office/drawing/2014/main" id="{94D98416-5966-4429-8FC9-45E4C827526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Rectangle 25">
            <a:extLst>
              <a:ext uri="{FF2B5EF4-FFF2-40B4-BE49-F238E27FC236}">
                <a16:creationId xmlns:a16="http://schemas.microsoft.com/office/drawing/2014/main" id="{16734BCC-1C3B-4D4D-A98A-36CAFA690B60}"/>
              </a:ext>
            </a:extLst>
          </p:cNvPr>
          <p:cNvSpPr>
            <a:spLocks noChangeArrowheads="1"/>
          </p:cNvSpPr>
          <p:nvPr/>
        </p:nvSpPr>
        <p:spPr bwMode="black">
          <a:xfrm>
            <a:off x="0" y="1100804"/>
            <a:ext cx="12192000" cy="958404"/>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en-US" sz="2000" kern="0">
                <a:solidFill>
                  <a:srgbClr val="0070C0"/>
                </a:solidFill>
                <a:latin typeface="Arial"/>
              </a:rPr>
              <a:t>Mô phỏng </a:t>
            </a:r>
            <a:r>
              <a:rPr lang="vi-VN" sz="2000" kern="0">
                <a:solidFill>
                  <a:srgbClr val="0070C0"/>
                </a:solidFill>
                <a:latin typeface="Arial"/>
              </a:rPr>
              <a:t>cách hoạt động của não người trong các lĩnh vực như Khoa học dữ liệu, Trí tuệ nhân tạo, Học máy và Học sâu</a:t>
            </a:r>
            <a:r>
              <a:rPr lang="en-US" sz="2000" kern="0">
                <a:solidFill>
                  <a:srgbClr val="0070C0"/>
                </a:solidFill>
                <a:latin typeface="Arial"/>
              </a:rPr>
              <a:t> </a:t>
            </a:r>
            <a:r>
              <a:rPr lang="en-US" sz="2000" kern="0">
                <a:solidFill>
                  <a:srgbClr val="0070C0"/>
                </a:solidFill>
                <a:latin typeface="Arial"/>
                <a:sym typeface="Wingdings 3" panose="05040102010807070707" pitchFamily="18" charset="2"/>
              </a:rPr>
              <a:t> </a:t>
            </a:r>
            <a:r>
              <a:rPr lang="vi-VN" sz="2000" kern="0">
                <a:solidFill>
                  <a:srgbClr val="000000"/>
                </a:solidFill>
                <a:latin typeface="Arial"/>
                <a:sym typeface="Wingdings 3" panose="05040102010807070707" pitchFamily="18" charset="2"/>
              </a:rPr>
              <a:t>nhận diện mẫu và giải quyết các vấn đề liên quan đến dữ liệu tuần tự</a:t>
            </a:r>
            <a:endParaRPr lang="en-US" sz="2000" kern="0">
              <a:solidFill>
                <a:srgbClr val="000000"/>
              </a:solidFill>
              <a:latin typeface="Arial"/>
            </a:endParaRPr>
          </a:p>
        </p:txBody>
      </p:sp>
      <p:sp>
        <p:nvSpPr>
          <p:cNvPr id="15" name="Rectangle 25">
            <a:extLst>
              <a:ext uri="{FF2B5EF4-FFF2-40B4-BE49-F238E27FC236}">
                <a16:creationId xmlns:a16="http://schemas.microsoft.com/office/drawing/2014/main" id="{DFA35E81-9677-4932-A77E-7E2F1F269FC2}"/>
              </a:ext>
            </a:extLst>
          </p:cNvPr>
          <p:cNvSpPr>
            <a:spLocks noChangeArrowheads="1"/>
          </p:cNvSpPr>
          <p:nvPr/>
        </p:nvSpPr>
        <p:spPr bwMode="black">
          <a:xfrm>
            <a:off x="0" y="1981200"/>
            <a:ext cx="12191999" cy="188199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en-US" sz="2000" kern="0">
                <a:solidFill>
                  <a:srgbClr val="0070C0"/>
                </a:solidFill>
                <a:latin typeface="Arial"/>
              </a:rPr>
              <a:t>C</a:t>
            </a:r>
            <a:r>
              <a:rPr lang="vi-VN" sz="2000" kern="0">
                <a:solidFill>
                  <a:srgbClr val="0070C0"/>
                </a:solidFill>
                <a:latin typeface="Arial"/>
              </a:rPr>
              <a:t>ó thể mô hình hóa dữ liệu tuần tự, dự đoán dữ liệu theo chuỗi mà các thuật toán khác khó xử lý</a:t>
            </a:r>
            <a:endParaRPr lang="en-US" sz="2000" kern="0">
              <a:solidFill>
                <a:srgbClr val="0070C0"/>
              </a:solidFill>
              <a:latin typeface="Arial"/>
            </a:endParaRPr>
          </a:p>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M</a:t>
            </a:r>
            <a:r>
              <a:rPr lang="vi-VN" sz="2000" kern="0">
                <a:solidFill>
                  <a:srgbClr val="000000"/>
                </a:solidFill>
                <a:latin typeface="Arial"/>
              </a:rPr>
              <a:t>ạng nơ-ron thông thường, các đầu vào và đầu ra là độc lập</a:t>
            </a:r>
            <a:endParaRPr lang="en-US" sz="2000" kern="0">
              <a:solidFill>
                <a:srgbClr val="000000"/>
              </a:solidFill>
              <a:latin typeface="Arial"/>
            </a:endParaRPr>
          </a:p>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Trong RNN, các thông tin trước đó có thể được </a:t>
            </a:r>
            <a:r>
              <a:rPr lang="vi-VN" sz="2000" kern="0">
                <a:solidFill>
                  <a:srgbClr val="FF0000"/>
                </a:solidFill>
                <a:latin typeface="Arial"/>
              </a:rPr>
              <a:t>ghi nhớ</a:t>
            </a:r>
            <a:r>
              <a:rPr lang="vi-VN" sz="2000" kern="0">
                <a:solidFill>
                  <a:srgbClr val="000000"/>
                </a:solidFill>
                <a:latin typeface="Arial"/>
              </a:rPr>
              <a:t> </a:t>
            </a:r>
            <a:r>
              <a:rPr lang="vi-VN" sz="2000" kern="0">
                <a:solidFill>
                  <a:srgbClr val="000000"/>
                </a:solidFill>
                <a:latin typeface="Arial"/>
                <a:sym typeface="Wingdings 3" panose="05040102010807070707" pitchFamily="18" charset="2"/>
              </a:rPr>
              <a:t></a:t>
            </a:r>
            <a:r>
              <a:rPr lang="vi-VN" sz="2000" kern="0">
                <a:solidFill>
                  <a:srgbClr val="000000"/>
                </a:solidFill>
                <a:latin typeface="Arial"/>
              </a:rPr>
              <a:t> xử lý thông tin hiện tại, ví dụ: dự đoán từ tiếp theo trong một câu</a:t>
            </a:r>
            <a:endParaRPr lang="en-US" sz="2000" kern="0">
              <a:solidFill>
                <a:srgbClr val="000000"/>
              </a:solidFill>
              <a:latin typeface="Arial"/>
            </a:endParaRPr>
          </a:p>
        </p:txBody>
      </p:sp>
      <p:pic>
        <p:nvPicPr>
          <p:cNvPr id="4" name="Picture 3">
            <a:extLst>
              <a:ext uri="{FF2B5EF4-FFF2-40B4-BE49-F238E27FC236}">
                <a16:creationId xmlns:a16="http://schemas.microsoft.com/office/drawing/2014/main" id="{0E6E6C0C-A8A3-86C6-7FAD-7CF1DB410CDD}"/>
              </a:ext>
            </a:extLst>
          </p:cNvPr>
          <p:cNvPicPr>
            <a:picLocks noChangeAspect="1"/>
          </p:cNvPicPr>
          <p:nvPr/>
        </p:nvPicPr>
        <p:blipFill>
          <a:blip r:embed="rId3"/>
          <a:stretch>
            <a:fillRect/>
          </a:stretch>
        </p:blipFill>
        <p:spPr>
          <a:xfrm>
            <a:off x="1" y="3810001"/>
            <a:ext cx="5638800" cy="1697436"/>
          </a:xfrm>
          <a:prstGeom prst="rect">
            <a:avLst/>
          </a:prstGeom>
        </p:spPr>
      </p:pic>
      <p:sp>
        <p:nvSpPr>
          <p:cNvPr id="5" name="Rectangle 25">
            <a:extLst>
              <a:ext uri="{FF2B5EF4-FFF2-40B4-BE49-F238E27FC236}">
                <a16:creationId xmlns:a16="http://schemas.microsoft.com/office/drawing/2014/main" id="{7A22EF1C-EE95-FBFF-4E28-B01C08435A55}"/>
              </a:ext>
            </a:extLst>
          </p:cNvPr>
          <p:cNvSpPr>
            <a:spLocks noChangeArrowheads="1"/>
          </p:cNvSpPr>
          <p:nvPr/>
        </p:nvSpPr>
        <p:spPr bwMode="black">
          <a:xfrm>
            <a:off x="5791200" y="3352800"/>
            <a:ext cx="6400800" cy="234365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en-US" sz="2000" kern="0">
                <a:solidFill>
                  <a:srgbClr val="0070C0"/>
                </a:solidFill>
                <a:latin typeface="Arial"/>
              </a:rPr>
              <a:t>Đặc điểm chính của RNN</a:t>
            </a:r>
          </a:p>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Hidden state (trạng thái ẩn): Lưu trữ thông tin về chuỗi và kết nối thông tin từ các bước trước đó</a:t>
            </a:r>
            <a:endParaRPr lang="en-US" sz="2000" kern="0">
              <a:solidFill>
                <a:srgbClr val="000000"/>
              </a:solidFill>
              <a:latin typeface="Arial"/>
            </a:endParaRPr>
          </a:p>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Bộ nhớ: Lưu giữ các thông tin tính toán trước đó để sử dụng lại cho chuỗi tiếp theo</a:t>
            </a:r>
            <a:endParaRPr lang="en-US" sz="2000" kern="0">
              <a:solidFill>
                <a:srgbClr val="000000"/>
              </a:solidFill>
              <a:latin typeface="Arial"/>
            </a:endParaRPr>
          </a:p>
        </p:txBody>
      </p:sp>
      <p:sp>
        <p:nvSpPr>
          <p:cNvPr id="6" name="Rectangle 25">
            <a:extLst>
              <a:ext uri="{FF2B5EF4-FFF2-40B4-BE49-F238E27FC236}">
                <a16:creationId xmlns:a16="http://schemas.microsoft.com/office/drawing/2014/main" id="{48D28346-848C-355A-0EA8-45208DAA3614}"/>
              </a:ext>
            </a:extLst>
          </p:cNvPr>
          <p:cNvSpPr>
            <a:spLocks noChangeArrowheads="1"/>
          </p:cNvSpPr>
          <p:nvPr/>
        </p:nvSpPr>
        <p:spPr bwMode="black">
          <a:xfrm>
            <a:off x="0" y="5594540"/>
            <a:ext cx="12191998" cy="95866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en-US" sz="2000" kern="0">
                <a:solidFill>
                  <a:srgbClr val="0070C0"/>
                </a:solidFill>
                <a:latin typeface="Arial"/>
              </a:rPr>
              <a:t>Sử dụng cùng một tập tham số cho tất cả các đầu vào, giúp đảm bảo tính nhất quán và hiệu quả trong tính toán</a:t>
            </a:r>
            <a:endParaRPr lang="en-US" sz="2000" kern="0">
              <a:solidFill>
                <a:srgbClr val="000000"/>
              </a:solidFill>
              <a:latin typeface="Arial"/>
            </a:endParaRPr>
          </a:p>
        </p:txBody>
      </p:sp>
    </p:spTree>
    <p:extLst>
      <p:ext uri="{BB962C8B-B14F-4D97-AF65-F5344CB8AC3E}">
        <p14:creationId xmlns:p14="http://schemas.microsoft.com/office/powerpoint/2010/main" val="5294853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randombar(horizontal)">
                                      <p:cBhvr>
                                        <p:cTn id="12" dur="500"/>
                                        <p:tgtEl>
                                          <p:spTgt spid="15"/>
                                        </p:tgtEl>
                                      </p:cBhvr>
                                    </p:animEffect>
                                  </p:childTnLst>
                                </p:cTn>
                              </p:par>
                              <p:par>
                                <p:cTn id="13" presetID="14" presetClass="entr" presetSubtype="1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randombar(horizontal)">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randombar(horizont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randombar(horizontal)">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NN-vs-FNN">
            <a:extLst>
              <a:ext uri="{FF2B5EF4-FFF2-40B4-BE49-F238E27FC236}">
                <a16:creationId xmlns:a16="http://schemas.microsoft.com/office/drawing/2014/main" id="{6CF1B699-4A08-4AF9-A7ED-A61A092492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59" y="1094201"/>
            <a:ext cx="5665841" cy="2832921"/>
          </a:xfrm>
          <a:prstGeom prst="rect">
            <a:avLst/>
          </a:prstGeom>
          <a:noFill/>
          <a:extLst>
            <a:ext uri="{909E8E84-426E-40DD-AFC4-6F175D3DCCD1}">
              <a14:hiddenFill xmlns:a14="http://schemas.microsoft.com/office/drawing/2010/main">
                <a:solidFill>
                  <a:srgbClr val="FFFFFF"/>
                </a:solidFill>
              </a14:hiddenFill>
            </a:ext>
          </a:extLst>
        </p:spPr>
      </p:pic>
      <p:sp>
        <p:nvSpPr>
          <p:cNvPr id="7170" name="Rectangle 2"/>
          <p:cNvSpPr>
            <a:spLocks noGrp="1" noChangeArrowheads="1"/>
          </p:cNvSpPr>
          <p:nvPr>
            <p:ph type="title"/>
          </p:nvPr>
        </p:nvSpPr>
        <p:spPr/>
        <p:txBody>
          <a:bodyPr/>
          <a:lstStyle/>
          <a:p>
            <a:r>
              <a:rPr lang="vi-VN" sz="3200"/>
              <a:t>Sự khác biệt giữa RNN và mạng nơ-ron truyền thẳng</a:t>
            </a:r>
            <a:endParaRPr lang="en-US" sz="3200" dirty="0"/>
          </a:p>
        </p:txBody>
      </p:sp>
      <p:sp>
        <p:nvSpPr>
          <p:cNvPr id="2" name="Slide Number Placeholder 1">
            <a:extLst>
              <a:ext uri="{FF2B5EF4-FFF2-40B4-BE49-F238E27FC236}">
                <a16:creationId xmlns:a16="http://schemas.microsoft.com/office/drawing/2014/main" id="{94D98416-5966-4429-8FC9-45E4C827526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Rectangle 25">
            <a:extLst>
              <a:ext uri="{FF2B5EF4-FFF2-40B4-BE49-F238E27FC236}">
                <a16:creationId xmlns:a16="http://schemas.microsoft.com/office/drawing/2014/main" id="{16734BCC-1C3B-4D4D-A98A-36CAFA690B60}"/>
              </a:ext>
            </a:extLst>
          </p:cNvPr>
          <p:cNvSpPr>
            <a:spLocks noChangeArrowheads="1"/>
          </p:cNvSpPr>
          <p:nvPr/>
        </p:nvSpPr>
        <p:spPr bwMode="black">
          <a:xfrm>
            <a:off x="5562601" y="1094201"/>
            <a:ext cx="6629398" cy="280532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en-US" sz="2000" kern="0">
                <a:solidFill>
                  <a:srgbClr val="0070C0"/>
                </a:solidFill>
                <a:latin typeface="Arial"/>
              </a:rPr>
              <a:t>Feedforward Neural Networks (FNN)</a:t>
            </a:r>
          </a:p>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Xử lý dữ liệu theo một hướng, từ đầu vào đến đầu ra</a:t>
            </a:r>
            <a:endParaRPr lang="en-US" sz="2000" kern="0">
              <a:solidFill>
                <a:srgbClr val="000000"/>
              </a:solidFill>
              <a:latin typeface="Arial"/>
            </a:endParaRPr>
          </a:p>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Không lưu trữ thông tin từ các đầu vào trước đó</a:t>
            </a:r>
            <a:r>
              <a:rPr lang="en-US" sz="2000" kern="0">
                <a:solidFill>
                  <a:srgbClr val="000000"/>
                </a:solidFill>
                <a:latin typeface="Arial"/>
              </a:rPr>
              <a:t> → Không phù hợp cho dữ liệu tuần tự</a:t>
            </a:r>
          </a:p>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Thích hợp cho các tác vụ có đầu vào độc lập, như phân loại ảnh</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sp>
        <p:nvSpPr>
          <p:cNvPr id="5" name="Rectangle 25">
            <a:extLst>
              <a:ext uri="{FF2B5EF4-FFF2-40B4-BE49-F238E27FC236}">
                <a16:creationId xmlns:a16="http://schemas.microsoft.com/office/drawing/2014/main" id="{7A22EF1C-EE95-FBFF-4E28-B01C08435A55}"/>
              </a:ext>
            </a:extLst>
          </p:cNvPr>
          <p:cNvSpPr>
            <a:spLocks noChangeArrowheads="1"/>
          </p:cNvSpPr>
          <p:nvPr/>
        </p:nvSpPr>
        <p:spPr bwMode="black">
          <a:xfrm>
            <a:off x="0" y="3810000"/>
            <a:ext cx="12192000" cy="1881990"/>
          </a:xfrm>
          <a:prstGeom prst="rect">
            <a:avLst/>
          </a:prstGeom>
          <a:noFill/>
          <a:ln w="9525" algn="ctr">
            <a:noFill/>
            <a:miter lim="800000"/>
            <a:headEnd/>
            <a:tailEnd/>
          </a:ln>
          <a:effectLst/>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en-US" sz="2000" b="0" i="0" u="none" strike="noStrike" kern="0" cap="none" spc="0" normalizeH="0" baseline="0" noProof="0">
                <a:ln>
                  <a:noFill/>
                </a:ln>
                <a:solidFill>
                  <a:srgbClr val="0070C0"/>
                </a:solidFill>
                <a:effectLst/>
                <a:uLnTx/>
                <a:uFillTx/>
                <a:latin typeface="Arial"/>
                <a:ea typeface="+mn-ea"/>
                <a:cs typeface="+mn-cs"/>
              </a:rPr>
              <a:t>RNN</a:t>
            </a:r>
          </a:p>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Có các vòng lặp (loops) cho phép đưa thông tin từ các bước trước trở lại mạng</a:t>
            </a:r>
            <a:endParaRPr kumimoji="0" lang="en-US" sz="2000" b="0" i="0" u="none" strike="noStrike" kern="0" cap="none" spc="0" normalizeH="0" baseline="0" noProof="0">
              <a:ln>
                <a:noFill/>
              </a:ln>
              <a:solidFill>
                <a:srgbClr val="000000"/>
              </a:solidFill>
              <a:effectLst/>
              <a:uLnTx/>
              <a:uFillTx/>
              <a:latin typeface="Arial"/>
              <a:ea typeface="+mn-ea"/>
              <a:cs typeface="+mn-cs"/>
            </a:endParaRPr>
          </a:p>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Có khả năng ghi nhớ thông tin từ các đầu vào trước đó</a:t>
            </a:r>
            <a:endParaRPr lang="en-US" sz="2000" kern="0">
              <a:solidFill>
                <a:srgbClr val="000000"/>
              </a:solidFill>
              <a:latin typeface="Arial"/>
            </a:endParaRPr>
          </a:p>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Phù hợp với các tác vụ cần bối cảnh, như xử lý ngôn ngữ tự nhiên hoặc dự đoán chuỗi thời gian</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998205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vi-VN" sz="3200"/>
              <a:t>Sự khác biệt giữa RNN và mạng nơ-ron truyền thẳng</a:t>
            </a:r>
            <a:endParaRPr lang="en-US" sz="3200" dirty="0"/>
          </a:p>
        </p:txBody>
      </p:sp>
      <p:sp>
        <p:nvSpPr>
          <p:cNvPr id="2" name="Slide Number Placeholder 1">
            <a:extLst>
              <a:ext uri="{FF2B5EF4-FFF2-40B4-BE49-F238E27FC236}">
                <a16:creationId xmlns:a16="http://schemas.microsoft.com/office/drawing/2014/main" id="{94D98416-5966-4429-8FC9-45E4C827526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Rectangle 25">
            <a:extLst>
              <a:ext uri="{FF2B5EF4-FFF2-40B4-BE49-F238E27FC236}">
                <a16:creationId xmlns:a16="http://schemas.microsoft.com/office/drawing/2014/main" id="{16734BCC-1C3B-4D4D-A98A-36CAFA690B60}"/>
              </a:ext>
            </a:extLst>
          </p:cNvPr>
          <p:cNvSpPr>
            <a:spLocks noChangeArrowheads="1"/>
          </p:cNvSpPr>
          <p:nvPr/>
        </p:nvSpPr>
        <p:spPr bwMode="black">
          <a:xfrm>
            <a:off x="0" y="1094201"/>
            <a:ext cx="12191999" cy="280532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vi-VN" sz="2000" kern="0">
                <a:solidFill>
                  <a:srgbClr val="0070C0"/>
                </a:solidFill>
                <a:latin typeface="Arial"/>
              </a:rPr>
              <a:t>Ứng dụng mà RNN từng được sử dụng thành công:</a:t>
            </a:r>
            <a:endParaRPr kumimoji="0" lang="en-US" sz="2000" b="0" i="0" u="none" strike="noStrike" kern="0" cap="none" spc="0" normalizeH="0" baseline="0" noProof="0">
              <a:ln>
                <a:noFill/>
              </a:ln>
              <a:solidFill>
                <a:srgbClr val="0070C0"/>
              </a:solidFill>
              <a:effectLst/>
              <a:uLnTx/>
              <a:uFillTx/>
              <a:latin typeface="Arial"/>
              <a:ea typeface="+mn-ea"/>
              <a:cs typeface="+mn-cs"/>
            </a:endParaRPr>
          </a:p>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Dự đoán từ tiếp theo (Next Word Prediction): </a:t>
            </a:r>
            <a:r>
              <a:rPr lang="vi-VN" sz="2000" kern="0">
                <a:solidFill>
                  <a:srgbClr val="000000"/>
                </a:solidFill>
                <a:latin typeface="Arial"/>
              </a:rPr>
              <a:t>được sử dụng để dự đoán từ tiếp theo trong các hệ thống soạn thảo văn bản tự động</a:t>
            </a:r>
            <a:endParaRPr lang="en-US" sz="2000" kern="0">
              <a:solidFill>
                <a:srgbClr val="000000"/>
              </a:solidFill>
              <a:latin typeface="Arial"/>
            </a:endParaRPr>
          </a:p>
          <a:p>
            <a:pPr marL="342900" lvl="0" indent="-342900" algn="just" fontAlgn="auto">
              <a:lnSpc>
                <a:spcPct val="150000"/>
              </a:lnSpc>
              <a:spcBef>
                <a:spcPts val="0"/>
              </a:spcBef>
              <a:spcAft>
                <a:spcPts val="0"/>
              </a:spcAft>
              <a:buFont typeface="Wingdings" panose="05000000000000000000" pitchFamily="2" charset="2"/>
              <a:buChar char="§"/>
              <a:defRPr/>
            </a:pPr>
            <a:r>
              <a:rPr lang="fr-FR" sz="2000" kern="0">
                <a:solidFill>
                  <a:srgbClr val="000000"/>
                </a:solidFill>
                <a:latin typeface="Arial"/>
              </a:rPr>
              <a:t>Phân loại cảm xúc (Sentiment Analysis): nắm bắt ngữ cảnh trong các đoạn văn ngắn hoặc câu dài</a:t>
            </a:r>
          </a:p>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Tóm tắt văn bản (Text Summarization)</a:t>
            </a:r>
          </a:p>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Nhận dạng giọng nói (Speech Recognition)</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95827578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vi-VN" sz="3200"/>
              <a:t>Các thành phần chính của RNN</a:t>
            </a:r>
            <a:endParaRPr lang="en-US" sz="3200" dirty="0"/>
          </a:p>
        </p:txBody>
      </p:sp>
      <p:sp>
        <p:nvSpPr>
          <p:cNvPr id="2" name="Slide Number Placeholder 1">
            <a:extLst>
              <a:ext uri="{FF2B5EF4-FFF2-40B4-BE49-F238E27FC236}">
                <a16:creationId xmlns:a16="http://schemas.microsoft.com/office/drawing/2014/main" id="{94D98416-5966-4429-8FC9-45E4C827526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Rectangle 25">
            <a:extLst>
              <a:ext uri="{FF2B5EF4-FFF2-40B4-BE49-F238E27FC236}">
                <a16:creationId xmlns:a16="http://schemas.microsoft.com/office/drawing/2014/main" id="{16734BCC-1C3B-4D4D-A98A-36CAFA690B60}"/>
              </a:ext>
            </a:extLst>
          </p:cNvPr>
          <p:cNvSpPr>
            <a:spLocks noChangeArrowheads="1"/>
          </p:cNvSpPr>
          <p:nvPr/>
        </p:nvSpPr>
        <p:spPr bwMode="black">
          <a:xfrm>
            <a:off x="0" y="1094201"/>
            <a:ext cx="12191999" cy="496996"/>
          </a:xfrm>
          <a:prstGeom prst="rect">
            <a:avLst/>
          </a:prstGeom>
          <a:noFill/>
          <a:ln w="9525" algn="ctr">
            <a:noFill/>
            <a:miter lim="800000"/>
            <a:headEnd/>
            <a:tailEnd/>
          </a:ln>
          <a:effectLst/>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vi-VN" sz="2000" b="0" i="0" u="none" strike="noStrike" kern="0" cap="none" spc="0" normalizeH="0" baseline="0" noProof="0">
                <a:ln>
                  <a:noFill/>
                </a:ln>
                <a:solidFill>
                  <a:srgbClr val="0070C0"/>
                </a:solidFill>
                <a:effectLst/>
                <a:uLnTx/>
                <a:uFillTx/>
                <a:latin typeface="Arial"/>
                <a:ea typeface="+mn-ea"/>
                <a:cs typeface="+mn-cs"/>
              </a:rPr>
              <a:t>Nơ-ron hồi quy</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pic>
        <p:nvPicPr>
          <p:cNvPr id="5" name="Picture 4">
            <a:extLst>
              <a:ext uri="{FF2B5EF4-FFF2-40B4-BE49-F238E27FC236}">
                <a16:creationId xmlns:a16="http://schemas.microsoft.com/office/drawing/2014/main" id="{82341AC7-4F0C-4BA3-88D6-BCF60FFADE87}"/>
              </a:ext>
            </a:extLst>
          </p:cNvPr>
          <p:cNvPicPr>
            <a:picLocks noChangeAspect="1"/>
          </p:cNvPicPr>
          <p:nvPr/>
        </p:nvPicPr>
        <p:blipFill>
          <a:blip r:embed="rId3"/>
          <a:stretch>
            <a:fillRect/>
          </a:stretch>
        </p:blipFill>
        <p:spPr>
          <a:xfrm>
            <a:off x="1" y="1533678"/>
            <a:ext cx="5638800" cy="1697436"/>
          </a:xfrm>
          <a:prstGeom prst="rect">
            <a:avLst/>
          </a:prstGeom>
        </p:spPr>
      </p:pic>
      <p:sp>
        <p:nvSpPr>
          <p:cNvPr id="6" name="Rectangle 25">
            <a:extLst>
              <a:ext uri="{FF2B5EF4-FFF2-40B4-BE49-F238E27FC236}">
                <a16:creationId xmlns:a16="http://schemas.microsoft.com/office/drawing/2014/main" id="{862DC813-63D8-4FB4-A713-F6DB88838B96}"/>
              </a:ext>
            </a:extLst>
          </p:cNvPr>
          <p:cNvSpPr>
            <a:spLocks noChangeArrowheads="1"/>
          </p:cNvSpPr>
          <p:nvPr/>
        </p:nvSpPr>
        <p:spPr bwMode="black">
          <a:xfrm>
            <a:off x="5638801" y="1066800"/>
            <a:ext cx="6553199" cy="234365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Đơn vị xử lý cơ bản trong RNN là Recurrent Unit</a:t>
            </a:r>
            <a:endParaRPr lang="en-US" sz="2000" kern="0">
              <a:solidFill>
                <a:srgbClr val="000000"/>
              </a:solidFill>
              <a:latin typeface="Arial"/>
            </a:endParaRPr>
          </a:p>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Trạng thái ẩn (Hidden State)</a:t>
            </a:r>
          </a:p>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Feed-back: Trạng thái ẩn từ bước trước được đưa lại làm đầu vào cho bước tiếp theo → nắm bắt được các phụ thuộc theo thời gian trong dữ liệu tuần tự</a:t>
            </a:r>
            <a:endParaRPr kumimoji="0" lang="vi-VN" sz="2000" b="0" i="0" u="none" strike="noStrike" kern="0" cap="none" spc="0" normalizeH="0" baseline="0" noProof="0">
              <a:ln>
                <a:noFill/>
              </a:ln>
              <a:solidFill>
                <a:srgbClr val="000000"/>
              </a:solidFill>
              <a:effectLst/>
              <a:uLnTx/>
              <a:uFillTx/>
              <a:latin typeface="Arial"/>
              <a:ea typeface="+mn-ea"/>
              <a:cs typeface="+mn-cs"/>
            </a:endParaRPr>
          </a:p>
        </p:txBody>
      </p:sp>
      <p:sp>
        <p:nvSpPr>
          <p:cNvPr id="8" name="Rectangle 25">
            <a:extLst>
              <a:ext uri="{FF2B5EF4-FFF2-40B4-BE49-F238E27FC236}">
                <a16:creationId xmlns:a16="http://schemas.microsoft.com/office/drawing/2014/main" id="{9C5A4879-1D1B-467A-AE5E-99EB188E3167}"/>
              </a:ext>
            </a:extLst>
          </p:cNvPr>
          <p:cNvSpPr>
            <a:spLocks noChangeArrowheads="1"/>
          </p:cNvSpPr>
          <p:nvPr/>
        </p:nvSpPr>
        <p:spPr bwMode="black">
          <a:xfrm>
            <a:off x="-1" y="3352800"/>
            <a:ext cx="12191999" cy="326698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vi-VN" sz="2000" kern="0">
                <a:solidFill>
                  <a:srgbClr val="0070C0"/>
                </a:solidFill>
                <a:latin typeface="Arial"/>
              </a:rPr>
              <a:t>RNN Unfolding</a:t>
            </a:r>
            <a:endParaRPr lang="en-US" sz="2000" kern="0">
              <a:solidFill>
                <a:srgbClr val="0070C0"/>
              </a:solidFill>
              <a:latin typeface="Arial"/>
            </a:endParaRPr>
          </a:p>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Quá trình mở rộng cấu trúc hồi tiếp (recurrent structure) của RNN qua từng bước thời gian (time steps)</a:t>
            </a:r>
            <a:endParaRPr lang="en-US" sz="2000" kern="0">
              <a:solidFill>
                <a:srgbClr val="000000"/>
              </a:solidFill>
              <a:latin typeface="Arial"/>
            </a:endParaRPr>
          </a:p>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Mỗi bước trong chuỗi được biểu diễn như một lớp riêng biệt</a:t>
            </a:r>
            <a:r>
              <a:rPr lang="en-US" sz="2000" kern="0">
                <a:solidFill>
                  <a:srgbClr val="000000"/>
                </a:solidFill>
                <a:latin typeface="Arial"/>
              </a:rPr>
              <a:t> →</a:t>
            </a:r>
            <a:r>
              <a:rPr lang="vi-VN" sz="2000" kern="0">
                <a:solidFill>
                  <a:srgbClr val="000000"/>
                </a:solidFill>
                <a:latin typeface="Arial"/>
              </a:rPr>
              <a:t> cho thấy cách thông tin được truyền qua các bước</a:t>
            </a:r>
            <a:endParaRPr lang="en-US" sz="2000" kern="0">
              <a:solidFill>
                <a:srgbClr val="000000"/>
              </a:solidFill>
              <a:latin typeface="Arial"/>
            </a:endParaRPr>
          </a:p>
          <a:p>
            <a:pPr marL="342900" lvl="0" indent="-342900" algn="just" fontAlgn="auto">
              <a:lnSpc>
                <a:spcPct val="150000"/>
              </a:lnSpc>
              <a:spcBef>
                <a:spcPts val="0"/>
              </a:spcBef>
              <a:spcAft>
                <a:spcPts val="0"/>
              </a:spcAft>
              <a:buFont typeface="Wingdings" panose="05000000000000000000" pitchFamily="2" charset="2"/>
              <a:buChar char="§"/>
              <a:defRPr/>
            </a:pPr>
            <a:r>
              <a:rPr kumimoji="0" lang="en-US" sz="2000" b="0" i="0" u="none" strike="noStrike" kern="0" cap="none" spc="0" normalizeH="0" baseline="0" noProof="0">
                <a:ln>
                  <a:noFill/>
                </a:ln>
                <a:solidFill>
                  <a:srgbClr val="000000"/>
                </a:solidFill>
                <a:effectLst/>
                <a:uLnTx/>
                <a:uFillTx/>
                <a:latin typeface="Arial"/>
                <a:ea typeface="+mn-ea"/>
                <a:cs typeface="+mn-cs"/>
              </a:rPr>
              <a:t>Mục</a:t>
            </a:r>
            <a:r>
              <a:rPr kumimoji="0" lang="en-US" sz="2000" b="0" i="0" u="none" strike="noStrike" kern="0" cap="none" spc="0" normalizeH="0" noProof="0">
                <a:ln>
                  <a:noFill/>
                </a:ln>
                <a:solidFill>
                  <a:srgbClr val="000000"/>
                </a:solidFill>
                <a:effectLst/>
                <a:uLnTx/>
                <a:uFillTx/>
                <a:latin typeface="Arial"/>
                <a:ea typeface="+mn-ea"/>
                <a:cs typeface="+mn-cs"/>
              </a:rPr>
              <a:t> đích: l</a:t>
            </a:r>
            <a:r>
              <a:rPr lang="vi-VN" sz="2000" kern="0">
                <a:solidFill>
                  <a:srgbClr val="000000"/>
                </a:solidFill>
                <a:latin typeface="Arial"/>
              </a:rPr>
              <a:t>àm rõ cách RNN xử lý dữ liệu tuần tự qua từng bước thời gian</a:t>
            </a:r>
            <a:r>
              <a:rPr lang="en-US" sz="2000" kern="0">
                <a:solidFill>
                  <a:srgbClr val="000000"/>
                </a:solidFill>
                <a:latin typeface="Arial"/>
              </a:rPr>
              <a:t> → Hỗ trợ quá trình học thông qua </a:t>
            </a:r>
            <a:r>
              <a:rPr lang="en-US" sz="2000" kern="0">
                <a:solidFill>
                  <a:srgbClr val="FF0000"/>
                </a:solidFill>
                <a:latin typeface="Arial"/>
              </a:rPr>
              <a:t>Backpropagation Through Time </a:t>
            </a:r>
            <a:r>
              <a:rPr lang="en-US" sz="2000" kern="0">
                <a:solidFill>
                  <a:srgbClr val="000000"/>
                </a:solidFill>
                <a:latin typeface="Arial"/>
              </a:rPr>
              <a:t>(BPTT) → </a:t>
            </a:r>
            <a:r>
              <a:rPr lang="vi-VN" sz="2000" kern="0">
                <a:solidFill>
                  <a:srgbClr val="000000"/>
                </a:solidFill>
                <a:latin typeface="Arial"/>
              </a:rPr>
              <a:t>Lỗi được lan truyền ngược qua các bước thời gian để cập nhật trọng số của mạng</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4812972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par>
                                <p:cTn id="8" presetID="14"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randombar(horizontal)">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randombar(horizontal)">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C7E533D-03AE-4118-B75D-04FA1AC47076}"/>
              </a:ext>
            </a:extLst>
          </p:cNvPr>
          <p:cNvPicPr>
            <a:picLocks noChangeAspect="1"/>
          </p:cNvPicPr>
          <p:nvPr/>
        </p:nvPicPr>
        <p:blipFill>
          <a:blip r:embed="rId3"/>
          <a:stretch>
            <a:fillRect/>
          </a:stretch>
        </p:blipFill>
        <p:spPr>
          <a:xfrm>
            <a:off x="7593586" y="3209925"/>
            <a:ext cx="4598414" cy="3648075"/>
          </a:xfrm>
          <a:prstGeom prst="rect">
            <a:avLst/>
          </a:prstGeom>
        </p:spPr>
      </p:pic>
      <p:pic>
        <p:nvPicPr>
          <p:cNvPr id="4" name="Picture 3">
            <a:extLst>
              <a:ext uri="{FF2B5EF4-FFF2-40B4-BE49-F238E27FC236}">
                <a16:creationId xmlns:a16="http://schemas.microsoft.com/office/drawing/2014/main" id="{3276C2A2-FC1A-44A8-95C3-187AB43022E9}"/>
              </a:ext>
            </a:extLst>
          </p:cNvPr>
          <p:cNvPicPr>
            <a:picLocks noChangeAspect="1"/>
          </p:cNvPicPr>
          <p:nvPr/>
        </p:nvPicPr>
        <p:blipFill>
          <a:blip r:embed="rId4"/>
          <a:stretch>
            <a:fillRect/>
          </a:stretch>
        </p:blipFill>
        <p:spPr>
          <a:xfrm>
            <a:off x="-1" y="1523182"/>
            <a:ext cx="3581401" cy="2841245"/>
          </a:xfrm>
          <a:prstGeom prst="rect">
            <a:avLst/>
          </a:prstGeom>
        </p:spPr>
      </p:pic>
      <p:sp>
        <p:nvSpPr>
          <p:cNvPr id="7170" name="Rectangle 2"/>
          <p:cNvSpPr>
            <a:spLocks noGrp="1" noChangeArrowheads="1"/>
          </p:cNvSpPr>
          <p:nvPr>
            <p:ph type="title"/>
          </p:nvPr>
        </p:nvSpPr>
        <p:spPr/>
        <p:txBody>
          <a:bodyPr/>
          <a:lstStyle/>
          <a:p>
            <a:r>
              <a:rPr lang="vi-VN" sz="3200"/>
              <a:t>Các </a:t>
            </a:r>
            <a:r>
              <a:rPr lang="en-US" sz="3200"/>
              <a:t>loại</a:t>
            </a:r>
            <a:r>
              <a:rPr lang="vi-VN" sz="3200"/>
              <a:t> RNN</a:t>
            </a:r>
            <a:endParaRPr lang="en-US" sz="3200" dirty="0"/>
          </a:p>
        </p:txBody>
      </p:sp>
      <p:sp>
        <p:nvSpPr>
          <p:cNvPr id="2" name="Slide Number Placeholder 1">
            <a:extLst>
              <a:ext uri="{FF2B5EF4-FFF2-40B4-BE49-F238E27FC236}">
                <a16:creationId xmlns:a16="http://schemas.microsoft.com/office/drawing/2014/main" id="{94D98416-5966-4429-8FC9-45E4C827526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Rectangle 25">
            <a:extLst>
              <a:ext uri="{FF2B5EF4-FFF2-40B4-BE49-F238E27FC236}">
                <a16:creationId xmlns:a16="http://schemas.microsoft.com/office/drawing/2014/main" id="{16734BCC-1C3B-4D4D-A98A-36CAFA690B60}"/>
              </a:ext>
            </a:extLst>
          </p:cNvPr>
          <p:cNvSpPr>
            <a:spLocks noChangeArrowheads="1"/>
          </p:cNvSpPr>
          <p:nvPr/>
        </p:nvSpPr>
        <p:spPr bwMode="black">
          <a:xfrm>
            <a:off x="0" y="1094201"/>
            <a:ext cx="12191999" cy="496996"/>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vi-VN" sz="2000" kern="0">
                <a:solidFill>
                  <a:srgbClr val="0070C0"/>
                </a:solidFill>
                <a:latin typeface="Arial"/>
              </a:rPr>
              <a:t>One-to-One</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sp>
        <p:nvSpPr>
          <p:cNvPr id="6" name="Rectangle 25">
            <a:extLst>
              <a:ext uri="{FF2B5EF4-FFF2-40B4-BE49-F238E27FC236}">
                <a16:creationId xmlns:a16="http://schemas.microsoft.com/office/drawing/2014/main" id="{862DC813-63D8-4FB4-A713-F6DB88838B96}"/>
              </a:ext>
            </a:extLst>
          </p:cNvPr>
          <p:cNvSpPr>
            <a:spLocks noChangeArrowheads="1"/>
          </p:cNvSpPr>
          <p:nvPr/>
        </p:nvSpPr>
        <p:spPr bwMode="black">
          <a:xfrm>
            <a:off x="2743200" y="1409067"/>
            <a:ext cx="9448800" cy="188199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K</a:t>
            </a:r>
            <a:r>
              <a:rPr lang="vi-VN" sz="2000" kern="0">
                <a:solidFill>
                  <a:srgbClr val="000000"/>
                </a:solidFill>
                <a:latin typeface="Arial"/>
              </a:rPr>
              <a:t>iến ​​trúc mạng nơ-ron đơn giản</a:t>
            </a:r>
            <a:endParaRPr kumimoji="0" lang="en-US" sz="2000" b="0" i="0" u="none" strike="noStrike" kern="0" cap="none" spc="0" normalizeH="0" baseline="0" noProof="0">
              <a:ln>
                <a:noFill/>
              </a:ln>
              <a:solidFill>
                <a:srgbClr val="000000"/>
              </a:solidFill>
              <a:effectLst/>
              <a:uLnTx/>
              <a:uFillTx/>
              <a:latin typeface="Arial"/>
              <a:ea typeface="+mn-ea"/>
              <a:cs typeface="+mn-cs"/>
            </a:endParaRPr>
          </a:p>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Có một đầu vào và một đầu ra duy nhất</a:t>
            </a:r>
          </a:p>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S</a:t>
            </a:r>
            <a:r>
              <a:rPr lang="vi-VN" sz="2000" kern="0">
                <a:solidFill>
                  <a:srgbClr val="000000"/>
                </a:solidFill>
                <a:latin typeface="Arial"/>
              </a:rPr>
              <a:t>ử dụng cho các tác vụ phân loại đơn giản trong đó các điểm dữ liệu đầu vào không phụ thuộc vào các phần tử trước đó</a:t>
            </a:r>
            <a:endParaRPr kumimoji="0" lang="vi-VN" sz="2000" b="0" i="0" u="none" strike="noStrike" kern="0" cap="none" spc="0" normalizeH="0" baseline="0" noProof="0">
              <a:ln>
                <a:noFill/>
              </a:ln>
              <a:solidFill>
                <a:srgbClr val="000000"/>
              </a:solidFill>
              <a:effectLst/>
              <a:uLnTx/>
              <a:uFillTx/>
              <a:latin typeface="Arial"/>
              <a:ea typeface="+mn-ea"/>
              <a:cs typeface="+mn-cs"/>
            </a:endParaRPr>
          </a:p>
        </p:txBody>
      </p:sp>
      <p:sp>
        <p:nvSpPr>
          <p:cNvPr id="12" name="Rectangle 25">
            <a:extLst>
              <a:ext uri="{FF2B5EF4-FFF2-40B4-BE49-F238E27FC236}">
                <a16:creationId xmlns:a16="http://schemas.microsoft.com/office/drawing/2014/main" id="{B640A366-C550-474D-AC0E-C2F7FE652758}"/>
              </a:ext>
            </a:extLst>
          </p:cNvPr>
          <p:cNvSpPr>
            <a:spLocks noChangeArrowheads="1"/>
          </p:cNvSpPr>
          <p:nvPr/>
        </p:nvSpPr>
        <p:spPr bwMode="black">
          <a:xfrm>
            <a:off x="1" y="4558537"/>
            <a:ext cx="8153402" cy="95866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Xử lý một đầu vào duy nhất để tạo ra nhiều đầu ra theo thời gian → lợi khi một phần tử đầu vào duy nhất tạo ra một chuỗi dự đoán</a:t>
            </a:r>
            <a:endParaRPr kumimoji="0" lang="vi-VN" sz="2000" b="0" i="0" u="none" strike="noStrike" kern="0" cap="none" spc="0" normalizeH="0" baseline="0" noProof="0">
              <a:ln>
                <a:noFill/>
              </a:ln>
              <a:solidFill>
                <a:srgbClr val="000000"/>
              </a:solidFill>
              <a:effectLst/>
              <a:uLnTx/>
              <a:uFillTx/>
              <a:latin typeface="Arial"/>
              <a:ea typeface="+mn-ea"/>
              <a:cs typeface="+mn-cs"/>
            </a:endParaRPr>
          </a:p>
        </p:txBody>
      </p:sp>
      <p:sp>
        <p:nvSpPr>
          <p:cNvPr id="13" name="Rectangle 25">
            <a:extLst>
              <a:ext uri="{FF2B5EF4-FFF2-40B4-BE49-F238E27FC236}">
                <a16:creationId xmlns:a16="http://schemas.microsoft.com/office/drawing/2014/main" id="{C3A3648D-09F8-46F1-A5D0-4A60F4E473D1}"/>
              </a:ext>
            </a:extLst>
          </p:cNvPr>
          <p:cNvSpPr>
            <a:spLocks noChangeArrowheads="1"/>
          </p:cNvSpPr>
          <p:nvPr/>
        </p:nvSpPr>
        <p:spPr bwMode="black">
          <a:xfrm>
            <a:off x="0" y="4061541"/>
            <a:ext cx="8153403" cy="496996"/>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vi-VN" sz="2000" kern="0">
                <a:solidFill>
                  <a:srgbClr val="0070C0"/>
                </a:solidFill>
                <a:latin typeface="Arial"/>
              </a:rPr>
              <a:t>One-to-</a:t>
            </a:r>
            <a:r>
              <a:rPr lang="en-US" sz="2000" kern="0">
                <a:solidFill>
                  <a:srgbClr val="0070C0"/>
                </a:solidFill>
                <a:latin typeface="Arial"/>
              </a:rPr>
              <a:t>Many</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3064272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par>
                                <p:cTn id="8" presetID="14"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randombar(horizontal)">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randombar(horizontal)">
                                      <p:cBhvr>
                                        <p:cTn id="20" dur="500"/>
                                        <p:tgtEl>
                                          <p:spTgt spid="13"/>
                                        </p:tgtEl>
                                      </p:cBhvr>
                                    </p:animEffect>
                                  </p:childTnLst>
                                </p:cTn>
                              </p:par>
                              <p:par>
                                <p:cTn id="21" presetID="14" presetClass="entr" presetSubtype="1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randombar(horizontal)">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randombar(horizontal)">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 grpId="0"/>
      <p:bldP spid="12"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FFEAF4-F1E2-4B83-9A5D-74C84990C67A}"/>
              </a:ext>
            </a:extLst>
          </p:cNvPr>
          <p:cNvPicPr>
            <a:picLocks noChangeAspect="1"/>
          </p:cNvPicPr>
          <p:nvPr/>
        </p:nvPicPr>
        <p:blipFill>
          <a:blip r:embed="rId3"/>
          <a:stretch>
            <a:fillRect/>
          </a:stretch>
        </p:blipFill>
        <p:spPr>
          <a:xfrm>
            <a:off x="8001000" y="2946789"/>
            <a:ext cx="4190999" cy="3324859"/>
          </a:xfrm>
          <a:prstGeom prst="rect">
            <a:avLst/>
          </a:prstGeom>
        </p:spPr>
      </p:pic>
      <p:pic>
        <p:nvPicPr>
          <p:cNvPr id="5" name="Picture 4">
            <a:extLst>
              <a:ext uri="{FF2B5EF4-FFF2-40B4-BE49-F238E27FC236}">
                <a16:creationId xmlns:a16="http://schemas.microsoft.com/office/drawing/2014/main" id="{649A1CB1-B485-4117-BF30-0DD5A0FF86EB}"/>
              </a:ext>
            </a:extLst>
          </p:cNvPr>
          <p:cNvPicPr>
            <a:picLocks noChangeAspect="1"/>
          </p:cNvPicPr>
          <p:nvPr/>
        </p:nvPicPr>
        <p:blipFill>
          <a:blip r:embed="rId4"/>
          <a:stretch>
            <a:fillRect/>
          </a:stretch>
        </p:blipFill>
        <p:spPr>
          <a:xfrm>
            <a:off x="0" y="1479817"/>
            <a:ext cx="3554989" cy="2820291"/>
          </a:xfrm>
          <a:prstGeom prst="rect">
            <a:avLst/>
          </a:prstGeom>
        </p:spPr>
      </p:pic>
      <p:sp>
        <p:nvSpPr>
          <p:cNvPr id="7170" name="Rectangle 2"/>
          <p:cNvSpPr>
            <a:spLocks noGrp="1" noChangeArrowheads="1"/>
          </p:cNvSpPr>
          <p:nvPr>
            <p:ph type="title"/>
          </p:nvPr>
        </p:nvSpPr>
        <p:spPr/>
        <p:txBody>
          <a:bodyPr/>
          <a:lstStyle/>
          <a:p>
            <a:r>
              <a:rPr lang="vi-VN" sz="3200"/>
              <a:t>Các </a:t>
            </a:r>
            <a:r>
              <a:rPr lang="en-US" sz="3200"/>
              <a:t>loại</a:t>
            </a:r>
            <a:r>
              <a:rPr lang="vi-VN" sz="3200"/>
              <a:t> RNN</a:t>
            </a:r>
            <a:endParaRPr lang="en-US" sz="3200" dirty="0"/>
          </a:p>
        </p:txBody>
      </p:sp>
      <p:sp>
        <p:nvSpPr>
          <p:cNvPr id="2" name="Slide Number Placeholder 1">
            <a:extLst>
              <a:ext uri="{FF2B5EF4-FFF2-40B4-BE49-F238E27FC236}">
                <a16:creationId xmlns:a16="http://schemas.microsoft.com/office/drawing/2014/main" id="{94D98416-5966-4429-8FC9-45E4C827526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Rectangle 25">
            <a:extLst>
              <a:ext uri="{FF2B5EF4-FFF2-40B4-BE49-F238E27FC236}">
                <a16:creationId xmlns:a16="http://schemas.microsoft.com/office/drawing/2014/main" id="{16734BCC-1C3B-4D4D-A98A-36CAFA690B60}"/>
              </a:ext>
            </a:extLst>
          </p:cNvPr>
          <p:cNvSpPr>
            <a:spLocks noChangeArrowheads="1"/>
          </p:cNvSpPr>
          <p:nvPr/>
        </p:nvSpPr>
        <p:spPr bwMode="black">
          <a:xfrm>
            <a:off x="0" y="1094201"/>
            <a:ext cx="12191999" cy="496996"/>
          </a:xfrm>
          <a:prstGeom prst="rect">
            <a:avLst/>
          </a:prstGeom>
          <a:noFill/>
          <a:ln w="9525" algn="ctr">
            <a:noFill/>
            <a:miter lim="800000"/>
            <a:headEnd/>
            <a:tailEnd/>
          </a:ln>
          <a:effectLst/>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en-US" sz="2000" b="0" i="0" u="none" strike="noStrike" kern="0" cap="none" spc="0" normalizeH="0" baseline="0" noProof="0">
                <a:ln>
                  <a:noFill/>
                </a:ln>
                <a:solidFill>
                  <a:srgbClr val="0070C0"/>
                </a:solidFill>
                <a:effectLst/>
                <a:uLnTx/>
                <a:uFillTx/>
                <a:latin typeface="Arial"/>
                <a:ea typeface="+mn-ea"/>
                <a:cs typeface="+mn-cs"/>
              </a:rPr>
              <a:t>Many</a:t>
            </a:r>
            <a:r>
              <a:rPr kumimoji="0" lang="vi-VN" sz="2000" b="0" i="0" u="none" strike="noStrike" kern="0" cap="none" spc="0" normalizeH="0" baseline="0" noProof="0">
                <a:ln>
                  <a:noFill/>
                </a:ln>
                <a:solidFill>
                  <a:srgbClr val="0070C0"/>
                </a:solidFill>
                <a:effectLst/>
                <a:uLnTx/>
                <a:uFillTx/>
                <a:latin typeface="Arial"/>
                <a:ea typeface="+mn-ea"/>
                <a:cs typeface="+mn-cs"/>
              </a:rPr>
              <a:t>-to-One</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sp>
        <p:nvSpPr>
          <p:cNvPr id="6" name="Rectangle 25">
            <a:extLst>
              <a:ext uri="{FF2B5EF4-FFF2-40B4-BE49-F238E27FC236}">
                <a16:creationId xmlns:a16="http://schemas.microsoft.com/office/drawing/2014/main" id="{862DC813-63D8-4FB4-A713-F6DB88838B96}"/>
              </a:ext>
            </a:extLst>
          </p:cNvPr>
          <p:cNvSpPr>
            <a:spLocks noChangeArrowheads="1"/>
          </p:cNvSpPr>
          <p:nvPr/>
        </p:nvSpPr>
        <p:spPr bwMode="black">
          <a:xfrm>
            <a:off x="3352800" y="1409067"/>
            <a:ext cx="8839200" cy="188199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Nhận một chuỗi đầu vào và tạo ra một đầu ra duy nhất</a:t>
            </a:r>
          </a:p>
          <a:p>
            <a:pPr lvl="0" algn="just" fontAlgn="auto">
              <a:lnSpc>
                <a:spcPct val="150000"/>
              </a:lnSpc>
              <a:spcBef>
                <a:spcPts val="0"/>
              </a:spcBef>
              <a:spcAft>
                <a:spcPts val="0"/>
              </a:spcAft>
              <a:defRPr/>
            </a:pPr>
            <a:r>
              <a:rPr kumimoji="0" lang="en-US" sz="2000" b="0" i="0" u="none" strike="noStrike" kern="0" cap="none" spc="0" normalizeH="0" baseline="0" noProof="0">
                <a:ln>
                  <a:noFill/>
                </a:ln>
                <a:solidFill>
                  <a:srgbClr val="000000"/>
                </a:solidFill>
                <a:effectLst/>
                <a:uLnTx/>
                <a:uFillTx/>
                <a:latin typeface="Arial"/>
                <a:ea typeface="+mn-ea"/>
                <a:cs typeface="+mn-cs"/>
              </a:rPr>
              <a:t>Ví</a:t>
            </a:r>
            <a:r>
              <a:rPr kumimoji="0" lang="en-US" sz="2000" b="0" i="0" u="none" strike="noStrike" kern="0" cap="none" spc="0" normalizeH="0" noProof="0">
                <a:ln>
                  <a:noFill/>
                </a:ln>
                <a:solidFill>
                  <a:srgbClr val="000000"/>
                </a:solidFill>
                <a:effectLst/>
                <a:uLnTx/>
                <a:uFillTx/>
                <a:latin typeface="Arial"/>
                <a:ea typeface="+mn-ea"/>
                <a:cs typeface="+mn-cs"/>
              </a:rPr>
              <a:t> dụ: </a:t>
            </a:r>
            <a:r>
              <a:rPr lang="vi-VN" sz="2000" kern="0">
                <a:solidFill>
                  <a:srgbClr val="000000"/>
                </a:solidFill>
                <a:latin typeface="Arial"/>
              </a:rPr>
              <a:t>Trong phân tích tình cảm, mô hình nhận một chuỗi các từ (giống như một câu) và tạo ra một đầu ra duy nhất, đó là tình cảm của câu đó (tích cực, tiêu cực hoặc trung tính)</a:t>
            </a:r>
            <a:endParaRPr kumimoji="0" lang="vi-VN" sz="2000" b="0" i="0" u="none" strike="noStrike" kern="0" cap="none" spc="0" normalizeH="0" baseline="0" noProof="0">
              <a:ln>
                <a:noFill/>
              </a:ln>
              <a:solidFill>
                <a:srgbClr val="000000"/>
              </a:solidFill>
              <a:effectLst/>
              <a:uLnTx/>
              <a:uFillTx/>
              <a:latin typeface="Arial"/>
              <a:ea typeface="+mn-ea"/>
              <a:cs typeface="+mn-cs"/>
            </a:endParaRPr>
          </a:p>
        </p:txBody>
      </p:sp>
      <p:sp>
        <p:nvSpPr>
          <p:cNvPr id="12" name="Rectangle 25">
            <a:extLst>
              <a:ext uri="{FF2B5EF4-FFF2-40B4-BE49-F238E27FC236}">
                <a16:creationId xmlns:a16="http://schemas.microsoft.com/office/drawing/2014/main" id="{B640A366-C550-474D-AC0E-C2F7FE652758}"/>
              </a:ext>
            </a:extLst>
          </p:cNvPr>
          <p:cNvSpPr>
            <a:spLocks noChangeArrowheads="1"/>
          </p:cNvSpPr>
          <p:nvPr/>
        </p:nvSpPr>
        <p:spPr bwMode="black">
          <a:xfrm>
            <a:off x="1" y="4558537"/>
            <a:ext cx="8153402" cy="188199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Xử lý một chuỗi đầu vào và tạo ra một chuỗi đầu ra</a:t>
            </a:r>
          </a:p>
          <a:p>
            <a:pPr lvl="0" algn="just" fontAlgn="auto">
              <a:lnSpc>
                <a:spcPct val="150000"/>
              </a:lnSpc>
              <a:spcBef>
                <a:spcPts val="0"/>
              </a:spcBef>
              <a:spcAft>
                <a:spcPts val="0"/>
              </a:spcAft>
              <a:defRPr/>
            </a:pPr>
            <a:r>
              <a:rPr kumimoji="0" lang="en-US" sz="2000" b="0" i="0" u="none" strike="noStrike" kern="0" cap="none" spc="0" normalizeH="0" baseline="0" noProof="0">
                <a:ln>
                  <a:noFill/>
                </a:ln>
                <a:solidFill>
                  <a:srgbClr val="000000"/>
                </a:solidFill>
                <a:effectLst/>
                <a:uLnTx/>
                <a:uFillTx/>
                <a:latin typeface="Arial"/>
                <a:ea typeface="+mn-ea"/>
                <a:cs typeface="+mn-cs"/>
              </a:rPr>
              <a:t>Ví</a:t>
            </a:r>
            <a:r>
              <a:rPr kumimoji="0" lang="en-US" sz="2000" b="0" i="0" u="none" strike="noStrike" kern="0" cap="none" spc="0" normalizeH="0" noProof="0">
                <a:ln>
                  <a:noFill/>
                </a:ln>
                <a:solidFill>
                  <a:srgbClr val="000000"/>
                </a:solidFill>
                <a:effectLst/>
                <a:uLnTx/>
                <a:uFillTx/>
                <a:latin typeface="Arial"/>
                <a:ea typeface="+mn-ea"/>
                <a:cs typeface="+mn-cs"/>
              </a:rPr>
              <a:t> dụ: </a:t>
            </a:r>
            <a:r>
              <a:rPr lang="vi-VN" sz="2000" kern="0">
                <a:solidFill>
                  <a:srgbClr val="000000"/>
                </a:solidFill>
                <a:latin typeface="Arial"/>
              </a:rPr>
              <a:t>Trong nhiệm vụ dịch ngôn ngữ, một chuỗi các từ trong một ngôn ngữ được đưa vào làm đầu vào và một chuỗi tương ứng trong ngôn ngữ khác được tạo ra làm đầu ra</a:t>
            </a:r>
            <a:endParaRPr kumimoji="0" lang="vi-VN" sz="2000" b="0" i="0" u="none" strike="noStrike" kern="0" cap="none" spc="0" normalizeH="0" baseline="0" noProof="0">
              <a:ln>
                <a:noFill/>
              </a:ln>
              <a:solidFill>
                <a:srgbClr val="000000"/>
              </a:solidFill>
              <a:effectLst/>
              <a:uLnTx/>
              <a:uFillTx/>
              <a:latin typeface="Arial"/>
              <a:ea typeface="+mn-ea"/>
              <a:cs typeface="+mn-cs"/>
            </a:endParaRPr>
          </a:p>
        </p:txBody>
      </p:sp>
      <p:sp>
        <p:nvSpPr>
          <p:cNvPr id="13" name="Rectangle 25">
            <a:extLst>
              <a:ext uri="{FF2B5EF4-FFF2-40B4-BE49-F238E27FC236}">
                <a16:creationId xmlns:a16="http://schemas.microsoft.com/office/drawing/2014/main" id="{C3A3648D-09F8-46F1-A5D0-4A60F4E473D1}"/>
              </a:ext>
            </a:extLst>
          </p:cNvPr>
          <p:cNvSpPr>
            <a:spLocks noChangeArrowheads="1"/>
          </p:cNvSpPr>
          <p:nvPr/>
        </p:nvSpPr>
        <p:spPr bwMode="black">
          <a:xfrm>
            <a:off x="0" y="4061541"/>
            <a:ext cx="8153403" cy="496996"/>
          </a:xfrm>
          <a:prstGeom prst="rect">
            <a:avLst/>
          </a:prstGeom>
          <a:noFill/>
          <a:ln w="9525" algn="ctr">
            <a:noFill/>
            <a:miter lim="800000"/>
            <a:headEnd/>
            <a:tailEnd/>
          </a:ln>
          <a:effectLst/>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en-US" sz="2000" b="0" i="0" u="none" strike="noStrike" kern="0" cap="none" spc="0" normalizeH="0" baseline="0" noProof="0">
                <a:ln>
                  <a:noFill/>
                </a:ln>
                <a:solidFill>
                  <a:srgbClr val="0070C0"/>
                </a:solidFill>
                <a:effectLst/>
                <a:uLnTx/>
                <a:uFillTx/>
                <a:latin typeface="Arial"/>
                <a:ea typeface="+mn-ea"/>
                <a:cs typeface="+mn-cs"/>
              </a:rPr>
              <a:t>Many</a:t>
            </a:r>
            <a:r>
              <a:rPr kumimoji="0" lang="vi-VN" sz="2000" b="0" i="0" u="none" strike="noStrike" kern="0" cap="none" spc="0" normalizeH="0" baseline="0" noProof="0">
                <a:ln>
                  <a:noFill/>
                </a:ln>
                <a:solidFill>
                  <a:srgbClr val="0070C0"/>
                </a:solidFill>
                <a:effectLst/>
                <a:uLnTx/>
                <a:uFillTx/>
                <a:latin typeface="Arial"/>
                <a:ea typeface="+mn-ea"/>
                <a:cs typeface="+mn-cs"/>
              </a:rPr>
              <a:t>-to-</a:t>
            </a:r>
            <a:r>
              <a:rPr kumimoji="0" lang="en-US" sz="2000" b="0" i="0" u="none" strike="noStrike" kern="0" cap="none" spc="0" normalizeH="0" baseline="0" noProof="0">
                <a:ln>
                  <a:noFill/>
                </a:ln>
                <a:solidFill>
                  <a:srgbClr val="0070C0"/>
                </a:solidFill>
                <a:effectLst/>
                <a:uLnTx/>
                <a:uFillTx/>
                <a:latin typeface="Arial"/>
                <a:ea typeface="+mn-ea"/>
                <a:cs typeface="+mn-cs"/>
              </a:rPr>
              <a:t>Many</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9252661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randombar(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randombar(horizontal)">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vi-VN" sz="3200"/>
              <a:t>Các biến thể của RNN</a:t>
            </a:r>
            <a:endParaRPr lang="en-US" sz="3200" dirty="0"/>
          </a:p>
        </p:txBody>
      </p:sp>
      <p:sp>
        <p:nvSpPr>
          <p:cNvPr id="2" name="Slide Number Placeholder 1">
            <a:extLst>
              <a:ext uri="{FF2B5EF4-FFF2-40B4-BE49-F238E27FC236}">
                <a16:creationId xmlns:a16="http://schemas.microsoft.com/office/drawing/2014/main" id="{94D98416-5966-4429-8FC9-45E4C827526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Rectangle 25">
            <a:extLst>
              <a:ext uri="{FF2B5EF4-FFF2-40B4-BE49-F238E27FC236}">
                <a16:creationId xmlns:a16="http://schemas.microsoft.com/office/drawing/2014/main" id="{16734BCC-1C3B-4D4D-A98A-36CAFA690B60}"/>
              </a:ext>
            </a:extLst>
          </p:cNvPr>
          <p:cNvSpPr>
            <a:spLocks noChangeArrowheads="1"/>
          </p:cNvSpPr>
          <p:nvPr/>
        </p:nvSpPr>
        <p:spPr bwMode="black">
          <a:xfrm>
            <a:off x="0" y="1094201"/>
            <a:ext cx="12191999" cy="496996"/>
          </a:xfrm>
          <a:prstGeom prst="rect">
            <a:avLst/>
          </a:prstGeom>
          <a:noFill/>
          <a:ln w="9525" algn="ctr">
            <a:noFill/>
            <a:miter lim="800000"/>
            <a:headEnd/>
            <a:tailEnd/>
          </a:ln>
          <a:effectLst/>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en-US" sz="2000" b="0" i="0" u="none" strike="noStrike" kern="0" cap="none" spc="0" normalizeH="0" baseline="0" noProof="0">
                <a:ln>
                  <a:noFill/>
                </a:ln>
                <a:solidFill>
                  <a:srgbClr val="0070C0"/>
                </a:solidFill>
                <a:effectLst/>
                <a:uLnTx/>
                <a:uFillTx/>
                <a:latin typeface="Arial"/>
                <a:ea typeface="+mn-ea"/>
                <a:cs typeface="+mn-cs"/>
              </a:rPr>
              <a:t>Vanilla RNN</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sp>
        <p:nvSpPr>
          <p:cNvPr id="12" name="Rectangle 25">
            <a:extLst>
              <a:ext uri="{FF2B5EF4-FFF2-40B4-BE49-F238E27FC236}">
                <a16:creationId xmlns:a16="http://schemas.microsoft.com/office/drawing/2014/main" id="{B640A366-C550-474D-AC0E-C2F7FE652758}"/>
              </a:ext>
            </a:extLst>
          </p:cNvPr>
          <p:cNvSpPr>
            <a:spLocks noChangeArrowheads="1"/>
          </p:cNvSpPr>
          <p:nvPr/>
        </p:nvSpPr>
        <p:spPr bwMode="black">
          <a:xfrm>
            <a:off x="6454588" y="1547010"/>
            <a:ext cx="5702998" cy="95866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M</a:t>
            </a:r>
            <a:r>
              <a:rPr lang="vi-VN" sz="2000" kern="0">
                <a:solidFill>
                  <a:srgbClr val="000000"/>
                </a:solidFill>
                <a:latin typeface="Arial"/>
              </a:rPr>
              <a:t>ột lớp ẩn duy nhất, trong đó các trọng số được chia sẻ qua các bước thời gian</a:t>
            </a:r>
            <a:endParaRPr kumimoji="0" lang="vi-VN" sz="2000" b="0" i="0" u="none" strike="noStrike" kern="0" cap="none" spc="0" normalizeH="0" baseline="0" noProof="0">
              <a:ln>
                <a:noFill/>
              </a:ln>
              <a:solidFill>
                <a:srgbClr val="000000"/>
              </a:solidFill>
              <a:effectLst/>
              <a:uLnTx/>
              <a:uFillTx/>
              <a:latin typeface="Arial"/>
              <a:ea typeface="+mn-ea"/>
              <a:cs typeface="+mn-cs"/>
            </a:endParaRPr>
          </a:p>
        </p:txBody>
      </p:sp>
      <p:pic>
        <p:nvPicPr>
          <p:cNvPr id="4" name="Picture 3">
            <a:extLst>
              <a:ext uri="{FF2B5EF4-FFF2-40B4-BE49-F238E27FC236}">
                <a16:creationId xmlns:a16="http://schemas.microsoft.com/office/drawing/2014/main" id="{F928BB94-B3D3-44E7-8E74-A82B3C40BB22}"/>
              </a:ext>
            </a:extLst>
          </p:cNvPr>
          <p:cNvPicPr>
            <a:picLocks noChangeAspect="1"/>
          </p:cNvPicPr>
          <p:nvPr/>
        </p:nvPicPr>
        <p:blipFill>
          <a:blip r:embed="rId3"/>
          <a:stretch>
            <a:fillRect/>
          </a:stretch>
        </p:blipFill>
        <p:spPr>
          <a:xfrm>
            <a:off x="0" y="1600200"/>
            <a:ext cx="6454588" cy="2057400"/>
          </a:xfrm>
          <a:prstGeom prst="rect">
            <a:avLst/>
          </a:prstGeom>
        </p:spPr>
      </p:pic>
      <p:sp>
        <p:nvSpPr>
          <p:cNvPr id="14" name="Rectangle 25">
            <a:extLst>
              <a:ext uri="{FF2B5EF4-FFF2-40B4-BE49-F238E27FC236}">
                <a16:creationId xmlns:a16="http://schemas.microsoft.com/office/drawing/2014/main" id="{FA8E26D5-1761-452E-A656-9D49018785D4}"/>
              </a:ext>
            </a:extLst>
          </p:cNvPr>
          <p:cNvSpPr>
            <a:spLocks noChangeArrowheads="1"/>
          </p:cNvSpPr>
          <p:nvPr/>
        </p:nvSpPr>
        <p:spPr bwMode="black">
          <a:xfrm>
            <a:off x="6489002" y="2438400"/>
            <a:ext cx="5702998" cy="142032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P</a:t>
            </a:r>
            <a:r>
              <a:rPr lang="vi-VN" sz="2000" kern="0">
                <a:solidFill>
                  <a:srgbClr val="000000"/>
                </a:solidFill>
                <a:latin typeface="Arial"/>
              </a:rPr>
              <a:t>hù hợp để học các phụ thuộc ngắn hạn nhưng bị hạn chế bởi vấn đề</a:t>
            </a:r>
            <a:r>
              <a:rPr lang="en-US" sz="2000" kern="0">
                <a:solidFill>
                  <a:srgbClr val="000000"/>
                </a:solidFill>
                <a:latin typeface="Arial"/>
              </a:rPr>
              <a:t> </a:t>
            </a:r>
            <a:r>
              <a:rPr lang="en-US" sz="2000" kern="0">
                <a:solidFill>
                  <a:srgbClr val="FF0000"/>
                </a:solidFill>
                <a:latin typeface="Arial"/>
              </a:rPr>
              <a:t>Vanishing Gradient </a:t>
            </a:r>
            <a:r>
              <a:rPr lang="en-US" sz="2000" kern="0">
                <a:solidFill>
                  <a:srgbClr val="000000"/>
                </a:solidFill>
                <a:latin typeface="Arial"/>
              </a:rPr>
              <a:t>→ cản trở việc học chuỗi dài</a:t>
            </a:r>
            <a:endParaRPr kumimoji="0" lang="vi-VN" sz="2000" b="0" i="0" u="none" strike="noStrike" kern="0" cap="none" spc="0" normalizeH="0" baseline="0" noProof="0">
              <a:ln>
                <a:noFill/>
              </a:ln>
              <a:solidFill>
                <a:srgbClr val="000000"/>
              </a:solidFill>
              <a:effectLst/>
              <a:uLnTx/>
              <a:uFillTx/>
              <a:latin typeface="Arial"/>
            </a:endParaRPr>
          </a:p>
        </p:txBody>
      </p:sp>
      <p:sp>
        <p:nvSpPr>
          <p:cNvPr id="15" name="Rectangle 25">
            <a:extLst>
              <a:ext uri="{FF2B5EF4-FFF2-40B4-BE49-F238E27FC236}">
                <a16:creationId xmlns:a16="http://schemas.microsoft.com/office/drawing/2014/main" id="{2CFE8CC8-F857-463A-8AED-C82AF451B367}"/>
              </a:ext>
            </a:extLst>
          </p:cNvPr>
          <p:cNvSpPr>
            <a:spLocks noChangeArrowheads="1"/>
          </p:cNvSpPr>
          <p:nvPr/>
        </p:nvSpPr>
        <p:spPr bwMode="black">
          <a:xfrm>
            <a:off x="-1" y="3830101"/>
            <a:ext cx="12191999" cy="1420325"/>
          </a:xfrm>
          <a:prstGeom prst="rect">
            <a:avLst/>
          </a:prstGeom>
          <a:noFill/>
          <a:ln w="9525" algn="ctr">
            <a:noFill/>
            <a:miter lim="800000"/>
            <a:headEnd/>
            <a:tailEnd/>
          </a:ln>
          <a:effectLst/>
        </p:spPr>
        <p:txBody>
          <a:bodyPr wrap="square">
            <a:spAutoFit/>
          </a:bodyPr>
          <a:lstStyle/>
          <a:p>
            <a:pPr lvl="0" algn="just" fontAlgn="auto">
              <a:lnSpc>
                <a:spcPct val="150000"/>
              </a:lnSpc>
              <a:spcBef>
                <a:spcPts val="0"/>
              </a:spcBef>
              <a:spcAft>
                <a:spcPts val="0"/>
              </a:spcAft>
              <a:defRPr/>
            </a:pPr>
            <a:r>
              <a:rPr lang="en-US" sz="2000" kern="0">
                <a:solidFill>
                  <a:srgbClr val="000000"/>
                </a:solidFill>
                <a:latin typeface="Arial"/>
              </a:rPr>
              <a:t>H</a:t>
            </a:r>
            <a:r>
              <a:rPr lang="vi-VN" sz="2000" kern="0">
                <a:solidFill>
                  <a:srgbClr val="000000"/>
                </a:solidFill>
                <a:latin typeface="Arial"/>
              </a:rPr>
              <a:t>iện tượng tiêu biến gradient</a:t>
            </a:r>
            <a:r>
              <a:rPr lang="en-US" sz="2000" kern="0">
                <a:solidFill>
                  <a:srgbClr val="000000"/>
                </a:solidFill>
                <a:latin typeface="Arial"/>
              </a:rPr>
              <a:t> (Vanishing Gradient): x</a:t>
            </a:r>
            <a:r>
              <a:rPr lang="vi-VN" sz="2000" kern="0">
                <a:solidFill>
                  <a:srgbClr val="000000"/>
                </a:solidFill>
                <a:latin typeface="Arial"/>
              </a:rPr>
              <a:t>ảy ra khi các giá trị gradient trở nên rất nhỏ trong quá trình lan truyền ngược (backpropagation)</a:t>
            </a:r>
            <a:r>
              <a:rPr lang="en-US" sz="2000" kern="0">
                <a:solidFill>
                  <a:srgbClr val="000000"/>
                </a:solidFill>
                <a:latin typeface="Arial"/>
              </a:rPr>
              <a:t> →</a:t>
            </a:r>
            <a:r>
              <a:rPr lang="vi-VN" sz="2000" kern="0">
                <a:solidFill>
                  <a:srgbClr val="000000"/>
                </a:solidFill>
                <a:latin typeface="Arial"/>
              </a:rPr>
              <a:t> khiến việc cập nhật trọng số ở các lớp đầu tiên của mạng hầu như không đáng kể</a:t>
            </a:r>
            <a:endParaRPr kumimoji="0" lang="vi-VN" sz="2000" b="0" i="0" u="none" strike="noStrike" kern="0" cap="none" spc="0" normalizeH="0" baseline="0" noProof="0">
              <a:ln>
                <a:noFill/>
              </a:ln>
              <a:solidFill>
                <a:srgbClr val="000000"/>
              </a:solidFill>
              <a:effectLst/>
              <a:uLnTx/>
              <a:uFillTx/>
              <a:latin typeface="Arial"/>
            </a:endParaRPr>
          </a:p>
        </p:txBody>
      </p:sp>
    </p:spTree>
    <p:extLst>
      <p:ext uri="{BB962C8B-B14F-4D97-AF65-F5344CB8AC3E}">
        <p14:creationId xmlns:p14="http://schemas.microsoft.com/office/powerpoint/2010/main" val="4503199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par>
                                <p:cTn id="8" presetID="14"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randombar(horizontal)">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randombar(horizontal)">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randombar(horizontal)">
                                      <p:cBhvr>
                                        <p:cTn id="2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9A421E-D8EF-4A04-B869-50A73E52DB08}"/>
              </a:ext>
            </a:extLst>
          </p:cNvPr>
          <p:cNvPicPr>
            <a:picLocks noChangeAspect="1"/>
          </p:cNvPicPr>
          <p:nvPr/>
        </p:nvPicPr>
        <p:blipFill>
          <a:blip r:embed="rId3"/>
          <a:stretch>
            <a:fillRect/>
          </a:stretch>
        </p:blipFill>
        <p:spPr>
          <a:xfrm>
            <a:off x="37761" y="1547010"/>
            <a:ext cx="6416827" cy="3015908"/>
          </a:xfrm>
          <a:prstGeom prst="rect">
            <a:avLst/>
          </a:prstGeom>
        </p:spPr>
      </p:pic>
      <p:sp>
        <p:nvSpPr>
          <p:cNvPr id="7170" name="Rectangle 2"/>
          <p:cNvSpPr>
            <a:spLocks noGrp="1" noChangeArrowheads="1"/>
          </p:cNvSpPr>
          <p:nvPr>
            <p:ph type="title"/>
          </p:nvPr>
        </p:nvSpPr>
        <p:spPr/>
        <p:txBody>
          <a:bodyPr/>
          <a:lstStyle/>
          <a:p>
            <a:r>
              <a:rPr lang="vi-VN" sz="3200"/>
              <a:t>Các biến thể của RNN</a:t>
            </a:r>
            <a:endParaRPr lang="en-US" sz="3200" dirty="0"/>
          </a:p>
        </p:txBody>
      </p:sp>
      <p:sp>
        <p:nvSpPr>
          <p:cNvPr id="2" name="Slide Number Placeholder 1">
            <a:extLst>
              <a:ext uri="{FF2B5EF4-FFF2-40B4-BE49-F238E27FC236}">
                <a16:creationId xmlns:a16="http://schemas.microsoft.com/office/drawing/2014/main" id="{94D98416-5966-4429-8FC9-45E4C827526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Rectangle 25">
            <a:extLst>
              <a:ext uri="{FF2B5EF4-FFF2-40B4-BE49-F238E27FC236}">
                <a16:creationId xmlns:a16="http://schemas.microsoft.com/office/drawing/2014/main" id="{16734BCC-1C3B-4D4D-A98A-36CAFA690B60}"/>
              </a:ext>
            </a:extLst>
          </p:cNvPr>
          <p:cNvSpPr>
            <a:spLocks noChangeArrowheads="1"/>
          </p:cNvSpPr>
          <p:nvPr/>
        </p:nvSpPr>
        <p:spPr bwMode="black">
          <a:xfrm>
            <a:off x="0" y="1094201"/>
            <a:ext cx="12191999" cy="496996"/>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en-US" sz="2000" kern="0">
                <a:solidFill>
                  <a:srgbClr val="0070C0"/>
                </a:solidFill>
                <a:latin typeface="Arial"/>
              </a:rPr>
              <a:t>Bidirectional RNN</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sp>
        <p:nvSpPr>
          <p:cNvPr id="12" name="Rectangle 25">
            <a:extLst>
              <a:ext uri="{FF2B5EF4-FFF2-40B4-BE49-F238E27FC236}">
                <a16:creationId xmlns:a16="http://schemas.microsoft.com/office/drawing/2014/main" id="{B640A366-C550-474D-AC0E-C2F7FE652758}"/>
              </a:ext>
            </a:extLst>
          </p:cNvPr>
          <p:cNvSpPr>
            <a:spLocks noChangeArrowheads="1"/>
          </p:cNvSpPr>
          <p:nvPr/>
        </p:nvSpPr>
        <p:spPr bwMode="black">
          <a:xfrm>
            <a:off x="6454588" y="1547010"/>
            <a:ext cx="5702998" cy="142032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X</a:t>
            </a:r>
            <a:r>
              <a:rPr lang="vi-VN" sz="2000" kern="0">
                <a:solidFill>
                  <a:srgbClr val="000000"/>
                </a:solidFill>
                <a:latin typeface="Arial"/>
              </a:rPr>
              <a:t>ử lý đầu vào theo cả hướng tiến và hướng lùi</a:t>
            </a:r>
            <a:r>
              <a:rPr lang="en-US" sz="2000" kern="0">
                <a:solidFill>
                  <a:srgbClr val="000000"/>
                </a:solidFill>
                <a:latin typeface="Arial"/>
              </a:rPr>
              <a:t> → </a:t>
            </a:r>
            <a:r>
              <a:rPr lang="vi-VN" sz="2000" kern="0">
                <a:solidFill>
                  <a:srgbClr val="000000"/>
                </a:solidFill>
                <a:latin typeface="Arial"/>
              </a:rPr>
              <a:t>nắm bắt cả bối cảnh quá khứ và tương lai cho từng bước thời gian</a:t>
            </a:r>
            <a:endParaRPr kumimoji="0" lang="vi-VN" sz="2000" b="0" i="0" u="none" strike="noStrike" kern="0" cap="none" spc="0" normalizeH="0" baseline="0" noProof="0">
              <a:ln>
                <a:noFill/>
              </a:ln>
              <a:solidFill>
                <a:srgbClr val="000000"/>
              </a:solidFill>
              <a:effectLst/>
              <a:uLnTx/>
              <a:uFillTx/>
              <a:latin typeface="Arial"/>
              <a:ea typeface="+mn-ea"/>
              <a:cs typeface="+mn-cs"/>
            </a:endParaRPr>
          </a:p>
        </p:txBody>
      </p:sp>
      <p:sp>
        <p:nvSpPr>
          <p:cNvPr id="15" name="Rectangle 25">
            <a:extLst>
              <a:ext uri="{FF2B5EF4-FFF2-40B4-BE49-F238E27FC236}">
                <a16:creationId xmlns:a16="http://schemas.microsoft.com/office/drawing/2014/main" id="{2CFE8CC8-F857-463A-8AED-C82AF451B367}"/>
              </a:ext>
            </a:extLst>
          </p:cNvPr>
          <p:cNvSpPr>
            <a:spLocks noChangeArrowheads="1"/>
          </p:cNvSpPr>
          <p:nvPr/>
        </p:nvSpPr>
        <p:spPr bwMode="black">
          <a:xfrm>
            <a:off x="6454588" y="2958479"/>
            <a:ext cx="5737410" cy="142032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L</a:t>
            </a:r>
            <a:r>
              <a:rPr lang="vi-VN" sz="2000" kern="0">
                <a:solidFill>
                  <a:srgbClr val="000000"/>
                </a:solidFill>
                <a:latin typeface="Arial"/>
              </a:rPr>
              <a:t>ý tưởng cho các tác vụ có toàn bộ chuỗi khả dụng, như nhận dạng thực thể được đặt tên và trả lời câu hỏi</a:t>
            </a:r>
            <a:endParaRPr kumimoji="0" lang="vi-VN" sz="2000" b="0" i="0" u="none" strike="noStrike" kern="0" cap="none" spc="0" normalizeH="0" baseline="0" noProof="0">
              <a:ln>
                <a:noFill/>
              </a:ln>
              <a:solidFill>
                <a:srgbClr val="000000"/>
              </a:solidFill>
              <a:effectLst/>
              <a:uLnTx/>
              <a:uFillTx/>
              <a:latin typeface="Arial"/>
              <a:ea typeface="+mn-ea"/>
              <a:cs typeface="+mn-cs"/>
            </a:endParaRPr>
          </a:p>
        </p:txBody>
      </p:sp>
      <p:sp>
        <p:nvSpPr>
          <p:cNvPr id="11" name="Rectangle 25">
            <a:extLst>
              <a:ext uri="{FF2B5EF4-FFF2-40B4-BE49-F238E27FC236}">
                <a16:creationId xmlns:a16="http://schemas.microsoft.com/office/drawing/2014/main" id="{579741A4-8372-4803-9904-77034A3AC400}"/>
              </a:ext>
            </a:extLst>
          </p:cNvPr>
          <p:cNvSpPr>
            <a:spLocks noChangeArrowheads="1"/>
          </p:cNvSpPr>
          <p:nvPr/>
        </p:nvSpPr>
        <p:spPr bwMode="black">
          <a:xfrm>
            <a:off x="4916" y="4425372"/>
            <a:ext cx="12187084" cy="958660"/>
          </a:xfrm>
          <a:prstGeom prst="rect">
            <a:avLst/>
          </a:prstGeom>
          <a:noFill/>
          <a:ln w="9525" algn="ctr">
            <a:noFill/>
            <a:miter lim="800000"/>
            <a:headEnd/>
            <a:tailEnd/>
          </a:ln>
          <a:effectLst/>
        </p:spPr>
        <p:txBody>
          <a:bodyPr wrap="square">
            <a:spAutoFit/>
          </a:bodyPr>
          <a:lstStyle/>
          <a:p>
            <a:pPr lvl="0" algn="just" fontAlgn="auto">
              <a:lnSpc>
                <a:spcPct val="150000"/>
              </a:lnSpc>
              <a:spcBef>
                <a:spcPts val="0"/>
              </a:spcBef>
              <a:spcAft>
                <a:spcPts val="0"/>
              </a:spcAft>
              <a:defRPr/>
            </a:pPr>
            <a:r>
              <a:rPr lang="en-US" sz="2000" kern="0">
                <a:solidFill>
                  <a:srgbClr val="000000"/>
                </a:solidFill>
                <a:latin typeface="Arial"/>
              </a:rPr>
              <a:t>Ví dụ: </a:t>
            </a:r>
            <a:r>
              <a:rPr lang="vi-VN" sz="2000" kern="0">
                <a:solidFill>
                  <a:srgbClr val="000000"/>
                </a:solidFill>
                <a:latin typeface="Arial"/>
              </a:rPr>
              <a:t>một câu đơn giản</a:t>
            </a:r>
            <a:r>
              <a:rPr lang="en-US" sz="2000" kern="0">
                <a:solidFill>
                  <a:srgbClr val="000000"/>
                </a:solidFill>
                <a:latin typeface="Arial"/>
              </a:rPr>
              <a:t> </a:t>
            </a:r>
            <a:r>
              <a:rPr lang="fr-FR" sz="2000" kern="0">
                <a:solidFill>
                  <a:srgbClr val="000000"/>
                </a:solidFill>
                <a:latin typeface="Arial"/>
              </a:rPr>
              <a:t>"Anh ấy là bác sĩ." </a:t>
            </a:r>
          </a:p>
          <a:p>
            <a:pPr lvl="0" algn="just" fontAlgn="auto">
              <a:lnSpc>
                <a:spcPct val="150000"/>
              </a:lnSpc>
              <a:spcBef>
                <a:spcPts val="0"/>
              </a:spcBef>
              <a:spcAft>
                <a:spcPts val="0"/>
              </a:spcAft>
              <a:defRPr/>
            </a:pPr>
            <a:r>
              <a:rPr lang="en-US" sz="2000" kern="0">
                <a:solidFill>
                  <a:srgbClr val="000000"/>
                </a:solidFill>
                <a:latin typeface="Arial"/>
              </a:rPr>
              <a:t> Muốn Bi-RNN hiểu nghĩa của từ </a:t>
            </a:r>
            <a:r>
              <a:rPr lang="en-US" sz="2000" kern="0">
                <a:solidFill>
                  <a:srgbClr val="FF0000"/>
                </a:solidFill>
                <a:latin typeface="Arial"/>
              </a:rPr>
              <a:t>bác sĩ</a:t>
            </a:r>
            <a:r>
              <a:rPr lang="en-US" sz="2000" kern="0">
                <a:solidFill>
                  <a:srgbClr val="000000"/>
                </a:solidFill>
                <a:latin typeface="Arial"/>
              </a:rPr>
              <a:t> trong ngữ cảnh đầy đủ.</a:t>
            </a:r>
            <a:endParaRPr kumimoji="0" lang="vi-VN" sz="2000" b="0" i="0" u="none" strike="noStrike" kern="0" cap="none" spc="0" normalizeH="0" baseline="0" noProof="0">
              <a:ln>
                <a:noFill/>
              </a:ln>
              <a:solidFill>
                <a:srgbClr val="000000"/>
              </a:solidFill>
              <a:effectLst/>
              <a:uLnTx/>
              <a:uFillTx/>
              <a:latin typeface="Arial"/>
              <a:ea typeface="+mn-ea"/>
              <a:cs typeface="+mn-cs"/>
            </a:endParaRPr>
          </a:p>
        </p:txBody>
      </p:sp>
      <p:sp>
        <p:nvSpPr>
          <p:cNvPr id="13" name="Rectangle 25">
            <a:extLst>
              <a:ext uri="{FF2B5EF4-FFF2-40B4-BE49-F238E27FC236}">
                <a16:creationId xmlns:a16="http://schemas.microsoft.com/office/drawing/2014/main" id="{2C1E223D-D957-4D7C-AC4F-60298BD451DA}"/>
              </a:ext>
            </a:extLst>
          </p:cNvPr>
          <p:cNvSpPr>
            <a:spLocks noChangeArrowheads="1"/>
          </p:cNvSpPr>
          <p:nvPr/>
        </p:nvSpPr>
        <p:spPr bwMode="black">
          <a:xfrm>
            <a:off x="4916" y="5293784"/>
            <a:ext cx="12187084" cy="958660"/>
          </a:xfrm>
          <a:prstGeom prst="rect">
            <a:avLst/>
          </a:prstGeom>
          <a:noFill/>
          <a:ln w="9525" algn="ctr">
            <a:noFill/>
            <a:miter lim="800000"/>
            <a:headEnd/>
            <a:tailEnd/>
          </a:ln>
          <a:effectLst/>
        </p:spPr>
        <p:txBody>
          <a:bodyPr wrap="square">
            <a:spAutoFit/>
          </a:bodyPr>
          <a:lstStyle/>
          <a:p>
            <a:pPr lvl="0" algn="just" fontAlgn="auto">
              <a:lnSpc>
                <a:spcPct val="150000"/>
              </a:lnSpc>
              <a:spcBef>
                <a:spcPts val="0"/>
              </a:spcBef>
              <a:spcAft>
                <a:spcPts val="0"/>
              </a:spcAft>
              <a:defRPr/>
            </a:pPr>
            <a:r>
              <a:rPr lang="en-US" sz="2000" kern="0">
                <a:solidFill>
                  <a:srgbClr val="000000"/>
                </a:solidFill>
                <a:latin typeface="Arial"/>
              </a:rPr>
              <a:t>Forward RNN (Xử lý từ trái qua phải): </a:t>
            </a:r>
          </a:p>
          <a:p>
            <a:pPr lvl="0" algn="just" fontAlgn="auto">
              <a:lnSpc>
                <a:spcPct val="150000"/>
              </a:lnSpc>
              <a:spcBef>
                <a:spcPts val="0"/>
              </a:spcBef>
              <a:spcAft>
                <a:spcPts val="0"/>
              </a:spcAft>
              <a:defRPr/>
            </a:pPr>
            <a:r>
              <a:rPr lang="en-US" sz="2000" kern="0">
                <a:solidFill>
                  <a:srgbClr val="000000"/>
                </a:solidFill>
                <a:latin typeface="Arial"/>
              </a:rPr>
              <a:t>Khi Bi-RNN đọc câu từ trái qua phải, sẽ đọc các từ theo thứ tự: </a:t>
            </a:r>
            <a:r>
              <a:rPr lang="fr-FR" sz="2000" kern="0">
                <a:solidFill>
                  <a:srgbClr val="000000"/>
                </a:solidFill>
                <a:latin typeface="Arial"/>
              </a:rPr>
              <a:t>Anh → ấy → là →bác → sĩ.</a:t>
            </a:r>
            <a:r>
              <a:rPr lang="en-US" sz="2000" kern="0">
                <a:solidFill>
                  <a:srgbClr val="000000"/>
                </a:solidFill>
                <a:latin typeface="Arial"/>
              </a:rPr>
              <a:t> </a:t>
            </a:r>
            <a:endParaRPr kumimoji="0" lang="vi-VN" sz="2000" b="0" i="0" u="none" strike="noStrike" kern="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3078509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randombar(horizont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randombar(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randombar(horizontal)">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1"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vi-VN" sz="3200"/>
              <a:t>Các biến thể của RNN</a:t>
            </a:r>
            <a:endParaRPr lang="en-US" sz="3200" dirty="0"/>
          </a:p>
        </p:txBody>
      </p:sp>
      <p:sp>
        <p:nvSpPr>
          <p:cNvPr id="2" name="Slide Number Placeholder 1">
            <a:extLst>
              <a:ext uri="{FF2B5EF4-FFF2-40B4-BE49-F238E27FC236}">
                <a16:creationId xmlns:a16="http://schemas.microsoft.com/office/drawing/2014/main" id="{94D98416-5966-4429-8FC9-45E4C827526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3" name="Rectangle 25">
            <a:extLst>
              <a:ext uri="{FF2B5EF4-FFF2-40B4-BE49-F238E27FC236}">
                <a16:creationId xmlns:a16="http://schemas.microsoft.com/office/drawing/2014/main" id="{2C1E223D-D957-4D7C-AC4F-60298BD451DA}"/>
              </a:ext>
            </a:extLst>
          </p:cNvPr>
          <p:cNvSpPr>
            <a:spLocks noChangeArrowheads="1"/>
          </p:cNvSpPr>
          <p:nvPr/>
        </p:nvSpPr>
        <p:spPr bwMode="black">
          <a:xfrm>
            <a:off x="4916" y="1098740"/>
            <a:ext cx="12187084" cy="2343655"/>
          </a:xfrm>
          <a:prstGeom prst="rect">
            <a:avLst/>
          </a:prstGeom>
          <a:noFill/>
          <a:ln w="9525" algn="ctr">
            <a:noFill/>
            <a:miter lim="800000"/>
            <a:headEnd/>
            <a:tailEnd/>
          </a:ln>
          <a:effectLst/>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a:ea typeface="+mn-ea"/>
                <a:cs typeface="+mn-cs"/>
              </a:rPr>
              <a:t>Forward RNN (Xử lý từ trái qua phải): </a:t>
            </a:r>
          </a:p>
          <a:p>
            <a:pPr lvl="0" algn="just" fontAlgn="auto">
              <a:lnSpc>
                <a:spcPct val="150000"/>
              </a:lnSpc>
              <a:spcBef>
                <a:spcPts val="0"/>
              </a:spcBef>
              <a:spcAft>
                <a:spcPts val="0"/>
              </a:spcAft>
              <a:defRPr/>
            </a:pPr>
            <a:r>
              <a:rPr kumimoji="0" lang="en-US" sz="2000" b="0" i="0" u="none" strike="noStrike" kern="0" cap="none" spc="0" normalizeH="0" baseline="0" noProof="0">
                <a:ln>
                  <a:noFill/>
                </a:ln>
                <a:solidFill>
                  <a:srgbClr val="000000"/>
                </a:solidFill>
                <a:effectLst/>
                <a:uLnTx/>
                <a:uFillTx/>
                <a:latin typeface="Arial"/>
                <a:ea typeface="+mn-ea"/>
                <a:cs typeface="+mn-cs"/>
              </a:rPr>
              <a:t>Khi Bi-RNN đọc câu từ trái qua phải, sẽ đọc các từ theo thứ tự: </a:t>
            </a:r>
            <a:r>
              <a:rPr lang="fr-FR" sz="2000" kern="0">
                <a:solidFill>
                  <a:srgbClr val="000000"/>
                </a:solidFill>
                <a:latin typeface="Arial"/>
              </a:rPr>
              <a:t>Anh → ấy → là →bác → sĩ.</a:t>
            </a:r>
            <a:endParaRPr kumimoji="0" lang="fr-FR" sz="2000" b="0" i="0" u="none" strike="noStrike" kern="0" cap="none" spc="0" normalizeH="0" baseline="0" noProof="0">
              <a:ln>
                <a:noFill/>
              </a:ln>
              <a:solidFill>
                <a:srgbClr val="000000"/>
              </a:solidFill>
              <a:effectLst/>
              <a:uLnTx/>
              <a:uFillTx/>
              <a:latin typeface="Arial"/>
              <a:ea typeface="+mn-ea"/>
              <a:cs typeface="+mn-cs"/>
            </a:endParaRPr>
          </a:p>
          <a:p>
            <a:pPr lvl="0" algn="just" fontAlgn="auto">
              <a:lnSpc>
                <a:spcPct val="150000"/>
              </a:lnSpc>
              <a:spcBef>
                <a:spcPts val="0"/>
              </a:spcBef>
              <a:spcAft>
                <a:spcPts val="0"/>
              </a:spcAft>
              <a:defRPr/>
            </a:pPr>
            <a:r>
              <a:rPr lang="vi-VN" sz="2000" kern="0">
                <a:solidFill>
                  <a:srgbClr val="000000"/>
                </a:solidFill>
                <a:latin typeface="Arial"/>
              </a:rPr>
              <a:t>Dữ liệu sẽ được truyền qua các bước thời gian (từng từ một), và mạng sẽ dần dần hiểu rằng </a:t>
            </a:r>
            <a:r>
              <a:rPr lang="vi-VN" sz="2000" kern="0">
                <a:solidFill>
                  <a:srgbClr val="FF0000"/>
                </a:solidFill>
                <a:latin typeface="Arial"/>
              </a:rPr>
              <a:t>bác sĩ</a:t>
            </a:r>
            <a:r>
              <a:rPr lang="vi-VN" sz="2000" kern="0">
                <a:solidFill>
                  <a:srgbClr val="000000"/>
                </a:solidFill>
                <a:latin typeface="Arial"/>
              </a:rPr>
              <a:t> có thể là một nghề nghiệp. Tuy nhiên, chỉ nhìn vào các từ trước </a:t>
            </a:r>
            <a:r>
              <a:rPr lang="vi-VN" sz="2000" kern="0">
                <a:solidFill>
                  <a:srgbClr val="FF0000"/>
                </a:solidFill>
                <a:latin typeface="Arial"/>
              </a:rPr>
              <a:t>bác sĩ</a:t>
            </a:r>
            <a:r>
              <a:rPr lang="vi-VN" sz="2000" kern="0">
                <a:solidFill>
                  <a:srgbClr val="000000"/>
                </a:solidFill>
                <a:latin typeface="Arial"/>
              </a:rPr>
              <a:t>, Bi-RNN chỉ có thể hiểu được một phần của ngữ cảnh.</a:t>
            </a:r>
            <a:endParaRPr kumimoji="0" lang="vi-VN" sz="2000" b="0" i="0" u="none" strike="noStrike" kern="0" cap="none" spc="0" normalizeH="0" baseline="0" noProof="0">
              <a:ln>
                <a:noFill/>
              </a:ln>
              <a:solidFill>
                <a:srgbClr val="000000"/>
              </a:solidFill>
              <a:effectLst/>
              <a:uLnTx/>
              <a:uFillTx/>
              <a:latin typeface="Arial"/>
              <a:ea typeface="+mn-ea"/>
              <a:cs typeface="+mn-cs"/>
            </a:endParaRPr>
          </a:p>
        </p:txBody>
      </p:sp>
      <p:sp>
        <p:nvSpPr>
          <p:cNvPr id="10" name="Rectangle 25">
            <a:extLst>
              <a:ext uri="{FF2B5EF4-FFF2-40B4-BE49-F238E27FC236}">
                <a16:creationId xmlns:a16="http://schemas.microsoft.com/office/drawing/2014/main" id="{12377F10-EBF3-4457-9EEC-3DC6DD776DD7}"/>
              </a:ext>
            </a:extLst>
          </p:cNvPr>
          <p:cNvSpPr>
            <a:spLocks noChangeArrowheads="1"/>
          </p:cNvSpPr>
          <p:nvPr/>
        </p:nvSpPr>
        <p:spPr bwMode="black">
          <a:xfrm>
            <a:off x="0" y="3276600"/>
            <a:ext cx="12187084" cy="2343655"/>
          </a:xfrm>
          <a:prstGeom prst="rect">
            <a:avLst/>
          </a:prstGeom>
          <a:noFill/>
          <a:ln w="9525" algn="ctr">
            <a:noFill/>
            <a:miter lim="800000"/>
            <a:headEnd/>
            <a:tailEnd/>
          </a:ln>
          <a:effectLst/>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a:ea typeface="+mn-ea"/>
                <a:cs typeface="+mn-cs"/>
              </a:rPr>
              <a:t>Backward RNN (Xử lý từ phải qua trái):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a:ea typeface="+mn-ea"/>
                <a:cs typeface="+mn-cs"/>
              </a:rPr>
              <a:t>Khi Bi-RNN đọc câu từ phải qua trái, nó sẽ đọc theo thứ tự: bác sĩ → là → ấy → Anh.</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vi-VN" sz="2000" b="0" i="0" u="none" strike="noStrike" kern="0" cap="none" spc="0" normalizeH="0" baseline="0" noProof="0">
                <a:ln>
                  <a:noFill/>
                </a:ln>
                <a:solidFill>
                  <a:srgbClr val="000000"/>
                </a:solidFill>
                <a:effectLst/>
                <a:uLnTx/>
                <a:uFillTx/>
                <a:latin typeface="Arial"/>
                <a:ea typeface="+mn-ea"/>
                <a:cs typeface="+mn-cs"/>
              </a:rPr>
              <a:t>Bi-RNN sẽ tiếp nhận thông tin từ phía sau (tức là từ "Anh" và "ấy")</a:t>
            </a:r>
            <a:r>
              <a:rPr kumimoji="0" lang="en-US" sz="2000" b="0" i="0" u="none" strike="noStrike" kern="0" cap="none" spc="0" normalizeH="0" baseline="0" noProof="0">
                <a:ln>
                  <a:noFill/>
                </a:ln>
                <a:solidFill>
                  <a:srgbClr val="000000"/>
                </a:solidFill>
                <a:effectLst/>
                <a:uLnTx/>
                <a:uFillTx/>
                <a:latin typeface="Arial"/>
                <a:ea typeface="+mn-ea"/>
                <a:cs typeface="+mn-cs"/>
              </a:rPr>
              <a:t> </a:t>
            </a:r>
            <a:r>
              <a:rPr kumimoji="0" lang="vi-VN" sz="2000" b="0" i="0" u="none" strike="noStrike" kern="0" cap="none" spc="0" normalizeH="0" baseline="0" noProof="0">
                <a:ln>
                  <a:noFill/>
                </a:ln>
                <a:solidFill>
                  <a:srgbClr val="000000"/>
                </a:solidFill>
                <a:effectLst/>
                <a:uLnTx/>
                <a:uFillTx/>
                <a:latin typeface="Arial"/>
                <a:ea typeface="+mn-ea"/>
                <a:cs typeface="+mn-cs"/>
              </a:rPr>
              <a:t>→</a:t>
            </a:r>
            <a:r>
              <a:rPr kumimoji="0" lang="en-US" sz="2000" b="0" i="0" u="none" strike="noStrike" kern="0" cap="none" spc="0" normalizeH="0" baseline="0" noProof="0">
                <a:ln>
                  <a:noFill/>
                </a:ln>
                <a:solidFill>
                  <a:srgbClr val="000000"/>
                </a:solidFill>
                <a:effectLst/>
                <a:uLnTx/>
                <a:uFillTx/>
                <a:latin typeface="Arial"/>
                <a:ea typeface="+mn-ea"/>
                <a:cs typeface="+mn-cs"/>
              </a:rPr>
              <a:t> </a:t>
            </a:r>
            <a:r>
              <a:rPr kumimoji="0" lang="vi-VN" sz="2000" b="0" i="0" u="none" strike="noStrike" kern="0" cap="none" spc="0" normalizeH="0" baseline="0" noProof="0">
                <a:ln>
                  <a:noFill/>
                </a:ln>
                <a:solidFill>
                  <a:srgbClr val="000000"/>
                </a:solidFill>
                <a:effectLst/>
                <a:uLnTx/>
                <a:uFillTx/>
                <a:latin typeface="Arial"/>
                <a:ea typeface="+mn-ea"/>
                <a:cs typeface="+mn-cs"/>
              </a:rPr>
              <a:t>giúp mô hình hiểu được rằng người này đang được giới thiệu hoặc miêu tả là "Anh ấy", tức là một người đàn ông. Khi kết hợp thông tin từ cả hai hướng, Bi-RNN có thể hiểu rõ hơn về nghĩa của từ "bác sĩ" trong ngữ cảnh của câu.</a:t>
            </a:r>
          </a:p>
        </p:txBody>
      </p:sp>
    </p:spTree>
    <p:extLst>
      <p:ext uri="{BB962C8B-B14F-4D97-AF65-F5344CB8AC3E}">
        <p14:creationId xmlns:p14="http://schemas.microsoft.com/office/powerpoint/2010/main" val="217120967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5D0DD-D5D7-4D40-8542-1DDC5EBFFC07}"/>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836C4F20-7204-5860-C9C7-14E2692639AF}"/>
              </a:ext>
            </a:extLst>
          </p:cNvPr>
          <p:cNvSpPr>
            <a:spLocks noGrp="1" noChangeArrowheads="1"/>
          </p:cNvSpPr>
          <p:nvPr>
            <p:ph type="title"/>
          </p:nvPr>
        </p:nvSpPr>
        <p:spPr/>
        <p:txBody>
          <a:bodyPr/>
          <a:lstStyle/>
          <a:p>
            <a:r>
              <a:rPr lang="vi-VN" sz="3200"/>
              <a:t>Các biến thể của RNN</a:t>
            </a:r>
            <a:endParaRPr lang="en-US" sz="3200" dirty="0"/>
          </a:p>
        </p:txBody>
      </p:sp>
      <p:sp>
        <p:nvSpPr>
          <p:cNvPr id="2" name="Slide Number Placeholder 1">
            <a:extLst>
              <a:ext uri="{FF2B5EF4-FFF2-40B4-BE49-F238E27FC236}">
                <a16:creationId xmlns:a16="http://schemas.microsoft.com/office/drawing/2014/main" id="{9E1676F1-081B-99CD-0300-F1EE3568644E}"/>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Rectangle 25">
            <a:extLst>
              <a:ext uri="{FF2B5EF4-FFF2-40B4-BE49-F238E27FC236}">
                <a16:creationId xmlns:a16="http://schemas.microsoft.com/office/drawing/2014/main" id="{098DE997-D84D-9570-AC10-3A6858724CC2}"/>
              </a:ext>
            </a:extLst>
          </p:cNvPr>
          <p:cNvSpPr>
            <a:spLocks noChangeArrowheads="1"/>
          </p:cNvSpPr>
          <p:nvPr/>
        </p:nvSpPr>
        <p:spPr bwMode="black">
          <a:xfrm>
            <a:off x="0" y="1094201"/>
            <a:ext cx="12191999" cy="496996"/>
          </a:xfrm>
          <a:prstGeom prst="rect">
            <a:avLst/>
          </a:prstGeom>
          <a:noFill/>
          <a:ln w="9525" algn="ctr">
            <a:noFill/>
            <a:miter lim="800000"/>
            <a:headEnd/>
            <a:tailEnd/>
          </a:ln>
          <a:effectLst/>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en-US" sz="2000" b="0" i="0" u="none" strike="noStrike" kern="0" cap="none" spc="0" normalizeH="0" baseline="0" noProof="0">
                <a:ln>
                  <a:noFill/>
                </a:ln>
                <a:solidFill>
                  <a:srgbClr val="0070C0"/>
                </a:solidFill>
                <a:effectLst/>
                <a:uLnTx/>
                <a:uFillTx/>
                <a:latin typeface="Arial"/>
                <a:ea typeface="+mn-ea"/>
                <a:cs typeface="+mn-cs"/>
              </a:rPr>
              <a:t>Long Short-Term Memory Network (LSTM)</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sp>
        <p:nvSpPr>
          <p:cNvPr id="12" name="Rectangle 25">
            <a:extLst>
              <a:ext uri="{FF2B5EF4-FFF2-40B4-BE49-F238E27FC236}">
                <a16:creationId xmlns:a16="http://schemas.microsoft.com/office/drawing/2014/main" id="{092F993D-F6FE-4F87-0D5D-E3716B90450E}"/>
              </a:ext>
            </a:extLst>
          </p:cNvPr>
          <p:cNvSpPr>
            <a:spLocks noChangeArrowheads="1"/>
          </p:cNvSpPr>
          <p:nvPr/>
        </p:nvSpPr>
        <p:spPr bwMode="black">
          <a:xfrm>
            <a:off x="5257800" y="1547010"/>
            <a:ext cx="6899786" cy="188199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G</a:t>
            </a:r>
            <a:r>
              <a:rPr lang="vi-VN" sz="2000" kern="0">
                <a:solidFill>
                  <a:srgbClr val="000000"/>
                </a:solidFill>
                <a:latin typeface="Arial"/>
              </a:rPr>
              <a:t>iải quyết vấn đề vanishing gradient trong các mạng nơ-ron truyền thống</a:t>
            </a:r>
            <a:endParaRPr lang="en-US" sz="2000" kern="0">
              <a:solidFill>
                <a:srgbClr val="000000"/>
              </a:solidFill>
              <a:latin typeface="Arial"/>
            </a:endParaRPr>
          </a:p>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S</a:t>
            </a:r>
            <a:r>
              <a:rPr lang="vi-VN" sz="2000" kern="0">
                <a:solidFill>
                  <a:srgbClr val="000000"/>
                </a:solidFill>
                <a:latin typeface="Arial"/>
              </a:rPr>
              <a:t>ử dụng một cơ chế bộ nhớ giúp lưu giữ và quản lý thông tin qua các bước thời gian</a:t>
            </a:r>
            <a:endParaRPr kumimoji="0" lang="vi-VN" sz="2000" b="0" i="0" u="none" strike="noStrike" kern="0" cap="none" spc="0" normalizeH="0" baseline="0" noProof="0">
              <a:ln>
                <a:noFill/>
              </a:ln>
              <a:solidFill>
                <a:srgbClr val="000000"/>
              </a:solidFill>
              <a:effectLst/>
              <a:uLnTx/>
              <a:uFillTx/>
              <a:latin typeface="Arial"/>
              <a:ea typeface="+mn-ea"/>
              <a:cs typeface="+mn-cs"/>
            </a:endParaRPr>
          </a:p>
        </p:txBody>
      </p:sp>
      <p:sp>
        <p:nvSpPr>
          <p:cNvPr id="11" name="Rectangle 25">
            <a:extLst>
              <a:ext uri="{FF2B5EF4-FFF2-40B4-BE49-F238E27FC236}">
                <a16:creationId xmlns:a16="http://schemas.microsoft.com/office/drawing/2014/main" id="{A1FEB2BC-D564-9861-BF5F-92140245EA59}"/>
              </a:ext>
            </a:extLst>
          </p:cNvPr>
          <p:cNvSpPr>
            <a:spLocks noChangeArrowheads="1"/>
          </p:cNvSpPr>
          <p:nvPr/>
        </p:nvSpPr>
        <p:spPr bwMode="black">
          <a:xfrm>
            <a:off x="5257800" y="3388753"/>
            <a:ext cx="6899786" cy="142032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Ba loại cổng trong mỗi cell LSTM:</a:t>
            </a:r>
          </a:p>
          <a:p>
            <a:pPr marL="342900" lvl="0" indent="-342900" algn="just" fontAlgn="auto">
              <a:lnSpc>
                <a:spcPct val="150000"/>
              </a:lnSpc>
              <a:spcBef>
                <a:spcPts val="0"/>
              </a:spcBef>
              <a:spcAft>
                <a:spcPts val="0"/>
              </a:spcAft>
              <a:buFont typeface="Wingdings" panose="05000000000000000000" pitchFamily="2" charset="2"/>
              <a:buChar char="ü"/>
              <a:defRPr/>
            </a:pPr>
            <a:r>
              <a:rPr lang="en-US" sz="2000" kern="0">
                <a:solidFill>
                  <a:srgbClr val="000000"/>
                </a:solidFill>
                <a:latin typeface="Arial"/>
              </a:rPr>
              <a:t>I</a:t>
            </a:r>
            <a:r>
              <a:rPr lang="vi-VN" sz="2000" kern="0">
                <a:solidFill>
                  <a:srgbClr val="000000"/>
                </a:solidFill>
                <a:latin typeface="Arial"/>
              </a:rPr>
              <a:t>nput</a:t>
            </a:r>
            <a:r>
              <a:rPr lang="en-US" sz="2000" kern="0">
                <a:solidFill>
                  <a:srgbClr val="000000"/>
                </a:solidFill>
                <a:latin typeface="Arial"/>
              </a:rPr>
              <a:t> gate</a:t>
            </a:r>
            <a:r>
              <a:rPr lang="vi-VN" sz="2000" kern="0">
                <a:solidFill>
                  <a:srgbClr val="000000"/>
                </a:solidFill>
                <a:latin typeface="Arial"/>
              </a:rPr>
              <a:t>: Quyết định lượng thông tin mới sẽ được thêm vào trạng thái bộ nhớ</a:t>
            </a:r>
            <a:endParaRPr kumimoji="0" lang="vi-VN" sz="2000" b="0" i="0" u="none" strike="noStrike" kern="0" cap="none" spc="0" normalizeH="0" baseline="0" noProof="0">
              <a:ln>
                <a:noFill/>
              </a:ln>
              <a:solidFill>
                <a:srgbClr val="000000"/>
              </a:solidFill>
              <a:effectLst/>
              <a:uLnTx/>
              <a:uFillTx/>
              <a:latin typeface="Arial"/>
              <a:ea typeface="+mn-ea"/>
              <a:cs typeface="+mn-cs"/>
            </a:endParaRPr>
          </a:p>
        </p:txBody>
      </p:sp>
      <p:sp>
        <p:nvSpPr>
          <p:cNvPr id="13" name="Rectangle 25">
            <a:extLst>
              <a:ext uri="{FF2B5EF4-FFF2-40B4-BE49-F238E27FC236}">
                <a16:creationId xmlns:a16="http://schemas.microsoft.com/office/drawing/2014/main" id="{BF2E0428-B378-28BA-541A-8A366A73B00A}"/>
              </a:ext>
            </a:extLst>
          </p:cNvPr>
          <p:cNvSpPr>
            <a:spLocks noChangeArrowheads="1"/>
          </p:cNvSpPr>
          <p:nvPr/>
        </p:nvSpPr>
        <p:spPr bwMode="black">
          <a:xfrm>
            <a:off x="4916" y="4816285"/>
            <a:ext cx="12187084" cy="95866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ü"/>
              <a:defRPr/>
            </a:pPr>
            <a:r>
              <a:rPr lang="en-US" sz="2000" kern="0">
                <a:solidFill>
                  <a:srgbClr val="000000"/>
                </a:solidFill>
                <a:latin typeface="Arial"/>
              </a:rPr>
              <a:t>Forget Gate: </a:t>
            </a:r>
            <a:r>
              <a:rPr lang="vi-VN" sz="2000" kern="0">
                <a:solidFill>
                  <a:srgbClr val="000000"/>
                </a:solidFill>
                <a:latin typeface="Arial"/>
              </a:rPr>
              <a:t>Xác định những thông tin nào từ quá khứ cần được loại bỏ</a:t>
            </a:r>
            <a:endParaRPr lang="en-US" sz="2000" kern="0">
              <a:solidFill>
                <a:srgbClr val="000000"/>
              </a:solidFill>
              <a:latin typeface="Arial"/>
            </a:endParaRPr>
          </a:p>
          <a:p>
            <a:pPr marL="342900" lvl="0" indent="-342900" algn="just" fontAlgn="auto">
              <a:lnSpc>
                <a:spcPct val="150000"/>
              </a:lnSpc>
              <a:spcBef>
                <a:spcPts val="0"/>
              </a:spcBef>
              <a:spcAft>
                <a:spcPts val="0"/>
              </a:spcAft>
              <a:buFont typeface="Wingdings" panose="05000000000000000000" pitchFamily="2" charset="2"/>
              <a:buChar char="ü"/>
              <a:defRPr/>
            </a:pPr>
            <a:r>
              <a:rPr lang="vi-VN" sz="2000" kern="0">
                <a:solidFill>
                  <a:srgbClr val="000000"/>
                </a:solidFill>
                <a:latin typeface="Arial"/>
              </a:rPr>
              <a:t>Output Gate:</a:t>
            </a:r>
            <a:r>
              <a:rPr lang="en-US" sz="2000" kern="0">
                <a:solidFill>
                  <a:srgbClr val="000000"/>
                </a:solidFill>
                <a:latin typeface="Arial"/>
              </a:rPr>
              <a:t> </a:t>
            </a:r>
            <a:r>
              <a:rPr lang="vi-VN" sz="2000" kern="0">
                <a:solidFill>
                  <a:srgbClr val="000000"/>
                </a:solidFill>
                <a:latin typeface="Arial"/>
              </a:rPr>
              <a:t>Điều chỉnh thông tin nào sẽ được xuất ra ở bước thời gian hiện tại</a:t>
            </a:r>
            <a:endParaRPr kumimoji="0" lang="vi-VN" sz="2000" b="0" i="0" u="none" strike="noStrike" kern="0" cap="none" spc="0" normalizeH="0" baseline="0" noProof="0">
              <a:ln>
                <a:noFill/>
              </a:ln>
              <a:solidFill>
                <a:srgbClr val="000000"/>
              </a:solidFill>
              <a:effectLst/>
              <a:uLnTx/>
              <a:uFillTx/>
              <a:latin typeface="Arial"/>
              <a:ea typeface="+mn-ea"/>
              <a:cs typeface="+mn-cs"/>
            </a:endParaRPr>
          </a:p>
        </p:txBody>
      </p:sp>
      <p:pic>
        <p:nvPicPr>
          <p:cNvPr id="4" name="Picture 3">
            <a:extLst>
              <a:ext uri="{FF2B5EF4-FFF2-40B4-BE49-F238E27FC236}">
                <a16:creationId xmlns:a16="http://schemas.microsoft.com/office/drawing/2014/main" id="{D02CD643-CB3B-3F87-0720-E3A85C5FCDA1}"/>
              </a:ext>
            </a:extLst>
          </p:cNvPr>
          <p:cNvPicPr>
            <a:picLocks noChangeAspect="1"/>
          </p:cNvPicPr>
          <p:nvPr/>
        </p:nvPicPr>
        <p:blipFill>
          <a:blip r:embed="rId3"/>
          <a:stretch>
            <a:fillRect/>
          </a:stretch>
        </p:blipFill>
        <p:spPr>
          <a:xfrm>
            <a:off x="63912" y="1591197"/>
            <a:ext cx="5193888" cy="3226321"/>
          </a:xfrm>
          <a:prstGeom prst="rect">
            <a:avLst/>
          </a:prstGeom>
        </p:spPr>
      </p:pic>
      <p:sp>
        <p:nvSpPr>
          <p:cNvPr id="6" name="Rectangle 25">
            <a:extLst>
              <a:ext uri="{FF2B5EF4-FFF2-40B4-BE49-F238E27FC236}">
                <a16:creationId xmlns:a16="http://schemas.microsoft.com/office/drawing/2014/main" id="{BD83E45E-17EC-25D2-4C62-058307DAA07D}"/>
              </a:ext>
            </a:extLst>
          </p:cNvPr>
          <p:cNvSpPr>
            <a:spLocks noChangeArrowheads="1"/>
          </p:cNvSpPr>
          <p:nvPr/>
        </p:nvSpPr>
        <p:spPr bwMode="black">
          <a:xfrm>
            <a:off x="4916" y="5717033"/>
            <a:ext cx="12187084" cy="95866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LSTMs phù hợp cho các nhiệm vụ yêu cầu duy trì ngữ cảnh</a:t>
            </a:r>
            <a:r>
              <a:rPr lang="en-US" sz="2000" kern="0">
                <a:solidFill>
                  <a:srgbClr val="000000"/>
                </a:solidFill>
                <a:latin typeface="Arial"/>
              </a:rPr>
              <a:t>/</a:t>
            </a:r>
            <a:r>
              <a:rPr lang="vi-VN" sz="2000" kern="0">
                <a:solidFill>
                  <a:srgbClr val="000000"/>
                </a:solidFill>
                <a:latin typeface="Arial"/>
              </a:rPr>
              <a:t>thông tin từ các bước thời gian xa hơn, chẳng hạn như xử lý ngôn ngữ tự nhiên, chuỗi thời gian, hoặc dự đoán dãy số</a:t>
            </a:r>
            <a:endParaRPr kumimoji="0" lang="vi-VN" sz="2000" b="0" i="0" u="none" strike="noStrike" kern="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8646116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par>
                                <p:cTn id="8" presetID="14"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randombar(horizontal)">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randombar(horizontal)">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randombar(horizontal)">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1" grpId="0"/>
      <p:bldP spid="13"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CEAA7-7198-2B0B-03A4-059583065F63}"/>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7F83BF7C-2947-5746-E730-5FE9BD776F5F}"/>
              </a:ext>
            </a:extLst>
          </p:cNvPr>
          <p:cNvSpPr>
            <a:spLocks noGrp="1" noChangeArrowheads="1"/>
          </p:cNvSpPr>
          <p:nvPr>
            <p:ph type="title"/>
          </p:nvPr>
        </p:nvSpPr>
        <p:spPr/>
        <p:txBody>
          <a:bodyPr/>
          <a:lstStyle/>
          <a:p>
            <a:r>
              <a:rPr lang="vi-VN" sz="3200"/>
              <a:t>Các biến thể của RNN</a:t>
            </a:r>
            <a:endParaRPr lang="en-US" sz="3200" dirty="0"/>
          </a:p>
        </p:txBody>
      </p:sp>
      <p:sp>
        <p:nvSpPr>
          <p:cNvPr id="2" name="Slide Number Placeholder 1">
            <a:extLst>
              <a:ext uri="{FF2B5EF4-FFF2-40B4-BE49-F238E27FC236}">
                <a16:creationId xmlns:a16="http://schemas.microsoft.com/office/drawing/2014/main" id="{DE522FF3-F562-4344-5577-B26AD1DF587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Rectangle 25">
            <a:extLst>
              <a:ext uri="{FF2B5EF4-FFF2-40B4-BE49-F238E27FC236}">
                <a16:creationId xmlns:a16="http://schemas.microsoft.com/office/drawing/2014/main" id="{9E4B4EC5-ABE3-D542-BC7B-B24D4EAE5B1E}"/>
              </a:ext>
            </a:extLst>
          </p:cNvPr>
          <p:cNvSpPr>
            <a:spLocks noChangeArrowheads="1"/>
          </p:cNvSpPr>
          <p:nvPr/>
        </p:nvSpPr>
        <p:spPr bwMode="black">
          <a:xfrm>
            <a:off x="0" y="1094201"/>
            <a:ext cx="12191999" cy="496996"/>
          </a:xfrm>
          <a:prstGeom prst="rect">
            <a:avLst/>
          </a:prstGeom>
          <a:noFill/>
          <a:ln w="9525" algn="ctr">
            <a:noFill/>
            <a:miter lim="800000"/>
            <a:headEnd/>
            <a:tailEnd/>
          </a:ln>
          <a:effectLst/>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en-US" sz="2000" b="0" i="0" u="none" strike="noStrike" kern="0" cap="none" spc="0" normalizeH="0" baseline="0" noProof="0">
                <a:ln>
                  <a:noFill/>
                </a:ln>
                <a:solidFill>
                  <a:srgbClr val="0070C0"/>
                </a:solidFill>
                <a:effectLst/>
                <a:uLnTx/>
                <a:uFillTx/>
                <a:latin typeface="Arial"/>
                <a:ea typeface="+mn-ea"/>
                <a:cs typeface="+mn-cs"/>
              </a:rPr>
              <a:t>Gated Recurrent Unit (GRU)</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sp>
        <p:nvSpPr>
          <p:cNvPr id="12" name="Rectangle 25">
            <a:extLst>
              <a:ext uri="{FF2B5EF4-FFF2-40B4-BE49-F238E27FC236}">
                <a16:creationId xmlns:a16="http://schemas.microsoft.com/office/drawing/2014/main" id="{14F60077-B6C4-2898-69EB-8C1D47538BBA}"/>
              </a:ext>
            </a:extLst>
          </p:cNvPr>
          <p:cNvSpPr>
            <a:spLocks noChangeArrowheads="1"/>
          </p:cNvSpPr>
          <p:nvPr/>
        </p:nvSpPr>
        <p:spPr bwMode="black">
          <a:xfrm>
            <a:off x="5257800" y="1547010"/>
            <a:ext cx="6899786" cy="234365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K</a:t>
            </a:r>
            <a:r>
              <a:rPr lang="vi-VN" sz="2000" kern="0">
                <a:solidFill>
                  <a:srgbClr val="000000"/>
                </a:solidFill>
                <a:latin typeface="Arial"/>
              </a:rPr>
              <a:t>ết hợp hai cổng Input Gate và Forget Gate thành một Update Gate, giúp giảm số lượng cổng</a:t>
            </a:r>
            <a:endParaRPr kumimoji="0" lang="en-US" sz="2000" b="0" i="0" u="none" strike="noStrike" kern="0" cap="none" spc="0" normalizeH="0" baseline="0" noProof="0">
              <a:ln>
                <a:noFill/>
              </a:ln>
              <a:solidFill>
                <a:srgbClr val="000000"/>
              </a:solidFill>
              <a:effectLst/>
              <a:uLnTx/>
              <a:uFillTx/>
              <a:latin typeface="Arial"/>
              <a:ea typeface="+mn-ea"/>
              <a:cs typeface="+mn-cs"/>
            </a:endParaRPr>
          </a:p>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L</a:t>
            </a:r>
            <a:r>
              <a:rPr lang="vi-VN" sz="2000" kern="0">
                <a:solidFill>
                  <a:srgbClr val="000000"/>
                </a:solidFill>
                <a:latin typeface="Arial"/>
              </a:rPr>
              <a:t>oại bỏ Output</a:t>
            </a:r>
            <a:r>
              <a:rPr lang="en-US" sz="2000" kern="0">
                <a:solidFill>
                  <a:srgbClr val="000000"/>
                </a:solidFill>
                <a:latin typeface="Arial"/>
              </a:rPr>
              <a:t> Gate</a:t>
            </a:r>
            <a:r>
              <a:rPr lang="vi-VN" sz="2000" kern="0">
                <a:solidFill>
                  <a:srgbClr val="000000"/>
                </a:solidFill>
                <a:latin typeface="Arial"/>
              </a:rPr>
              <a:t>, thay vào đó sử dụng cơ chế dòng chảy trực tiếp qua các cổng khác để quản lý thông tin đầu ra</a:t>
            </a:r>
            <a:endParaRPr kumimoji="0" lang="vi-VN" sz="2000" b="0" i="0" u="none" strike="noStrike" kern="0" cap="none" spc="0" normalizeH="0" baseline="0" noProof="0">
              <a:ln>
                <a:noFill/>
              </a:ln>
              <a:solidFill>
                <a:srgbClr val="000000"/>
              </a:solidFill>
              <a:effectLst/>
              <a:uLnTx/>
              <a:uFillTx/>
              <a:latin typeface="Arial"/>
              <a:ea typeface="+mn-ea"/>
              <a:cs typeface="+mn-cs"/>
            </a:endParaRPr>
          </a:p>
        </p:txBody>
      </p:sp>
      <p:sp>
        <p:nvSpPr>
          <p:cNvPr id="13" name="Rectangle 25">
            <a:extLst>
              <a:ext uri="{FF2B5EF4-FFF2-40B4-BE49-F238E27FC236}">
                <a16:creationId xmlns:a16="http://schemas.microsoft.com/office/drawing/2014/main" id="{46CCFA1E-8769-15C2-30B2-DADA64975ACF}"/>
              </a:ext>
            </a:extLst>
          </p:cNvPr>
          <p:cNvSpPr>
            <a:spLocks noChangeArrowheads="1"/>
          </p:cNvSpPr>
          <p:nvPr/>
        </p:nvSpPr>
        <p:spPr bwMode="black">
          <a:xfrm>
            <a:off x="5257800" y="3833010"/>
            <a:ext cx="6934200" cy="188199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GRU nhẹ hơn về mặt tính toán so với LSTM, do có ít tham số</a:t>
            </a:r>
            <a:endParaRPr lang="en-US" sz="2000" kern="0">
              <a:solidFill>
                <a:srgbClr val="000000"/>
              </a:solidFill>
              <a:latin typeface="Arial"/>
            </a:endParaRPr>
          </a:p>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Thích hợp cho các mô hình yêu cầu tốc độ huấn luyện nhanh và triển khai đơn giản</a:t>
            </a:r>
            <a:endParaRPr kumimoji="0" lang="vi-VN" sz="2000" b="0" i="0" u="none" strike="noStrike" kern="0" cap="none" spc="0" normalizeH="0" baseline="0" noProof="0">
              <a:ln>
                <a:noFill/>
              </a:ln>
              <a:solidFill>
                <a:srgbClr val="000000"/>
              </a:solidFill>
              <a:effectLst/>
              <a:uLnTx/>
              <a:uFillTx/>
              <a:latin typeface="Arial"/>
              <a:ea typeface="+mn-ea"/>
              <a:cs typeface="+mn-cs"/>
            </a:endParaRPr>
          </a:p>
        </p:txBody>
      </p:sp>
      <p:pic>
        <p:nvPicPr>
          <p:cNvPr id="2050" name="Picture 2" descr="Understanding Gated Recurrent Units in Deep Learning | by Harshed | Medium">
            <a:extLst>
              <a:ext uri="{FF2B5EF4-FFF2-40B4-BE49-F238E27FC236}">
                <a16:creationId xmlns:a16="http://schemas.microsoft.com/office/drawing/2014/main" id="{8E80C9CB-8502-09BC-6447-EE7E6B97D9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13" y="1624315"/>
            <a:ext cx="5223387" cy="314757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5">
            <a:extLst>
              <a:ext uri="{FF2B5EF4-FFF2-40B4-BE49-F238E27FC236}">
                <a16:creationId xmlns:a16="http://schemas.microsoft.com/office/drawing/2014/main" id="{B36FE9B6-62A4-DB26-94EA-87EA810E60E5}"/>
              </a:ext>
            </a:extLst>
          </p:cNvPr>
          <p:cNvSpPr>
            <a:spLocks noChangeArrowheads="1"/>
          </p:cNvSpPr>
          <p:nvPr/>
        </p:nvSpPr>
        <p:spPr bwMode="black">
          <a:xfrm>
            <a:off x="-19335" y="5670740"/>
            <a:ext cx="12211333" cy="95866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Trong nhiều trường hợp, GRUs đạt hiệu quả gần tương đương với LSTMs, đặc biệt trên các tác vụ như xử lý chuỗi thời gian và xử lý ngôn ngữ tự nhiên</a:t>
            </a:r>
            <a:endParaRPr kumimoji="0" lang="vi-VN" sz="2000" b="0" i="0" u="none" strike="noStrike" kern="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427591271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randombar(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randombar(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94DDA-F7A5-3B86-1D92-743E1763D6F0}"/>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A995C971-493C-33A2-334F-46F8DC65E9CD}"/>
              </a:ext>
            </a:extLst>
          </p:cNvPr>
          <p:cNvSpPr>
            <a:spLocks noGrp="1" noChangeArrowheads="1"/>
          </p:cNvSpPr>
          <p:nvPr>
            <p:ph type="title"/>
          </p:nvPr>
        </p:nvSpPr>
        <p:spPr/>
        <p:txBody>
          <a:bodyPr/>
          <a:lstStyle/>
          <a:p>
            <a:r>
              <a:rPr lang="en-US" sz="3200"/>
              <a:t>Cấu trúc </a:t>
            </a:r>
            <a:r>
              <a:rPr lang="vi-VN" sz="3200"/>
              <a:t>của RNN</a:t>
            </a:r>
            <a:endParaRPr lang="en-US" sz="3200" dirty="0"/>
          </a:p>
        </p:txBody>
      </p:sp>
      <p:sp>
        <p:nvSpPr>
          <p:cNvPr id="2" name="Slide Number Placeholder 1">
            <a:extLst>
              <a:ext uri="{FF2B5EF4-FFF2-40B4-BE49-F238E27FC236}">
                <a16:creationId xmlns:a16="http://schemas.microsoft.com/office/drawing/2014/main" id="{3612DEA8-AFCA-C009-3691-8ED58ACC43D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Rectangle 25">
            <a:extLst>
              <a:ext uri="{FF2B5EF4-FFF2-40B4-BE49-F238E27FC236}">
                <a16:creationId xmlns:a16="http://schemas.microsoft.com/office/drawing/2014/main" id="{5CEA31A6-A36C-2398-F000-E32E48D00B96}"/>
              </a:ext>
            </a:extLst>
          </p:cNvPr>
          <p:cNvSpPr>
            <a:spLocks noChangeArrowheads="1"/>
          </p:cNvSpPr>
          <p:nvPr/>
        </p:nvSpPr>
        <p:spPr bwMode="black">
          <a:xfrm>
            <a:off x="0" y="1094201"/>
            <a:ext cx="12191999" cy="95866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en-US" sz="2000" kern="0">
                <a:solidFill>
                  <a:srgbClr val="0070C0"/>
                </a:solidFill>
                <a:latin typeface="Arial"/>
              </a:rPr>
              <a:t>RNN có cấu trúc đầu vào và đầu ra giống với các kiến trúc học sâu khác </a:t>
            </a:r>
            <a:r>
              <a:rPr lang="en-US" sz="2000" kern="0">
                <a:solidFill>
                  <a:srgbClr val="000000"/>
                </a:solidFill>
                <a:latin typeface="Arial"/>
              </a:rPr>
              <a:t>→ </a:t>
            </a:r>
            <a:r>
              <a:rPr lang="vi-VN" sz="2000" kern="0">
                <a:solidFill>
                  <a:srgbClr val="000000"/>
                </a:solidFill>
                <a:latin typeface="Arial"/>
              </a:rPr>
              <a:t>Khác biệt ở cách luồng thông tin hoạt động, sử dụng trọng số chung qua các bước thời gian</a:t>
            </a:r>
            <a:r>
              <a:rPr lang="en-US" sz="2000" kern="0">
                <a:solidFill>
                  <a:srgbClr val="000000"/>
                </a:solidFill>
                <a:latin typeface="Arial"/>
              </a:rPr>
              <a:t> </a:t>
            </a:r>
            <a:r>
              <a:rPr lang="en-US" sz="2000" kern="0">
                <a:solidFill>
                  <a:srgbClr val="0070C0"/>
                </a:solidFill>
                <a:latin typeface="Arial"/>
              </a:rPr>
              <a:t> </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sp>
        <p:nvSpPr>
          <p:cNvPr id="4" name="Rectangle 25">
            <a:extLst>
              <a:ext uri="{FF2B5EF4-FFF2-40B4-BE49-F238E27FC236}">
                <a16:creationId xmlns:a16="http://schemas.microsoft.com/office/drawing/2014/main" id="{33E2A5F5-D367-D655-092C-8EE21E11070E}"/>
              </a:ext>
            </a:extLst>
          </p:cNvPr>
          <p:cNvSpPr>
            <a:spLocks noChangeArrowheads="1"/>
          </p:cNvSpPr>
          <p:nvPr/>
        </p:nvSpPr>
        <p:spPr bwMode="black">
          <a:xfrm>
            <a:off x="0" y="1981200"/>
            <a:ext cx="12191999" cy="95866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vi-VN" sz="2000" kern="0">
                <a:solidFill>
                  <a:srgbClr val="0070C0"/>
                </a:solidFill>
                <a:latin typeface="Arial"/>
              </a:rPr>
              <a:t>Trạng thái ẩn lưu giữ phụ thuộc tuần tự bằng cách xử lý từng đầu vào 𝑋𝑖</a:t>
            </a:r>
            <a:r>
              <a:rPr lang="en-US" sz="2000" kern="0">
                <a:solidFill>
                  <a:srgbClr val="0070C0"/>
                </a:solidFill>
                <a:latin typeface="Arial"/>
              </a:rPr>
              <a:t> </a:t>
            </a:r>
            <a:r>
              <a:rPr lang="en-US" sz="2000" kern="0">
                <a:solidFill>
                  <a:srgbClr val="000000"/>
                </a:solidFill>
                <a:latin typeface="Arial"/>
              </a:rPr>
              <a:t>→ Trọng số chung cho phép </a:t>
            </a:r>
            <a:r>
              <a:rPr lang="en-US" sz="2000" kern="0">
                <a:solidFill>
                  <a:srgbClr val="FF0000"/>
                </a:solidFill>
                <a:latin typeface="Arial"/>
              </a:rPr>
              <a:t>ghi nhớ</a:t>
            </a:r>
            <a:r>
              <a:rPr lang="en-US" sz="2000" kern="0">
                <a:solidFill>
                  <a:srgbClr val="000000"/>
                </a:solidFill>
                <a:latin typeface="Arial"/>
              </a:rPr>
              <a:t> thông tin qua chuỗi</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sp>
        <p:nvSpPr>
          <p:cNvPr id="5" name="Rectangle 25">
            <a:extLst>
              <a:ext uri="{FF2B5EF4-FFF2-40B4-BE49-F238E27FC236}">
                <a16:creationId xmlns:a16="http://schemas.microsoft.com/office/drawing/2014/main" id="{730BAB3C-60E7-EC7D-9FEA-3692496B6D9B}"/>
              </a:ext>
            </a:extLst>
          </p:cNvPr>
          <p:cNvSpPr>
            <a:spLocks noChangeArrowheads="1"/>
          </p:cNvSpPr>
          <p:nvPr/>
        </p:nvSpPr>
        <p:spPr bwMode="black">
          <a:xfrm>
            <a:off x="-1" y="2846287"/>
            <a:ext cx="3276601" cy="234365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vi-VN" sz="2000" kern="0">
                <a:solidFill>
                  <a:srgbClr val="0070C0"/>
                </a:solidFill>
                <a:latin typeface="Arial"/>
              </a:rPr>
              <a:t>Tính toán trạng thái ẩn:</a:t>
            </a:r>
            <a:endParaRPr lang="en-US" sz="2000" kern="0">
              <a:solidFill>
                <a:srgbClr val="0070C0"/>
              </a:solidFill>
              <a:latin typeface="Arial"/>
            </a:endParaRPr>
          </a:p>
          <a:p>
            <a:pPr lvl="0" algn="just" fontAlgn="auto">
              <a:lnSpc>
                <a:spcPct val="150000"/>
              </a:lnSpc>
              <a:spcBef>
                <a:spcPts val="0"/>
              </a:spcBef>
              <a:spcAft>
                <a:spcPts val="0"/>
              </a:spcAft>
              <a:defRPr/>
            </a:pPr>
            <a:r>
              <a:rPr lang="pt-BR" sz="2000" i="1">
                <a:solidFill>
                  <a:srgbClr val="000000"/>
                </a:solidFill>
              </a:rPr>
              <a:t>h = σ(U⋅X+W⋅h</a:t>
            </a:r>
            <a:r>
              <a:rPr lang="pt-BR" sz="2000" i="1" baseline="-25000">
                <a:solidFill>
                  <a:srgbClr val="000000"/>
                </a:solidFill>
              </a:rPr>
              <a:t>t−1</a:t>
            </a:r>
            <a:r>
              <a:rPr lang="pt-BR" sz="2000" i="1">
                <a:solidFill>
                  <a:srgbClr val="000000"/>
                </a:solidFill>
              </a:rPr>
              <a:t>​+B)</a:t>
            </a:r>
          </a:p>
          <a:p>
            <a:pPr lvl="0" algn="just" fontAlgn="auto">
              <a:lnSpc>
                <a:spcPct val="150000"/>
              </a:lnSpc>
              <a:spcBef>
                <a:spcPts val="0"/>
              </a:spcBef>
              <a:spcAft>
                <a:spcPts val="0"/>
              </a:spcAft>
              <a:defRPr/>
            </a:pPr>
            <a:r>
              <a:rPr lang="en-US" sz="2000" i="1" kern="0">
                <a:solidFill>
                  <a:srgbClr val="000000"/>
                </a:solidFill>
                <a:latin typeface="Arial"/>
              </a:rPr>
              <a:t>U,W: Ma trận trọng số</a:t>
            </a:r>
          </a:p>
          <a:p>
            <a:pPr lvl="0" algn="just" fontAlgn="auto">
              <a:lnSpc>
                <a:spcPct val="150000"/>
              </a:lnSpc>
              <a:spcBef>
                <a:spcPts val="0"/>
              </a:spcBef>
              <a:spcAft>
                <a:spcPts val="0"/>
              </a:spcAft>
              <a:defRPr/>
            </a:pPr>
            <a:r>
              <a:rPr lang="en-US" sz="2000" i="1" kern="0">
                <a:solidFill>
                  <a:srgbClr val="000000"/>
                </a:solidFill>
                <a:latin typeface="Arial"/>
              </a:rPr>
              <a:t>B: bias</a:t>
            </a:r>
          </a:p>
          <a:p>
            <a:pPr lvl="0" algn="just" fontAlgn="auto">
              <a:lnSpc>
                <a:spcPct val="150000"/>
              </a:lnSpc>
              <a:spcBef>
                <a:spcPts val="0"/>
              </a:spcBef>
              <a:spcAft>
                <a:spcPts val="0"/>
              </a:spcAft>
              <a:defRPr/>
            </a:pPr>
            <a:r>
              <a:rPr lang="el-GR" sz="2000" i="1" kern="0">
                <a:solidFill>
                  <a:srgbClr val="000000"/>
                </a:solidFill>
                <a:latin typeface="Arial"/>
              </a:rPr>
              <a:t>σ: </a:t>
            </a:r>
            <a:r>
              <a:rPr lang="en-US" sz="2000" i="1" kern="0">
                <a:solidFill>
                  <a:srgbClr val="000000"/>
                </a:solidFill>
                <a:latin typeface="Arial"/>
              </a:rPr>
              <a:t>Hàm kích hoạt</a:t>
            </a:r>
            <a:endParaRPr kumimoji="0" lang="en-US" sz="2000" b="0" i="1" u="none" strike="noStrike" kern="0" cap="none" spc="0" normalizeH="0" baseline="0" noProof="0">
              <a:ln>
                <a:noFill/>
              </a:ln>
              <a:solidFill>
                <a:srgbClr val="000000"/>
              </a:solidFill>
              <a:effectLst/>
              <a:uLnTx/>
              <a:uFillTx/>
              <a:latin typeface="Arial"/>
            </a:endParaRPr>
          </a:p>
        </p:txBody>
      </p:sp>
      <p:sp>
        <p:nvSpPr>
          <p:cNvPr id="7" name="Rectangle 25">
            <a:extLst>
              <a:ext uri="{FF2B5EF4-FFF2-40B4-BE49-F238E27FC236}">
                <a16:creationId xmlns:a16="http://schemas.microsoft.com/office/drawing/2014/main" id="{1AF30D5C-800B-8A7F-1E5F-562E87451238}"/>
              </a:ext>
            </a:extLst>
          </p:cNvPr>
          <p:cNvSpPr>
            <a:spLocks noChangeArrowheads="1"/>
          </p:cNvSpPr>
          <p:nvPr/>
        </p:nvSpPr>
        <p:spPr bwMode="black">
          <a:xfrm>
            <a:off x="3886200" y="2846287"/>
            <a:ext cx="2590800" cy="234365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vi-VN" sz="2000" kern="0">
                <a:solidFill>
                  <a:srgbClr val="0070C0"/>
                </a:solidFill>
                <a:latin typeface="Arial"/>
              </a:rPr>
              <a:t>Tính toán đầu ra:</a:t>
            </a:r>
            <a:endParaRPr lang="en-US" sz="2000" kern="0">
              <a:solidFill>
                <a:srgbClr val="0070C0"/>
              </a:solidFill>
              <a:latin typeface="Arial"/>
            </a:endParaRPr>
          </a:p>
          <a:p>
            <a:pPr lvl="0" algn="just" fontAlgn="auto">
              <a:lnSpc>
                <a:spcPct val="150000"/>
              </a:lnSpc>
              <a:spcBef>
                <a:spcPts val="0"/>
              </a:spcBef>
              <a:spcAft>
                <a:spcPts val="0"/>
              </a:spcAft>
              <a:defRPr/>
            </a:pPr>
            <a:r>
              <a:rPr lang="vi-VN" sz="2000" kern="0">
                <a:solidFill>
                  <a:srgbClr val="0070C0"/>
                </a:solidFill>
                <a:latin typeface="Arial"/>
              </a:rPr>
              <a:t>𝑌=</a:t>
            </a:r>
            <a:r>
              <a:rPr lang="en-US" sz="2000" kern="0">
                <a:solidFill>
                  <a:srgbClr val="0070C0"/>
                </a:solidFill>
                <a:latin typeface="Arial"/>
              </a:rPr>
              <a:t>  </a:t>
            </a:r>
            <a:r>
              <a:rPr lang="vi-VN" sz="2000" kern="0">
                <a:solidFill>
                  <a:srgbClr val="0070C0"/>
                </a:solidFill>
                <a:latin typeface="Arial"/>
              </a:rPr>
              <a:t>𝑂(𝑉⋅ℎ+𝐶)</a:t>
            </a:r>
            <a:endParaRPr lang="en-US" sz="2000" kern="0">
              <a:solidFill>
                <a:srgbClr val="0070C0"/>
              </a:solidFill>
              <a:latin typeface="Arial"/>
            </a:endParaRPr>
          </a:p>
          <a:p>
            <a:pPr lvl="0" algn="just" fontAlgn="auto">
              <a:lnSpc>
                <a:spcPct val="150000"/>
              </a:lnSpc>
              <a:spcBef>
                <a:spcPts val="0"/>
              </a:spcBef>
              <a:spcAft>
                <a:spcPts val="0"/>
              </a:spcAft>
              <a:defRPr/>
            </a:pPr>
            <a:r>
              <a:rPr lang="vi-VN" sz="2000" kern="0">
                <a:solidFill>
                  <a:srgbClr val="0070C0"/>
                </a:solidFill>
                <a:latin typeface="Arial"/>
              </a:rPr>
              <a:t>𝑉: Ma trận trọng số</a:t>
            </a:r>
            <a:endParaRPr lang="en-US" sz="2000" kern="0">
              <a:solidFill>
                <a:srgbClr val="0070C0"/>
              </a:solidFill>
              <a:latin typeface="Arial"/>
            </a:endParaRPr>
          </a:p>
          <a:p>
            <a:pPr lvl="0" algn="just" fontAlgn="auto">
              <a:lnSpc>
                <a:spcPct val="150000"/>
              </a:lnSpc>
              <a:spcBef>
                <a:spcPts val="0"/>
              </a:spcBef>
              <a:spcAft>
                <a:spcPts val="0"/>
              </a:spcAft>
              <a:defRPr/>
            </a:pPr>
            <a:r>
              <a:rPr lang="vi-VN" sz="2000" kern="0">
                <a:solidFill>
                  <a:srgbClr val="0070C0"/>
                </a:solidFill>
                <a:latin typeface="Arial"/>
              </a:rPr>
              <a:t>𝐶: </a:t>
            </a:r>
            <a:r>
              <a:rPr lang="en-US" sz="2000" kern="0">
                <a:solidFill>
                  <a:srgbClr val="0070C0"/>
                </a:solidFill>
                <a:latin typeface="Arial"/>
              </a:rPr>
              <a:t>Bias</a:t>
            </a:r>
          </a:p>
          <a:p>
            <a:pPr lvl="0" algn="just" fontAlgn="auto">
              <a:lnSpc>
                <a:spcPct val="150000"/>
              </a:lnSpc>
              <a:spcBef>
                <a:spcPts val="0"/>
              </a:spcBef>
              <a:spcAft>
                <a:spcPts val="0"/>
              </a:spcAft>
              <a:defRPr/>
            </a:pPr>
            <a:r>
              <a:rPr lang="vi-VN" sz="2000" kern="0">
                <a:solidFill>
                  <a:srgbClr val="0070C0"/>
                </a:solidFill>
                <a:latin typeface="Arial"/>
              </a:rPr>
              <a:t>𝑂: Hàm kích hoạt</a:t>
            </a:r>
            <a:endParaRPr kumimoji="0" lang="en-US" sz="2000" b="0" i="1" u="none" strike="noStrike" kern="0" cap="none" spc="0" normalizeH="0" baseline="0" noProof="0">
              <a:ln>
                <a:noFill/>
              </a:ln>
              <a:solidFill>
                <a:srgbClr val="000000"/>
              </a:solidFill>
              <a:effectLst/>
              <a:uLnTx/>
              <a:uFillTx/>
              <a:latin typeface="Arial"/>
            </a:endParaRPr>
          </a:p>
        </p:txBody>
      </p:sp>
      <p:sp>
        <p:nvSpPr>
          <p:cNvPr id="3" name="Rectangle 25">
            <a:extLst>
              <a:ext uri="{FF2B5EF4-FFF2-40B4-BE49-F238E27FC236}">
                <a16:creationId xmlns:a16="http://schemas.microsoft.com/office/drawing/2014/main" id="{994117D6-3280-5216-E061-72B18DC44A4C}"/>
              </a:ext>
            </a:extLst>
          </p:cNvPr>
          <p:cNvSpPr>
            <a:spLocks noChangeArrowheads="1"/>
          </p:cNvSpPr>
          <p:nvPr/>
        </p:nvSpPr>
        <p:spPr bwMode="black">
          <a:xfrm>
            <a:off x="6898218" y="2846287"/>
            <a:ext cx="5293781" cy="234365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vi-VN" sz="2000" kern="0">
                <a:solidFill>
                  <a:srgbClr val="0070C0"/>
                </a:solidFill>
                <a:latin typeface="Arial"/>
              </a:rPr>
              <a:t>Hàm tổng quát:</a:t>
            </a:r>
            <a:endParaRPr lang="en-US" sz="2000" kern="0">
              <a:solidFill>
                <a:srgbClr val="0070C0"/>
              </a:solidFill>
              <a:latin typeface="Arial"/>
            </a:endParaRPr>
          </a:p>
          <a:p>
            <a:pPr lvl="0" algn="just" fontAlgn="auto">
              <a:lnSpc>
                <a:spcPct val="150000"/>
              </a:lnSpc>
              <a:spcBef>
                <a:spcPts val="0"/>
              </a:spcBef>
              <a:spcAft>
                <a:spcPts val="0"/>
              </a:spcAft>
              <a:defRPr/>
            </a:pPr>
            <a:r>
              <a:rPr lang="vi-VN" sz="2000" kern="0">
                <a:solidFill>
                  <a:srgbClr val="0070C0"/>
                </a:solidFill>
                <a:latin typeface="Arial"/>
              </a:rPr>
              <a:t>𝑌</a:t>
            </a:r>
            <a:r>
              <a:rPr lang="en-US" sz="2000" kern="0">
                <a:solidFill>
                  <a:srgbClr val="0070C0"/>
                </a:solidFill>
                <a:latin typeface="Arial"/>
              </a:rPr>
              <a:t>  </a:t>
            </a:r>
            <a:r>
              <a:rPr lang="vi-VN" sz="2000" kern="0">
                <a:solidFill>
                  <a:srgbClr val="0070C0"/>
                </a:solidFill>
                <a:latin typeface="Arial"/>
              </a:rPr>
              <a:t>=𝑓(𝑋,ℎ,𝑊,𝑈,𝑉,𝐵,𝐶) định nghĩa toàn bộ hoạt động của RNN</a:t>
            </a:r>
            <a:endParaRPr lang="en-US" sz="2000" kern="0">
              <a:solidFill>
                <a:srgbClr val="0070C0"/>
              </a:solidFill>
              <a:latin typeface="Arial"/>
            </a:endParaRPr>
          </a:p>
          <a:p>
            <a:pPr lvl="0" algn="just" fontAlgn="auto">
              <a:lnSpc>
                <a:spcPct val="150000"/>
              </a:lnSpc>
              <a:spcBef>
                <a:spcPts val="0"/>
              </a:spcBef>
              <a:spcAft>
                <a:spcPts val="0"/>
              </a:spcAft>
              <a:defRPr/>
            </a:pPr>
            <a:r>
              <a:rPr lang="vi-VN" sz="2000" kern="0">
                <a:solidFill>
                  <a:srgbClr val="0070C0"/>
                </a:solidFill>
                <a:latin typeface="Arial"/>
              </a:rPr>
              <a:t>Ma trận trạng thái 𝑆: Lưu trữ trạng thái của mạng tại mỗi bước thời gian</a:t>
            </a:r>
            <a:endParaRPr kumimoji="0" lang="en-US" sz="2000" b="0" i="1" u="none" strike="noStrike" kern="0" cap="none" spc="0" normalizeH="0" baseline="0" noProof="0">
              <a:ln>
                <a:noFill/>
              </a:ln>
              <a:solidFill>
                <a:srgbClr val="000000"/>
              </a:solidFill>
              <a:effectLst/>
              <a:uLnTx/>
              <a:uFillTx/>
              <a:latin typeface="Arial"/>
            </a:endParaRPr>
          </a:p>
        </p:txBody>
      </p:sp>
      <p:sp>
        <p:nvSpPr>
          <p:cNvPr id="6" name="Rectangle 25">
            <a:extLst>
              <a:ext uri="{FF2B5EF4-FFF2-40B4-BE49-F238E27FC236}">
                <a16:creationId xmlns:a16="http://schemas.microsoft.com/office/drawing/2014/main" id="{59655492-725A-2EC7-2D5E-EEE07885D6BF}"/>
              </a:ext>
            </a:extLst>
          </p:cNvPr>
          <p:cNvSpPr>
            <a:spLocks noChangeArrowheads="1"/>
          </p:cNvSpPr>
          <p:nvPr/>
        </p:nvSpPr>
        <p:spPr bwMode="black">
          <a:xfrm>
            <a:off x="2" y="5132875"/>
            <a:ext cx="12191998" cy="142032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vi-VN" sz="2000" kern="0">
                <a:solidFill>
                  <a:srgbClr val="0070C0"/>
                </a:solidFill>
                <a:latin typeface="Arial"/>
              </a:rPr>
              <a:t>Ma trận trạng thái 𝑆 lưu giữ tất cả các trạng thái ẩn ℎ</a:t>
            </a:r>
            <a:r>
              <a:rPr lang="vi-VN" sz="2000" kern="0" baseline="-25000">
                <a:solidFill>
                  <a:srgbClr val="0070C0"/>
                </a:solidFill>
                <a:latin typeface="Arial"/>
              </a:rPr>
              <a:t>𝑡</a:t>
            </a:r>
            <a:r>
              <a:rPr lang="vi-VN" sz="2000" kern="0">
                <a:solidFill>
                  <a:srgbClr val="0070C0"/>
                </a:solidFill>
                <a:latin typeface="Arial"/>
              </a:rPr>
              <a:t>​  tại mỗi bước thời gian 𝑡</a:t>
            </a:r>
            <a:r>
              <a:rPr lang="en-US" sz="2000" kern="0">
                <a:solidFill>
                  <a:srgbClr val="0070C0"/>
                </a:solidFill>
                <a:latin typeface="Arial"/>
              </a:rPr>
              <a:t> </a:t>
            </a:r>
            <a:r>
              <a:rPr lang="en-US" sz="2000" kern="0">
                <a:solidFill>
                  <a:srgbClr val="000000"/>
                </a:solidFill>
                <a:latin typeface="Arial"/>
              </a:rPr>
              <a:t>→ </a:t>
            </a:r>
            <a:r>
              <a:rPr lang="vi-VN" sz="2000" kern="0">
                <a:solidFill>
                  <a:srgbClr val="FF0000"/>
                </a:solidFill>
                <a:latin typeface="Arial"/>
              </a:rPr>
              <a:t>S</a:t>
            </a:r>
            <a:r>
              <a:rPr lang="en-US" sz="2000" kern="0">
                <a:solidFill>
                  <a:srgbClr val="FF0000"/>
                </a:solidFill>
                <a:latin typeface="Arial"/>
              </a:rPr>
              <a:t> </a:t>
            </a:r>
            <a:r>
              <a:rPr lang="vi-VN" sz="2000" kern="0">
                <a:solidFill>
                  <a:srgbClr val="FF0000"/>
                </a:solidFill>
                <a:latin typeface="Arial"/>
              </a:rPr>
              <a:t>=</a:t>
            </a:r>
            <a:r>
              <a:rPr lang="en-US" sz="2000" kern="0">
                <a:solidFill>
                  <a:srgbClr val="FF0000"/>
                </a:solidFill>
                <a:latin typeface="Arial"/>
              </a:rPr>
              <a:t> </a:t>
            </a:r>
            <a:r>
              <a:rPr lang="vi-VN" sz="2000" kern="0">
                <a:solidFill>
                  <a:srgbClr val="FF0000"/>
                </a:solidFill>
                <a:latin typeface="Arial"/>
              </a:rPr>
              <a:t>{h</a:t>
            </a:r>
            <a:r>
              <a:rPr lang="vi-VN" sz="2000" kern="0" baseline="-25000">
                <a:solidFill>
                  <a:srgbClr val="FF0000"/>
                </a:solidFill>
                <a:latin typeface="Arial"/>
              </a:rPr>
              <a:t>1</a:t>
            </a:r>
            <a:r>
              <a:rPr lang="vi-VN" sz="2000" kern="0">
                <a:solidFill>
                  <a:srgbClr val="FF0000"/>
                </a:solidFill>
                <a:latin typeface="Arial"/>
              </a:rPr>
              <a:t>​,</a:t>
            </a:r>
            <a:r>
              <a:rPr lang="en-US" sz="2000" kern="0">
                <a:solidFill>
                  <a:srgbClr val="FF0000"/>
                </a:solidFill>
                <a:latin typeface="Arial"/>
              </a:rPr>
              <a:t> </a:t>
            </a:r>
            <a:r>
              <a:rPr lang="vi-VN" sz="2000" kern="0">
                <a:solidFill>
                  <a:srgbClr val="FF0000"/>
                </a:solidFill>
                <a:latin typeface="Arial"/>
              </a:rPr>
              <a:t>h</a:t>
            </a:r>
            <a:r>
              <a:rPr lang="vi-VN" sz="2000" kern="0" baseline="-25000">
                <a:solidFill>
                  <a:srgbClr val="FF0000"/>
                </a:solidFill>
                <a:latin typeface="Arial"/>
              </a:rPr>
              <a:t>2</a:t>
            </a:r>
            <a:r>
              <a:rPr lang="vi-VN" sz="2000" kern="0">
                <a:solidFill>
                  <a:srgbClr val="FF0000"/>
                </a:solidFill>
                <a:latin typeface="Arial"/>
              </a:rPr>
              <a:t>​,…,</a:t>
            </a:r>
            <a:r>
              <a:rPr lang="en-US" sz="2000" kern="0">
                <a:solidFill>
                  <a:srgbClr val="FF0000"/>
                </a:solidFill>
                <a:latin typeface="Arial"/>
              </a:rPr>
              <a:t> </a:t>
            </a:r>
            <a:r>
              <a:rPr lang="vi-VN" sz="2000" kern="0">
                <a:solidFill>
                  <a:srgbClr val="FF0000"/>
                </a:solidFill>
                <a:latin typeface="Arial"/>
              </a:rPr>
              <a:t>h</a:t>
            </a:r>
            <a:r>
              <a:rPr lang="vi-VN" sz="2000" kern="0" baseline="-25000">
                <a:solidFill>
                  <a:srgbClr val="FF0000"/>
                </a:solidFill>
                <a:latin typeface="Arial"/>
              </a:rPr>
              <a:t>T</a:t>
            </a:r>
            <a:r>
              <a:rPr lang="vi-VN" sz="2000" kern="0">
                <a:solidFill>
                  <a:srgbClr val="FF0000"/>
                </a:solidFill>
                <a:latin typeface="Arial"/>
              </a:rPr>
              <a:t>​}</a:t>
            </a:r>
            <a:r>
              <a:rPr lang="vi-VN" sz="2000" kern="0">
                <a:solidFill>
                  <a:srgbClr val="0070C0"/>
                </a:solidFill>
                <a:latin typeface="Arial"/>
              </a:rPr>
              <a:t>, với 𝑇</a:t>
            </a:r>
            <a:r>
              <a:rPr lang="en-US" sz="2000" kern="0">
                <a:solidFill>
                  <a:srgbClr val="0070C0"/>
                </a:solidFill>
                <a:latin typeface="Arial"/>
              </a:rPr>
              <a:t> </a:t>
            </a:r>
            <a:r>
              <a:rPr lang="vi-VN" sz="2000" kern="0">
                <a:solidFill>
                  <a:srgbClr val="0070C0"/>
                </a:solidFill>
                <a:latin typeface="Arial"/>
              </a:rPr>
              <a:t>là số bước thời gian trong chuỗi</a:t>
            </a:r>
            <a:endParaRPr lang="en-US" sz="2000" kern="0">
              <a:solidFill>
                <a:srgbClr val="0070C0"/>
              </a:solidFill>
              <a:latin typeface="Arial"/>
            </a:endParaRPr>
          </a:p>
          <a:p>
            <a:pPr marL="342900" lvl="0" indent="-342900" algn="just" fontAlgn="auto">
              <a:lnSpc>
                <a:spcPct val="150000"/>
              </a:lnSpc>
              <a:spcBef>
                <a:spcPts val="0"/>
              </a:spcBef>
              <a:spcAft>
                <a:spcPts val="0"/>
              </a:spcAft>
              <a:buFont typeface="Wingdings" panose="05000000000000000000" pitchFamily="2" charset="2"/>
              <a:buChar char="v"/>
              <a:defRPr/>
            </a:pPr>
            <a:r>
              <a:rPr lang="vi-VN" sz="2000" i="1" kern="0">
                <a:solidFill>
                  <a:srgbClr val="000000"/>
                </a:solidFill>
                <a:latin typeface="Arial"/>
              </a:rPr>
              <a:t>Mỗi ℎ</a:t>
            </a:r>
            <a:r>
              <a:rPr lang="vi-VN" sz="2000" i="1" kern="0" baseline="-25000">
                <a:solidFill>
                  <a:srgbClr val="000000"/>
                </a:solidFill>
                <a:latin typeface="Arial"/>
              </a:rPr>
              <a:t>𝑡</a:t>
            </a:r>
            <a:r>
              <a:rPr lang="vi-VN" sz="2000" i="1" kern="0">
                <a:solidFill>
                  <a:srgbClr val="000000"/>
                </a:solidFill>
                <a:latin typeface="Arial"/>
              </a:rPr>
              <a:t> được tính từ công thức</a:t>
            </a:r>
            <a:endParaRPr kumimoji="0" lang="en-US" sz="2000" b="0" i="1" u="none" strike="noStrike" kern="0" cap="none" spc="0" normalizeH="0" baseline="0" noProof="0">
              <a:ln>
                <a:noFill/>
              </a:ln>
              <a:solidFill>
                <a:srgbClr val="000000"/>
              </a:solidFill>
              <a:effectLst/>
              <a:uLnTx/>
              <a:uFillTx/>
              <a:latin typeface="Arial"/>
            </a:endParaRPr>
          </a:p>
        </p:txBody>
      </p:sp>
      <p:cxnSp>
        <p:nvCxnSpPr>
          <p:cNvPr id="10" name="Straight Arrow Connector 9">
            <a:extLst>
              <a:ext uri="{FF2B5EF4-FFF2-40B4-BE49-F238E27FC236}">
                <a16:creationId xmlns:a16="http://schemas.microsoft.com/office/drawing/2014/main" id="{2880A429-9A96-F8B8-0308-625BBB77A64E}"/>
              </a:ext>
            </a:extLst>
          </p:cNvPr>
          <p:cNvCxnSpPr/>
          <p:nvPr/>
        </p:nvCxnSpPr>
        <p:spPr>
          <a:xfrm flipH="1">
            <a:off x="2590800" y="3429000"/>
            <a:ext cx="1066800" cy="1524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53326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randombar(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randombar(horizontal)">
                                      <p:cBhvr>
                                        <p:cTn id="27" dur="500"/>
                                        <p:tgtEl>
                                          <p:spTgt spid="6"/>
                                        </p:tgtEl>
                                      </p:cBhvr>
                                    </p:animEffect>
                                  </p:childTnLst>
                                </p:cTn>
                              </p:par>
                              <p:par>
                                <p:cTn id="28" presetID="14" presetClass="entr" presetSubtype="1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randombar(horizontal)">
                                      <p:cBhvr>
                                        <p:cTn id="3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3"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BBFCF-EAB3-7056-EDB9-D52A506906BF}"/>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30ACBF6E-E292-CEFD-B963-1815DCA3F1F3}"/>
              </a:ext>
            </a:extLst>
          </p:cNvPr>
          <p:cNvSpPr>
            <a:spLocks noGrp="1" noChangeArrowheads="1"/>
          </p:cNvSpPr>
          <p:nvPr>
            <p:ph type="title"/>
          </p:nvPr>
        </p:nvSpPr>
        <p:spPr/>
        <p:txBody>
          <a:bodyPr/>
          <a:lstStyle/>
          <a:p>
            <a:r>
              <a:rPr lang="en-US" sz="3200"/>
              <a:t>Cấu trúc </a:t>
            </a:r>
            <a:r>
              <a:rPr lang="vi-VN" sz="3200"/>
              <a:t>của RNN</a:t>
            </a:r>
            <a:endParaRPr lang="en-US" sz="3200" dirty="0"/>
          </a:p>
        </p:txBody>
      </p:sp>
      <p:sp>
        <p:nvSpPr>
          <p:cNvPr id="2" name="Slide Number Placeholder 1">
            <a:extLst>
              <a:ext uri="{FF2B5EF4-FFF2-40B4-BE49-F238E27FC236}">
                <a16:creationId xmlns:a16="http://schemas.microsoft.com/office/drawing/2014/main" id="{6BD08DF4-AA50-29B7-15F0-368AE3D3A74D}"/>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Rectangle 25">
            <a:extLst>
              <a:ext uri="{FF2B5EF4-FFF2-40B4-BE49-F238E27FC236}">
                <a16:creationId xmlns:a16="http://schemas.microsoft.com/office/drawing/2014/main" id="{ABA028BA-67B1-3DBC-CAFD-9A5E4140F328}"/>
              </a:ext>
            </a:extLst>
          </p:cNvPr>
          <p:cNvSpPr>
            <a:spLocks noChangeArrowheads="1"/>
          </p:cNvSpPr>
          <p:nvPr/>
        </p:nvSpPr>
        <p:spPr bwMode="black">
          <a:xfrm>
            <a:off x="0" y="1094201"/>
            <a:ext cx="12191999" cy="496996"/>
          </a:xfrm>
          <a:prstGeom prst="rect">
            <a:avLst/>
          </a:prstGeom>
          <a:noFill/>
          <a:ln w="9525" algn="ctr">
            <a:noFill/>
            <a:miter lim="800000"/>
            <a:headEnd/>
            <a:tailEnd/>
          </a:ln>
          <a:effectLst/>
        </p:spPr>
        <p:txBody>
          <a:bodyPr wrap="square">
            <a:spAutoFit/>
          </a:bodyPr>
          <a:lstStyle/>
          <a:p>
            <a:pPr marR="0" lvl="0" algn="just" defTabSz="914400" rtl="0" eaLnBrk="1" fontAlgn="auto" latinLnBrk="0" hangingPunct="1">
              <a:lnSpc>
                <a:spcPct val="150000"/>
              </a:lnSpc>
              <a:spcBef>
                <a:spcPts val="0"/>
              </a:spcBef>
              <a:spcAft>
                <a:spcPts val="0"/>
              </a:spcAft>
              <a:buClrTx/>
              <a:buSzTx/>
              <a:tabLst/>
              <a:defRPr/>
            </a:pPr>
            <a:r>
              <a:rPr kumimoji="0" lang="en-US" sz="2000" b="0" i="0" u="none" strike="noStrike" kern="0" cap="none" spc="0" normalizeH="0" baseline="0" noProof="0">
                <a:ln>
                  <a:noFill/>
                </a:ln>
                <a:solidFill>
                  <a:srgbClr val="000000"/>
                </a:solidFill>
                <a:effectLst/>
                <a:uLnTx/>
                <a:uFillTx/>
                <a:latin typeface="Arial"/>
                <a:ea typeface="+mn-ea"/>
                <a:cs typeface="+mn-cs"/>
              </a:rPr>
              <a:t>Ví dụ:  </a:t>
            </a:r>
          </a:p>
        </p:txBody>
      </p:sp>
      <p:pic>
        <p:nvPicPr>
          <p:cNvPr id="11" name="Picture 10">
            <a:extLst>
              <a:ext uri="{FF2B5EF4-FFF2-40B4-BE49-F238E27FC236}">
                <a16:creationId xmlns:a16="http://schemas.microsoft.com/office/drawing/2014/main" id="{B2CE6700-E5C0-B34D-A7B2-0DA94152B713}"/>
              </a:ext>
            </a:extLst>
          </p:cNvPr>
          <p:cNvPicPr>
            <a:picLocks noChangeAspect="1"/>
          </p:cNvPicPr>
          <p:nvPr/>
        </p:nvPicPr>
        <p:blipFill>
          <a:blip r:embed="rId3"/>
          <a:stretch>
            <a:fillRect/>
          </a:stretch>
        </p:blipFill>
        <p:spPr>
          <a:xfrm>
            <a:off x="19334" y="1591197"/>
            <a:ext cx="7776974" cy="3895203"/>
          </a:xfrm>
          <a:prstGeom prst="rect">
            <a:avLst/>
          </a:prstGeom>
        </p:spPr>
      </p:pic>
      <mc:AlternateContent xmlns:mc="http://schemas.openxmlformats.org/markup-compatibility/2006" xmlns:a14="http://schemas.microsoft.com/office/drawing/2010/main">
        <mc:Choice Requires="a14">
          <p:sp>
            <p:nvSpPr>
              <p:cNvPr id="12" name="Rectangle 25">
                <a:extLst>
                  <a:ext uri="{FF2B5EF4-FFF2-40B4-BE49-F238E27FC236}">
                    <a16:creationId xmlns:a16="http://schemas.microsoft.com/office/drawing/2014/main" id="{721F6A38-F325-090C-5145-E6C61BE52A9C}"/>
                  </a:ext>
                </a:extLst>
              </p:cNvPr>
              <p:cNvSpPr>
                <a:spLocks noChangeArrowheads="1"/>
              </p:cNvSpPr>
              <p:nvPr/>
            </p:nvSpPr>
            <p:spPr bwMode="black">
              <a:xfrm>
                <a:off x="19335" y="5446604"/>
                <a:ext cx="4324066" cy="496996"/>
              </a:xfrm>
              <a:prstGeom prst="rect">
                <a:avLst/>
              </a:prstGeom>
              <a:noFill/>
              <a:ln w="9525" algn="ctr">
                <a:noFill/>
                <a:miter lim="800000"/>
                <a:headEnd/>
                <a:tailEnd/>
              </a:ln>
              <a:effectLst/>
            </p:spPr>
            <p:txBody>
              <a:bodyPr wrap="square">
                <a:spAutoFit/>
              </a:bodyPr>
              <a:lstStyle/>
              <a:p>
                <a:pPr marR="0" lvl="0" algn="just" defTabSz="914400" rtl="0" eaLnBrk="1" fontAlgn="auto" latinLnBrk="0" hangingPunct="1">
                  <a:lnSpc>
                    <a:spcPct val="150000"/>
                  </a:lnSpc>
                  <a:spcBef>
                    <a:spcPts val="0"/>
                  </a:spcBef>
                  <a:spcAft>
                    <a:spcPts val="0"/>
                  </a:spcAft>
                  <a:buClrTx/>
                  <a:buSzTx/>
                  <a:tabLst/>
                  <a:defRPr/>
                </a:pPr>
                <a:r>
                  <a:rPr kumimoji="0" lang="en-US" sz="2000" b="0" u="none" strike="noStrike" kern="0" cap="none" spc="0" normalizeH="0" baseline="0" noProof="0">
                    <a:ln>
                      <a:noFill/>
                    </a:ln>
                    <a:solidFill>
                      <a:srgbClr val="000000"/>
                    </a:solidFill>
                    <a:effectLst/>
                    <a:uLnTx/>
                    <a:uFillTx/>
                    <a:ea typeface="Cambria Math" panose="02040503050406030204" pitchFamily="18" charset="0"/>
                  </a:rPr>
                  <a:t>Hàm</a:t>
                </a:r>
                <a:r>
                  <a:rPr kumimoji="0" lang="en-US" sz="2000" b="0" u="none" strike="noStrike" kern="0" cap="none" spc="0" normalizeH="0" noProof="0">
                    <a:ln>
                      <a:noFill/>
                    </a:ln>
                    <a:solidFill>
                      <a:srgbClr val="000000"/>
                    </a:solidFill>
                    <a:effectLst/>
                    <a:uLnTx/>
                    <a:uFillTx/>
                    <a:ea typeface="Cambria Math" panose="02040503050406030204" pitchFamily="18" charset="0"/>
                  </a:rPr>
                  <a:t> kích hoạt: </a:t>
                </a:r>
                <a14:m>
                  <m:oMath xmlns:m="http://schemas.openxmlformats.org/officeDocument/2006/math">
                    <m:r>
                      <a:rPr kumimoji="0" lang="el-GR" sz="20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𝜎</m:t>
                    </m:r>
                    <m:d>
                      <m:dPr>
                        <m:ctrlPr>
                          <a:rPr kumimoji="0" lang="en-US" sz="20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ctrlPr>
                      </m:dPr>
                      <m:e>
                        <m:r>
                          <a:rPr kumimoji="0" lang="en-US" sz="20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𝑥</m:t>
                        </m:r>
                      </m:e>
                    </m:d>
                    <m:r>
                      <a:rPr kumimoji="0" lang="en-US" sz="20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r>
                      <a:rPr kumimoji="0" lang="en-US" sz="20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𝑟𝑒𝑙𝑢</m:t>
                    </m:r>
                    <m:r>
                      <a:rPr kumimoji="0" lang="en-US" sz="20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r>
                      <a:rPr kumimoji="0" lang="en-US" sz="20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𝑥</m:t>
                    </m:r>
                    <m:r>
                      <a:rPr kumimoji="0" lang="en-US" sz="20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oMath>
                </a14:m>
                <a:endParaRPr kumimoji="0" lang="en-US" sz="2000" b="0" i="1" u="none" strike="noStrike" kern="0" cap="none" spc="0" normalizeH="0" baseline="0" noProof="0">
                  <a:ln>
                    <a:noFill/>
                  </a:ln>
                  <a:solidFill>
                    <a:srgbClr val="000000"/>
                  </a:solidFill>
                  <a:effectLst/>
                  <a:uLnTx/>
                  <a:uFillTx/>
                  <a:latin typeface="Arial"/>
                </a:endParaRPr>
              </a:p>
            </p:txBody>
          </p:sp>
        </mc:Choice>
        <mc:Fallback xmlns="">
          <p:sp>
            <p:nvSpPr>
              <p:cNvPr id="12" name="Rectangle 25">
                <a:extLst>
                  <a:ext uri="{FF2B5EF4-FFF2-40B4-BE49-F238E27FC236}">
                    <a16:creationId xmlns:a16="http://schemas.microsoft.com/office/drawing/2014/main" id="{721F6A38-F325-090C-5145-E6C61BE52A9C}"/>
                  </a:ext>
                </a:extLst>
              </p:cNvPr>
              <p:cNvSpPr>
                <a:spLocks noRot="1" noChangeAspect="1" noMove="1" noResize="1" noEditPoints="1" noAdjustHandles="1" noChangeArrowheads="1" noChangeShapeType="1" noTextEdit="1"/>
              </p:cNvSpPr>
              <p:nvPr/>
            </p:nvSpPr>
            <p:spPr bwMode="black">
              <a:xfrm>
                <a:off x="19335" y="5446604"/>
                <a:ext cx="4324066" cy="496996"/>
              </a:xfrm>
              <a:prstGeom prst="rect">
                <a:avLst/>
              </a:prstGeom>
              <a:blipFill>
                <a:blip r:embed="rId4"/>
                <a:stretch>
                  <a:fillRect l="-1408" b="-20732"/>
                </a:stretch>
              </a:blipFill>
              <a:ln w="9525" algn="ctr">
                <a:noFill/>
                <a:miter lim="800000"/>
                <a:headEnd/>
                <a:tailEnd/>
              </a:ln>
              <a:effectLst/>
            </p:spPr>
            <p:txBody>
              <a:bodyPr/>
              <a:lstStyle/>
              <a:p>
                <a:r>
                  <a:rPr lang="en-US">
                    <a:noFill/>
                  </a:rPr>
                  <a:t> </a:t>
                </a:r>
              </a:p>
            </p:txBody>
          </p:sp>
        </mc:Fallback>
      </mc:AlternateContent>
    </p:spTree>
    <p:extLst>
      <p:ext uri="{BB962C8B-B14F-4D97-AF65-F5344CB8AC3E}">
        <p14:creationId xmlns:p14="http://schemas.microsoft.com/office/powerpoint/2010/main" val="12551093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B4A58-AEB1-2CF9-4EA0-E3E2B6198508}"/>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EFB0C351-B9B0-BB21-598B-3B2BD2E3EB2D}"/>
              </a:ext>
            </a:extLst>
          </p:cNvPr>
          <p:cNvSpPr>
            <a:spLocks noGrp="1" noChangeArrowheads="1"/>
          </p:cNvSpPr>
          <p:nvPr>
            <p:ph type="title"/>
          </p:nvPr>
        </p:nvSpPr>
        <p:spPr/>
        <p:txBody>
          <a:bodyPr/>
          <a:lstStyle/>
          <a:p>
            <a:r>
              <a:rPr lang="en-US" sz="3200"/>
              <a:t>Cấu trúc </a:t>
            </a:r>
            <a:r>
              <a:rPr lang="vi-VN" sz="3200"/>
              <a:t>của RNN</a:t>
            </a:r>
            <a:endParaRPr lang="en-US" sz="3200" dirty="0"/>
          </a:p>
        </p:txBody>
      </p:sp>
      <p:sp>
        <p:nvSpPr>
          <p:cNvPr id="2" name="Slide Number Placeholder 1">
            <a:extLst>
              <a:ext uri="{FF2B5EF4-FFF2-40B4-BE49-F238E27FC236}">
                <a16:creationId xmlns:a16="http://schemas.microsoft.com/office/drawing/2014/main" id="{D8FCC3A7-3A6D-7ACB-5B5E-8A17F42C451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Rectangle 25">
            <a:extLst>
              <a:ext uri="{FF2B5EF4-FFF2-40B4-BE49-F238E27FC236}">
                <a16:creationId xmlns:a16="http://schemas.microsoft.com/office/drawing/2014/main" id="{069A5850-21DA-0845-6C1F-109F2CB65133}"/>
              </a:ext>
            </a:extLst>
          </p:cNvPr>
          <p:cNvSpPr>
            <a:spLocks noChangeArrowheads="1"/>
          </p:cNvSpPr>
          <p:nvPr/>
        </p:nvSpPr>
        <p:spPr bwMode="black">
          <a:xfrm>
            <a:off x="0" y="1094201"/>
            <a:ext cx="12191999" cy="496996"/>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kumimoji="0" lang="en-US" sz="2000" b="0" i="0" u="none" strike="noStrike" kern="0" cap="none" spc="0" normalizeH="0" baseline="0" noProof="0">
                <a:ln>
                  <a:noFill/>
                </a:ln>
                <a:solidFill>
                  <a:srgbClr val="0070C0"/>
                </a:solidFill>
                <a:effectLst/>
                <a:uLnTx/>
                <a:uFillTx/>
                <a:latin typeface="Arial"/>
                <a:ea typeface="+mn-ea"/>
                <a:cs typeface="+mn-cs"/>
              </a:rPr>
              <a:t>Tính trạng thái ẩn ℎ</a:t>
            </a:r>
            <a:r>
              <a:rPr kumimoji="0" lang="en-US" sz="2000" b="0" i="0" u="none" strike="noStrike" kern="0" cap="none" spc="0" normalizeH="0" baseline="-25000" noProof="0">
                <a:ln>
                  <a:noFill/>
                </a:ln>
                <a:solidFill>
                  <a:srgbClr val="0070C0"/>
                </a:solidFill>
                <a:effectLst/>
                <a:uLnTx/>
                <a:uFillTx/>
                <a:latin typeface="Arial"/>
                <a:ea typeface="+mn-ea"/>
                <a:cs typeface="+mn-cs"/>
              </a:rPr>
              <a:t>𝑡</a:t>
            </a:r>
            <a:r>
              <a:rPr lang="en-US" sz="2000" kern="0">
                <a:solidFill>
                  <a:srgbClr val="0070C0"/>
                </a:solidFill>
                <a:latin typeface="Arial"/>
              </a:rPr>
              <a:t>​: </a:t>
            </a:r>
            <a:r>
              <a:rPr lang="en-US" sz="2000" i="1" kern="0">
                <a:solidFill>
                  <a:srgbClr val="000000"/>
                </a:solidFill>
                <a:latin typeface="Arial"/>
              </a:rPr>
              <a:t>h</a:t>
            </a:r>
            <a:r>
              <a:rPr lang="en-US" sz="2000" i="1" kern="0" baseline="-25000">
                <a:solidFill>
                  <a:srgbClr val="000000"/>
                </a:solidFill>
                <a:latin typeface="Arial"/>
              </a:rPr>
              <a:t>t</a:t>
            </a:r>
            <a:r>
              <a:rPr lang="en-US" sz="2000" i="1" kern="0">
                <a:solidFill>
                  <a:srgbClr val="000000"/>
                </a:solidFill>
                <a:latin typeface="Arial"/>
              </a:rPr>
              <a:t>​ = </a:t>
            </a:r>
            <a:r>
              <a:rPr lang="en-US" sz="2000" kern="0">
                <a:solidFill>
                  <a:srgbClr val="000000"/>
                </a:solidFill>
                <a:latin typeface="Arial"/>
              </a:rPr>
              <a:t>ReLU</a:t>
            </a:r>
            <a:r>
              <a:rPr lang="en-US" sz="2000" i="1" kern="0">
                <a:solidFill>
                  <a:srgbClr val="000000"/>
                </a:solidFill>
                <a:latin typeface="Arial"/>
              </a:rPr>
              <a:t>(U.X</a:t>
            </a:r>
            <a:r>
              <a:rPr lang="en-US" sz="2000" i="1" kern="0" baseline="-25000">
                <a:solidFill>
                  <a:srgbClr val="000000"/>
                </a:solidFill>
                <a:latin typeface="Arial"/>
              </a:rPr>
              <a:t>t</a:t>
            </a:r>
            <a:r>
              <a:rPr lang="en-US" sz="2000" i="1" kern="0">
                <a:solidFill>
                  <a:srgbClr val="000000"/>
                </a:solidFill>
                <a:latin typeface="Arial"/>
              </a:rPr>
              <a:t>​ +W.h</a:t>
            </a:r>
            <a:r>
              <a:rPr lang="en-US" sz="2000" i="1" kern="0" baseline="-25000">
                <a:solidFill>
                  <a:srgbClr val="000000"/>
                </a:solidFill>
                <a:latin typeface="Arial"/>
              </a:rPr>
              <a:t>t−1</a:t>
            </a:r>
            <a:r>
              <a:rPr lang="en-US" sz="2000" i="1" kern="0">
                <a:solidFill>
                  <a:srgbClr val="000000"/>
                </a:solidFill>
                <a:latin typeface="Arial"/>
              </a:rPr>
              <a:t>​ + B) </a:t>
            </a:r>
            <a:endParaRPr kumimoji="0" lang="en-US" sz="2000" b="0" i="1" u="none" strike="noStrike" kern="0" cap="none" spc="0" normalizeH="0" baseline="0" noProof="0">
              <a:ln>
                <a:noFill/>
              </a:ln>
              <a:solidFill>
                <a:srgbClr val="000000"/>
              </a:solidFill>
              <a:effectLst/>
              <a:uLnTx/>
              <a:uFillTx/>
              <a:latin typeface="Arial"/>
            </a:endParaRPr>
          </a:p>
        </p:txBody>
      </p:sp>
      <p:sp>
        <p:nvSpPr>
          <p:cNvPr id="8" name="Rectangle 25">
            <a:extLst>
              <a:ext uri="{FF2B5EF4-FFF2-40B4-BE49-F238E27FC236}">
                <a16:creationId xmlns:a16="http://schemas.microsoft.com/office/drawing/2014/main" id="{064760E2-DB92-4F6C-3B9E-B6B630AF5EA4}"/>
              </a:ext>
            </a:extLst>
          </p:cNvPr>
          <p:cNvSpPr>
            <a:spLocks noChangeArrowheads="1"/>
          </p:cNvSpPr>
          <p:nvPr/>
        </p:nvSpPr>
        <p:spPr bwMode="black">
          <a:xfrm>
            <a:off x="1" y="1636604"/>
            <a:ext cx="12191999" cy="496996"/>
          </a:xfrm>
          <a:prstGeom prst="rect">
            <a:avLst/>
          </a:prstGeom>
          <a:noFill/>
          <a:ln w="9525" algn="ctr">
            <a:noFill/>
            <a:miter lim="800000"/>
            <a:headEnd/>
            <a:tailEnd/>
          </a:ln>
          <a:effectLst/>
        </p:spPr>
        <p:txBody>
          <a:bodyPr wrap="square">
            <a:spAutoFit/>
          </a:bodyPr>
          <a:lstStyle/>
          <a:p>
            <a:pPr lvl="0" algn="just" fontAlgn="auto">
              <a:lnSpc>
                <a:spcPct val="150000"/>
              </a:lnSpc>
              <a:spcBef>
                <a:spcPts val="0"/>
              </a:spcBef>
              <a:spcAft>
                <a:spcPts val="0"/>
              </a:spcAft>
              <a:defRPr/>
            </a:pPr>
            <a:r>
              <a:rPr lang="en-US" sz="2000" kern="0">
                <a:solidFill>
                  <a:srgbClr val="0070C0"/>
                </a:solidFill>
                <a:latin typeface="Arial"/>
              </a:rPr>
              <a:t>Tính từng thành phần:</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pic>
        <p:nvPicPr>
          <p:cNvPr id="12" name="Picture 11">
            <a:extLst>
              <a:ext uri="{FF2B5EF4-FFF2-40B4-BE49-F238E27FC236}">
                <a16:creationId xmlns:a16="http://schemas.microsoft.com/office/drawing/2014/main" id="{0C2CB93E-8470-6A82-268A-04A76D876DC2}"/>
              </a:ext>
            </a:extLst>
          </p:cNvPr>
          <p:cNvPicPr>
            <a:picLocks noChangeAspect="1"/>
          </p:cNvPicPr>
          <p:nvPr/>
        </p:nvPicPr>
        <p:blipFill>
          <a:blip r:embed="rId3"/>
          <a:stretch>
            <a:fillRect/>
          </a:stretch>
        </p:blipFill>
        <p:spPr>
          <a:xfrm>
            <a:off x="76200" y="2219325"/>
            <a:ext cx="4095750" cy="828675"/>
          </a:xfrm>
          <a:prstGeom prst="rect">
            <a:avLst/>
          </a:prstGeom>
        </p:spPr>
      </p:pic>
      <p:pic>
        <p:nvPicPr>
          <p:cNvPr id="14" name="Picture 13">
            <a:extLst>
              <a:ext uri="{FF2B5EF4-FFF2-40B4-BE49-F238E27FC236}">
                <a16:creationId xmlns:a16="http://schemas.microsoft.com/office/drawing/2014/main" id="{A0ED3EE1-EE31-3E6F-EFDB-823F07FBC223}"/>
              </a:ext>
            </a:extLst>
          </p:cNvPr>
          <p:cNvPicPr>
            <a:picLocks noChangeAspect="1"/>
          </p:cNvPicPr>
          <p:nvPr/>
        </p:nvPicPr>
        <p:blipFill>
          <a:blip r:embed="rId4"/>
          <a:stretch>
            <a:fillRect/>
          </a:stretch>
        </p:blipFill>
        <p:spPr>
          <a:xfrm>
            <a:off x="4558921" y="2228850"/>
            <a:ext cx="7505700" cy="895350"/>
          </a:xfrm>
          <a:prstGeom prst="rect">
            <a:avLst/>
          </a:prstGeom>
        </p:spPr>
      </p:pic>
      <p:pic>
        <p:nvPicPr>
          <p:cNvPr id="16" name="Picture 15">
            <a:extLst>
              <a:ext uri="{FF2B5EF4-FFF2-40B4-BE49-F238E27FC236}">
                <a16:creationId xmlns:a16="http://schemas.microsoft.com/office/drawing/2014/main" id="{D7D74C25-89B6-CD54-75F5-BB45F176C9E6}"/>
              </a:ext>
            </a:extLst>
          </p:cNvPr>
          <p:cNvPicPr>
            <a:picLocks noChangeAspect="1"/>
          </p:cNvPicPr>
          <p:nvPr/>
        </p:nvPicPr>
        <p:blipFill>
          <a:blip r:embed="rId5">
            <a:duotone>
              <a:prstClr val="black"/>
              <a:schemeClr val="accent2">
                <a:tint val="45000"/>
                <a:satMod val="400000"/>
              </a:schemeClr>
            </a:duotone>
          </a:blip>
          <a:stretch>
            <a:fillRect/>
          </a:stretch>
        </p:blipFill>
        <p:spPr>
          <a:xfrm>
            <a:off x="2186053" y="3200400"/>
            <a:ext cx="7819891" cy="828675"/>
          </a:xfrm>
          <a:prstGeom prst="rect">
            <a:avLst/>
          </a:prstGeom>
        </p:spPr>
      </p:pic>
      <p:sp>
        <p:nvSpPr>
          <p:cNvPr id="17" name="Rectangle 25">
            <a:extLst>
              <a:ext uri="{FF2B5EF4-FFF2-40B4-BE49-F238E27FC236}">
                <a16:creationId xmlns:a16="http://schemas.microsoft.com/office/drawing/2014/main" id="{3FEAD24A-5B20-6511-13B4-1F243B775718}"/>
              </a:ext>
            </a:extLst>
          </p:cNvPr>
          <p:cNvSpPr>
            <a:spLocks noChangeArrowheads="1"/>
          </p:cNvSpPr>
          <p:nvPr/>
        </p:nvSpPr>
        <p:spPr bwMode="black">
          <a:xfrm>
            <a:off x="-2" y="4013582"/>
            <a:ext cx="12191999" cy="496996"/>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kumimoji="0" lang="en-US" sz="2000" b="0" i="0" u="none" strike="noStrike" kern="0" cap="none" spc="0" normalizeH="0" baseline="0" noProof="0">
                <a:ln>
                  <a:noFill/>
                </a:ln>
                <a:solidFill>
                  <a:srgbClr val="0070C0"/>
                </a:solidFill>
                <a:effectLst/>
                <a:uLnTx/>
                <a:uFillTx/>
                <a:latin typeface="Arial"/>
                <a:ea typeface="+mn-ea"/>
                <a:cs typeface="+mn-cs"/>
              </a:rPr>
              <a:t>Tính ngõ</a:t>
            </a:r>
            <a:r>
              <a:rPr lang="en-US" sz="2000" kern="0">
                <a:solidFill>
                  <a:srgbClr val="0070C0"/>
                </a:solidFill>
                <a:latin typeface="Arial"/>
              </a:rPr>
              <a:t> ra </a:t>
            </a:r>
            <a:r>
              <a:rPr lang="en-US" sz="2000" kern="0">
                <a:solidFill>
                  <a:srgbClr val="000000"/>
                </a:solidFill>
                <a:latin typeface="Arial"/>
              </a:rPr>
              <a:t>𝑌</a:t>
            </a:r>
            <a:r>
              <a:rPr lang="en-US" sz="2000" i="1" kern="0" baseline="-25000">
                <a:solidFill>
                  <a:srgbClr val="000000"/>
                </a:solidFill>
                <a:latin typeface="Arial"/>
              </a:rPr>
              <a:t>t </a:t>
            </a:r>
            <a:r>
              <a:rPr lang="en-US" sz="2000" kern="0">
                <a:solidFill>
                  <a:srgbClr val="000000"/>
                </a:solidFill>
                <a:latin typeface="Arial"/>
              </a:rPr>
              <a:t>= ReLU(𝑉.ℎ</a:t>
            </a:r>
            <a:r>
              <a:rPr lang="en-US" sz="2000" i="1" kern="0" baseline="-25000">
                <a:solidFill>
                  <a:srgbClr val="000000"/>
                </a:solidFill>
                <a:latin typeface="Arial"/>
              </a:rPr>
              <a:t>t </a:t>
            </a:r>
            <a:r>
              <a:rPr lang="en-US" sz="2000" kern="0">
                <a:solidFill>
                  <a:srgbClr val="000000"/>
                </a:solidFill>
                <a:latin typeface="Arial"/>
              </a:rPr>
              <a:t>+ 𝐶)</a:t>
            </a:r>
            <a:endParaRPr kumimoji="0" lang="en-US" sz="2000" b="0" i="1" u="none" strike="noStrike" kern="0" cap="none" spc="0" normalizeH="0" baseline="0" noProof="0">
              <a:ln>
                <a:noFill/>
              </a:ln>
              <a:solidFill>
                <a:srgbClr val="000000"/>
              </a:solidFill>
              <a:effectLst/>
              <a:uLnTx/>
              <a:uFillTx/>
              <a:latin typeface="Arial"/>
            </a:endParaRPr>
          </a:p>
        </p:txBody>
      </p:sp>
      <p:pic>
        <p:nvPicPr>
          <p:cNvPr id="19" name="Picture 18">
            <a:extLst>
              <a:ext uri="{FF2B5EF4-FFF2-40B4-BE49-F238E27FC236}">
                <a16:creationId xmlns:a16="http://schemas.microsoft.com/office/drawing/2014/main" id="{47C880B6-D16C-C091-A659-1C847AFE0278}"/>
              </a:ext>
            </a:extLst>
          </p:cNvPr>
          <p:cNvPicPr>
            <a:picLocks noChangeAspect="1"/>
          </p:cNvPicPr>
          <p:nvPr/>
        </p:nvPicPr>
        <p:blipFill>
          <a:blip r:embed="rId6"/>
          <a:stretch>
            <a:fillRect/>
          </a:stretch>
        </p:blipFill>
        <p:spPr>
          <a:xfrm>
            <a:off x="76200" y="4604132"/>
            <a:ext cx="9055558" cy="795828"/>
          </a:xfrm>
          <a:prstGeom prst="rect">
            <a:avLst/>
          </a:prstGeom>
        </p:spPr>
      </p:pic>
      <p:pic>
        <p:nvPicPr>
          <p:cNvPr id="21" name="Picture 20">
            <a:extLst>
              <a:ext uri="{FF2B5EF4-FFF2-40B4-BE49-F238E27FC236}">
                <a16:creationId xmlns:a16="http://schemas.microsoft.com/office/drawing/2014/main" id="{BD87B6E4-8D13-7F2E-4E2C-DBB7E6AA213C}"/>
              </a:ext>
            </a:extLst>
          </p:cNvPr>
          <p:cNvPicPr>
            <a:picLocks noChangeAspect="1"/>
          </p:cNvPicPr>
          <p:nvPr/>
        </p:nvPicPr>
        <p:blipFill>
          <a:blip r:embed="rId7"/>
          <a:stretch>
            <a:fillRect/>
          </a:stretch>
        </p:blipFill>
        <p:spPr>
          <a:xfrm>
            <a:off x="76200" y="5377782"/>
            <a:ext cx="6327367" cy="617009"/>
          </a:xfrm>
          <a:prstGeom prst="rect">
            <a:avLst/>
          </a:prstGeom>
        </p:spPr>
      </p:pic>
      <p:pic>
        <p:nvPicPr>
          <p:cNvPr id="23" name="Picture 22">
            <a:extLst>
              <a:ext uri="{FF2B5EF4-FFF2-40B4-BE49-F238E27FC236}">
                <a16:creationId xmlns:a16="http://schemas.microsoft.com/office/drawing/2014/main" id="{A77CA750-2B9C-8746-9948-8402FD875047}"/>
              </a:ext>
            </a:extLst>
          </p:cNvPr>
          <p:cNvPicPr>
            <a:picLocks noChangeAspect="1"/>
          </p:cNvPicPr>
          <p:nvPr/>
        </p:nvPicPr>
        <p:blipFill>
          <a:blip r:embed="rId8">
            <a:duotone>
              <a:prstClr val="black"/>
              <a:schemeClr val="accent5">
                <a:tint val="45000"/>
                <a:satMod val="400000"/>
              </a:schemeClr>
            </a:duotone>
          </a:blip>
          <a:stretch>
            <a:fillRect/>
          </a:stretch>
        </p:blipFill>
        <p:spPr>
          <a:xfrm>
            <a:off x="7315200" y="5207308"/>
            <a:ext cx="1676400" cy="1403498"/>
          </a:xfrm>
          <a:prstGeom prst="rect">
            <a:avLst/>
          </a:prstGeom>
        </p:spPr>
      </p:pic>
    </p:spTree>
    <p:extLst>
      <p:ext uri="{BB962C8B-B14F-4D97-AF65-F5344CB8AC3E}">
        <p14:creationId xmlns:p14="http://schemas.microsoft.com/office/powerpoint/2010/main" val="23756285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par>
                                <p:cTn id="13" presetID="14" presetClass="entr" presetSubtype="1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randombar(horizontal)">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randombar(horizontal)">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randombar(horizontal)">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randombar(horizontal)">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randombar(horizontal)">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randombar(horizontal)">
                                      <p:cBhvr>
                                        <p:cTn id="40" dur="50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randombar(horizontal)">
                                      <p:cBhvr>
                                        <p:cTn id="4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AEA06-D4F4-0E8C-79EF-F2B7A1A18D95}"/>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DBCB6118-C696-435E-E325-E6F54FF9E11C}"/>
              </a:ext>
            </a:extLst>
          </p:cNvPr>
          <p:cNvSpPr>
            <a:spLocks noGrp="1" noChangeArrowheads="1"/>
          </p:cNvSpPr>
          <p:nvPr>
            <p:ph type="title"/>
          </p:nvPr>
        </p:nvSpPr>
        <p:spPr/>
        <p:txBody>
          <a:bodyPr/>
          <a:lstStyle/>
          <a:p>
            <a:r>
              <a:rPr lang="en-US" sz="3200"/>
              <a:t>Cấu trúc </a:t>
            </a:r>
            <a:r>
              <a:rPr lang="vi-VN" sz="3200"/>
              <a:t>của RNN</a:t>
            </a:r>
            <a:endParaRPr lang="en-US" sz="3200" dirty="0"/>
          </a:p>
        </p:txBody>
      </p:sp>
      <p:sp>
        <p:nvSpPr>
          <p:cNvPr id="2" name="Slide Number Placeholder 1">
            <a:extLst>
              <a:ext uri="{FF2B5EF4-FFF2-40B4-BE49-F238E27FC236}">
                <a16:creationId xmlns:a16="http://schemas.microsoft.com/office/drawing/2014/main" id="{1A7914BA-8AB6-BF24-10B9-499A4B5841F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pic>
        <p:nvPicPr>
          <p:cNvPr id="4" name="Picture 3">
            <a:extLst>
              <a:ext uri="{FF2B5EF4-FFF2-40B4-BE49-F238E27FC236}">
                <a16:creationId xmlns:a16="http://schemas.microsoft.com/office/drawing/2014/main" id="{27DFBD8D-B6FD-3EAB-E952-C72954E38143}"/>
              </a:ext>
            </a:extLst>
          </p:cNvPr>
          <p:cNvPicPr>
            <a:picLocks noChangeAspect="1"/>
          </p:cNvPicPr>
          <p:nvPr/>
        </p:nvPicPr>
        <p:blipFill>
          <a:blip r:embed="rId3"/>
          <a:stretch>
            <a:fillRect/>
          </a:stretch>
        </p:blipFill>
        <p:spPr>
          <a:xfrm>
            <a:off x="2286000" y="1143456"/>
            <a:ext cx="7440304" cy="5714544"/>
          </a:xfrm>
          <a:prstGeom prst="rect">
            <a:avLst/>
          </a:prstGeom>
        </p:spPr>
      </p:pic>
    </p:spTree>
    <p:extLst>
      <p:ext uri="{BB962C8B-B14F-4D97-AF65-F5344CB8AC3E}">
        <p14:creationId xmlns:p14="http://schemas.microsoft.com/office/powerpoint/2010/main" val="202016663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67F02-746D-2EA0-93D1-B59D59B7FC0D}"/>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19D6268F-9E82-DA16-4447-C36AE4B9D7C9}"/>
              </a:ext>
            </a:extLst>
          </p:cNvPr>
          <p:cNvSpPr>
            <a:spLocks noGrp="1" noChangeArrowheads="1"/>
          </p:cNvSpPr>
          <p:nvPr>
            <p:ph type="title"/>
          </p:nvPr>
        </p:nvSpPr>
        <p:spPr/>
        <p:txBody>
          <a:bodyPr/>
          <a:lstStyle/>
          <a:p>
            <a:r>
              <a:rPr lang="vi-VN" sz="3200"/>
              <a:t>RNN</a:t>
            </a:r>
            <a:r>
              <a:rPr lang="en-US" sz="3200"/>
              <a:t> hoạt động như thế nào?</a:t>
            </a:r>
            <a:endParaRPr lang="en-US" sz="3200" dirty="0"/>
          </a:p>
        </p:txBody>
      </p:sp>
      <p:sp>
        <p:nvSpPr>
          <p:cNvPr id="2" name="Slide Number Placeholder 1">
            <a:extLst>
              <a:ext uri="{FF2B5EF4-FFF2-40B4-BE49-F238E27FC236}">
                <a16:creationId xmlns:a16="http://schemas.microsoft.com/office/drawing/2014/main" id="{B901565A-CFA5-2232-A1BC-7B475D1390D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Rectangle 25">
            <a:extLst>
              <a:ext uri="{FF2B5EF4-FFF2-40B4-BE49-F238E27FC236}">
                <a16:creationId xmlns:a16="http://schemas.microsoft.com/office/drawing/2014/main" id="{61644138-7E0E-ADDA-5C8E-D8FA9F17ACC6}"/>
              </a:ext>
            </a:extLst>
          </p:cNvPr>
          <p:cNvSpPr>
            <a:spLocks noChangeArrowheads="1"/>
          </p:cNvSpPr>
          <p:nvPr/>
        </p:nvSpPr>
        <p:spPr bwMode="black">
          <a:xfrm>
            <a:off x="0" y="1094201"/>
            <a:ext cx="12191999" cy="1420325"/>
          </a:xfrm>
          <a:prstGeom prst="rect">
            <a:avLst/>
          </a:prstGeom>
          <a:noFill/>
          <a:ln w="9525" algn="ctr">
            <a:noFill/>
            <a:miter lim="800000"/>
            <a:headEnd/>
            <a:tailEnd/>
          </a:ln>
          <a:effectLst/>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en-US" sz="2000" b="0" i="0" u="none" strike="noStrike" kern="0" cap="none" spc="0" normalizeH="0" baseline="0" noProof="0">
                <a:ln>
                  <a:noFill/>
                </a:ln>
                <a:solidFill>
                  <a:srgbClr val="0070C0"/>
                </a:solidFill>
                <a:effectLst/>
                <a:uLnTx/>
                <a:uFillTx/>
                <a:latin typeface="Arial"/>
                <a:ea typeface="+mn-ea"/>
                <a:cs typeface="+mn-cs"/>
              </a:rPr>
              <a:t>X</a:t>
            </a:r>
            <a:r>
              <a:rPr kumimoji="0" lang="vi-VN" sz="2000" b="0" i="0" u="none" strike="noStrike" kern="0" cap="none" spc="0" normalizeH="0" baseline="0" noProof="0">
                <a:ln>
                  <a:noFill/>
                </a:ln>
                <a:solidFill>
                  <a:srgbClr val="0070C0"/>
                </a:solidFill>
                <a:effectLst/>
                <a:uLnTx/>
                <a:uFillTx/>
                <a:latin typeface="Arial"/>
                <a:ea typeface="+mn-ea"/>
                <a:cs typeface="+mn-cs"/>
              </a:rPr>
              <a:t>ử lý dữ liệu tuần tự bằng cách lưu giữ thông tin từ các bước thời gian trước đó</a:t>
            </a:r>
            <a:endParaRPr kumimoji="0" lang="en-US" sz="2000" b="0" i="0" u="none" strike="noStrike" kern="0" cap="none" spc="0" normalizeH="0" baseline="0" noProof="0">
              <a:ln>
                <a:noFill/>
              </a:ln>
              <a:solidFill>
                <a:srgbClr val="0070C0"/>
              </a:solidFill>
              <a:effectLst/>
              <a:uLnTx/>
              <a:uFillTx/>
              <a:latin typeface="Arial"/>
              <a:ea typeface="+mn-ea"/>
              <a:cs typeface="+mn-cs"/>
            </a:endParaRPr>
          </a:p>
          <a:p>
            <a:pPr marL="342900" lvl="0" indent="-342900" algn="just" fontAlgn="auto">
              <a:lnSpc>
                <a:spcPct val="150000"/>
              </a:lnSpc>
              <a:spcBef>
                <a:spcPts val="0"/>
              </a:spcBef>
              <a:spcAft>
                <a:spcPts val="0"/>
              </a:spcAft>
              <a:buFont typeface="Wingdings" panose="05000000000000000000" pitchFamily="2" charset="2"/>
              <a:buChar char="v"/>
              <a:defRPr/>
            </a:pPr>
            <a:r>
              <a:rPr lang="vi-VN" sz="2000" kern="0">
                <a:solidFill>
                  <a:srgbClr val="0070C0"/>
                </a:solidFill>
                <a:latin typeface="Arial"/>
              </a:rPr>
              <a:t>Mỗi bước thời gian sử dụng một hàm kích hoạt cố định và trạng thái ẩn ℎ</a:t>
            </a:r>
            <a:r>
              <a:rPr lang="vi-VN" sz="2000" kern="0" baseline="-25000">
                <a:solidFill>
                  <a:srgbClr val="0070C0"/>
                </a:solidFill>
                <a:latin typeface="Arial"/>
              </a:rPr>
              <a:t>𝑡</a:t>
            </a:r>
            <a:r>
              <a:rPr lang="vi-VN" sz="2000" kern="0">
                <a:solidFill>
                  <a:srgbClr val="0070C0"/>
                </a:solidFill>
                <a:latin typeface="Arial"/>
              </a:rPr>
              <a:t>, hoạt động như bộ nhớ lưu trữ thông tin</a:t>
            </a:r>
            <a:endParaRPr kumimoji="0" lang="en-US" sz="2000" b="0" i="0" u="none" strike="noStrike" kern="0" cap="none" spc="0" normalizeH="0" baseline="0" noProof="0">
              <a:ln>
                <a:noFill/>
              </a:ln>
              <a:solidFill>
                <a:srgbClr val="0070C0"/>
              </a:solidFill>
              <a:effectLst/>
              <a:uLnTx/>
              <a:uFillTx/>
              <a:latin typeface="Arial"/>
            </a:endParaRPr>
          </a:p>
        </p:txBody>
      </p:sp>
      <p:sp>
        <p:nvSpPr>
          <p:cNvPr id="6" name="Rectangle 25">
            <a:extLst>
              <a:ext uri="{FF2B5EF4-FFF2-40B4-BE49-F238E27FC236}">
                <a16:creationId xmlns:a16="http://schemas.microsoft.com/office/drawing/2014/main" id="{3F1E348B-48F4-317B-942C-84CD19C64910}"/>
              </a:ext>
            </a:extLst>
          </p:cNvPr>
          <p:cNvSpPr>
            <a:spLocks noChangeArrowheads="1"/>
          </p:cNvSpPr>
          <p:nvPr/>
        </p:nvSpPr>
        <p:spPr bwMode="black">
          <a:xfrm>
            <a:off x="2" y="2438400"/>
            <a:ext cx="5257798" cy="234365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vi-VN" sz="2000" kern="0">
                <a:solidFill>
                  <a:srgbClr val="0070C0"/>
                </a:solidFill>
                <a:latin typeface="Arial"/>
              </a:rPr>
              <a:t>Cập nhật trạng thái ẩn (ℎ</a:t>
            </a:r>
            <a:r>
              <a:rPr lang="vi-VN" sz="2000" kern="0" baseline="-25000">
                <a:solidFill>
                  <a:srgbClr val="0070C0"/>
                </a:solidFill>
                <a:latin typeface="Arial"/>
              </a:rPr>
              <a:t>𝑡</a:t>
            </a:r>
            <a:r>
              <a:rPr lang="vi-VN" sz="2000" kern="0">
                <a:solidFill>
                  <a:srgbClr val="0070C0"/>
                </a:solidFill>
                <a:latin typeface="Arial"/>
              </a:rPr>
              <a:t>):</a:t>
            </a:r>
            <a:endParaRPr lang="en-US" sz="2000" kern="0">
              <a:solidFill>
                <a:srgbClr val="0070C0"/>
              </a:solidFill>
              <a:latin typeface="Arial"/>
            </a:endParaRPr>
          </a:p>
          <a:p>
            <a:pPr marL="342900" lvl="0" indent="-342900" algn="just" fontAlgn="auto">
              <a:lnSpc>
                <a:spcPct val="150000"/>
              </a:lnSpc>
              <a:spcBef>
                <a:spcPts val="0"/>
              </a:spcBef>
              <a:spcAft>
                <a:spcPts val="0"/>
              </a:spcAft>
              <a:buFont typeface="Wingdings" panose="05000000000000000000" pitchFamily="2" charset="2"/>
              <a:buChar char="§"/>
              <a:defRPr/>
            </a:pPr>
            <a:r>
              <a:rPr lang="vi-VN" sz="2000" i="1" kern="0">
                <a:solidFill>
                  <a:srgbClr val="000000"/>
                </a:solidFill>
                <a:latin typeface="Arial"/>
              </a:rPr>
              <a:t>Mối quan hệ cơ bản:</a:t>
            </a:r>
            <a:r>
              <a:rPr lang="vi-VN" sz="2000" kern="0">
                <a:solidFill>
                  <a:srgbClr val="0070C0"/>
                </a:solidFill>
                <a:latin typeface="Arial"/>
              </a:rPr>
              <a:t> </a:t>
            </a:r>
            <a:r>
              <a:rPr lang="vi-VN" sz="2000" kern="0">
                <a:solidFill>
                  <a:srgbClr val="000000"/>
                </a:solidFill>
                <a:latin typeface="Arial"/>
              </a:rPr>
              <a:t>ℎ</a:t>
            </a:r>
            <a:r>
              <a:rPr lang="vi-VN" sz="2000" kern="0" baseline="-25000">
                <a:solidFill>
                  <a:srgbClr val="000000"/>
                </a:solidFill>
                <a:latin typeface="Arial"/>
              </a:rPr>
              <a:t>𝑡 </a:t>
            </a:r>
            <a:r>
              <a:rPr lang="vi-VN" sz="2000" i="1" kern="0">
                <a:solidFill>
                  <a:srgbClr val="000000"/>
                </a:solidFill>
                <a:latin typeface="Arial"/>
              </a:rPr>
              <a:t>=</a:t>
            </a:r>
            <a:r>
              <a:rPr lang="en-US" sz="2000" i="1" kern="0">
                <a:solidFill>
                  <a:srgbClr val="000000"/>
                </a:solidFill>
                <a:latin typeface="Arial"/>
              </a:rPr>
              <a:t> f</a:t>
            </a:r>
            <a:r>
              <a:rPr lang="vi-VN" sz="2000" i="1" kern="0">
                <a:solidFill>
                  <a:srgbClr val="000000"/>
                </a:solidFill>
                <a:latin typeface="Arial"/>
              </a:rPr>
              <a:t>(</a:t>
            </a:r>
            <a:r>
              <a:rPr lang="vi-VN" sz="2000" kern="0">
                <a:solidFill>
                  <a:srgbClr val="000000"/>
                </a:solidFill>
                <a:latin typeface="Arial"/>
              </a:rPr>
              <a:t>ℎ</a:t>
            </a:r>
            <a:r>
              <a:rPr lang="vi-VN" sz="2000" kern="0" baseline="-25000">
                <a:solidFill>
                  <a:srgbClr val="000000"/>
                </a:solidFill>
                <a:latin typeface="Arial"/>
              </a:rPr>
              <a:t>𝑡</a:t>
            </a:r>
            <a:r>
              <a:rPr lang="vi-VN" sz="2000" i="1" kern="0" baseline="-25000">
                <a:solidFill>
                  <a:srgbClr val="000000"/>
                </a:solidFill>
                <a:latin typeface="Arial"/>
              </a:rPr>
              <a:t>−1</a:t>
            </a:r>
            <a:r>
              <a:rPr lang="vi-VN" sz="2000" i="1" kern="0">
                <a:solidFill>
                  <a:srgbClr val="000000"/>
                </a:solidFill>
                <a:latin typeface="Arial"/>
              </a:rPr>
              <a:t>,</a:t>
            </a:r>
            <a:r>
              <a:rPr lang="vi-VN" sz="2000" kern="0">
                <a:solidFill>
                  <a:srgbClr val="000000"/>
                </a:solidFill>
                <a:latin typeface="Arial"/>
              </a:rPr>
              <a:t> </a:t>
            </a:r>
            <a:r>
              <a:rPr lang="en-US" sz="2000" kern="0">
                <a:solidFill>
                  <a:srgbClr val="000000"/>
                </a:solidFill>
                <a:latin typeface="Arial"/>
              </a:rPr>
              <a:t>x</a:t>
            </a:r>
            <a:r>
              <a:rPr lang="vi-VN" sz="2000" kern="0" baseline="-25000">
                <a:solidFill>
                  <a:srgbClr val="000000"/>
                </a:solidFill>
                <a:latin typeface="Arial"/>
              </a:rPr>
              <a:t>𝑡</a:t>
            </a:r>
            <a:r>
              <a:rPr lang="vi-VN" sz="2000" i="1" kern="0">
                <a:solidFill>
                  <a:srgbClr val="000000"/>
                </a:solidFill>
                <a:latin typeface="Arial"/>
              </a:rPr>
              <a:t>)</a:t>
            </a:r>
            <a:endParaRPr lang="en-US" sz="2000" kern="0">
              <a:solidFill>
                <a:srgbClr val="000000"/>
              </a:solidFill>
              <a:latin typeface="Arial"/>
            </a:endParaRPr>
          </a:p>
          <a:p>
            <a:pPr lvl="0" algn="just" fontAlgn="auto">
              <a:lnSpc>
                <a:spcPct val="150000"/>
              </a:lnSpc>
              <a:spcBef>
                <a:spcPts val="0"/>
              </a:spcBef>
              <a:spcAft>
                <a:spcPts val="0"/>
              </a:spcAft>
              <a:defRPr/>
            </a:pPr>
            <a:r>
              <a:rPr lang="vi-VN" sz="2000" kern="0">
                <a:solidFill>
                  <a:srgbClr val="000000"/>
                </a:solidFill>
                <a:latin typeface="Arial"/>
              </a:rPr>
              <a:t>ℎ</a:t>
            </a:r>
            <a:r>
              <a:rPr lang="vi-VN" sz="2000" kern="0" baseline="-25000">
                <a:solidFill>
                  <a:srgbClr val="000000"/>
                </a:solidFill>
                <a:latin typeface="Arial"/>
              </a:rPr>
              <a:t>𝑡 </a:t>
            </a:r>
            <a:r>
              <a:rPr lang="vi-VN" sz="2000" kern="0">
                <a:solidFill>
                  <a:srgbClr val="000000"/>
                </a:solidFill>
                <a:latin typeface="Arial"/>
              </a:rPr>
              <a:t>:</a:t>
            </a:r>
            <a:r>
              <a:rPr lang="vi-VN" sz="2000" i="1" kern="0">
                <a:solidFill>
                  <a:srgbClr val="000000"/>
                </a:solidFill>
                <a:latin typeface="Arial"/>
              </a:rPr>
              <a:t> Trạng thái ẩn hiện tại</a:t>
            </a:r>
            <a:endParaRPr lang="en-US" sz="2000" i="1" kern="0">
              <a:solidFill>
                <a:srgbClr val="000000"/>
              </a:solidFill>
              <a:latin typeface="Arial"/>
            </a:endParaRPr>
          </a:p>
          <a:p>
            <a:pPr lvl="0" algn="just" fontAlgn="auto">
              <a:lnSpc>
                <a:spcPct val="150000"/>
              </a:lnSpc>
              <a:spcBef>
                <a:spcPts val="0"/>
              </a:spcBef>
              <a:spcAft>
                <a:spcPts val="0"/>
              </a:spcAft>
              <a:defRPr/>
            </a:pPr>
            <a:r>
              <a:rPr lang="vi-VN" sz="2000" kern="0">
                <a:solidFill>
                  <a:srgbClr val="000000"/>
                </a:solidFill>
                <a:latin typeface="Arial"/>
              </a:rPr>
              <a:t>ℎ</a:t>
            </a:r>
            <a:r>
              <a:rPr lang="vi-VN" sz="2000" kern="0" baseline="-25000">
                <a:solidFill>
                  <a:srgbClr val="000000"/>
                </a:solidFill>
                <a:latin typeface="Arial"/>
              </a:rPr>
              <a:t>𝑡</a:t>
            </a:r>
            <a:r>
              <a:rPr lang="en-US" sz="2000" kern="0" baseline="-25000">
                <a:solidFill>
                  <a:srgbClr val="000000"/>
                </a:solidFill>
                <a:latin typeface="Arial"/>
              </a:rPr>
              <a:t>-1</a:t>
            </a:r>
            <a:r>
              <a:rPr lang="vi-VN" sz="2000" kern="0" baseline="-25000">
                <a:solidFill>
                  <a:srgbClr val="000000"/>
                </a:solidFill>
                <a:latin typeface="Arial"/>
              </a:rPr>
              <a:t> </a:t>
            </a:r>
            <a:r>
              <a:rPr lang="vi-VN" sz="2000" kern="0">
                <a:solidFill>
                  <a:srgbClr val="000000"/>
                </a:solidFill>
                <a:latin typeface="Arial"/>
              </a:rPr>
              <a:t>:</a:t>
            </a:r>
            <a:r>
              <a:rPr lang="vi-VN" sz="2000" i="1" kern="0">
                <a:solidFill>
                  <a:srgbClr val="000000"/>
                </a:solidFill>
                <a:latin typeface="Arial"/>
              </a:rPr>
              <a:t> Trạng thái ẩn trước đó</a:t>
            </a:r>
            <a:endParaRPr lang="en-US" sz="2000" i="1" kern="0">
              <a:solidFill>
                <a:srgbClr val="000000"/>
              </a:solidFill>
              <a:latin typeface="Arial"/>
            </a:endParaRPr>
          </a:p>
          <a:p>
            <a:pPr lvl="0" algn="just" fontAlgn="auto">
              <a:lnSpc>
                <a:spcPct val="150000"/>
              </a:lnSpc>
              <a:spcBef>
                <a:spcPts val="0"/>
              </a:spcBef>
              <a:spcAft>
                <a:spcPts val="0"/>
              </a:spcAft>
              <a:defRPr/>
            </a:pPr>
            <a:r>
              <a:rPr lang="en-US" sz="2000" i="1" kern="0">
                <a:solidFill>
                  <a:srgbClr val="000000"/>
                </a:solidFill>
                <a:latin typeface="Arial"/>
              </a:rPr>
              <a:t>x</a:t>
            </a:r>
            <a:r>
              <a:rPr lang="vi-VN" sz="2000" kern="0" baseline="-25000">
                <a:solidFill>
                  <a:srgbClr val="000000"/>
                </a:solidFill>
                <a:latin typeface="Arial"/>
              </a:rPr>
              <a:t>𝑡</a:t>
            </a:r>
            <a:r>
              <a:rPr lang="vi-VN" sz="2000" i="1" kern="0">
                <a:solidFill>
                  <a:srgbClr val="000000"/>
                </a:solidFill>
                <a:latin typeface="Arial"/>
              </a:rPr>
              <a:t>: Dữ liệu đầu vào tại bước thời gian hiện tại</a:t>
            </a:r>
            <a:endParaRPr kumimoji="0" lang="en-US" sz="2000" b="0" i="1" u="none" strike="noStrike" kern="0" cap="none" spc="0" normalizeH="0" baseline="0" noProof="0">
              <a:ln>
                <a:noFill/>
              </a:ln>
              <a:solidFill>
                <a:srgbClr val="000000"/>
              </a:solidFill>
              <a:effectLst/>
              <a:uLnTx/>
              <a:uFillTx/>
              <a:latin typeface="Arial"/>
            </a:endParaRPr>
          </a:p>
        </p:txBody>
      </p:sp>
      <p:sp>
        <p:nvSpPr>
          <p:cNvPr id="8" name="Rectangle 25">
            <a:extLst>
              <a:ext uri="{FF2B5EF4-FFF2-40B4-BE49-F238E27FC236}">
                <a16:creationId xmlns:a16="http://schemas.microsoft.com/office/drawing/2014/main" id="{667617A7-0BBB-A306-C0C1-667285B344B6}"/>
              </a:ext>
            </a:extLst>
          </p:cNvPr>
          <p:cNvSpPr>
            <a:spLocks noChangeArrowheads="1"/>
          </p:cNvSpPr>
          <p:nvPr/>
        </p:nvSpPr>
        <p:spPr bwMode="black">
          <a:xfrm>
            <a:off x="5957248" y="1981200"/>
            <a:ext cx="6234749" cy="280532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Công thức chi tiết:</a:t>
            </a:r>
            <a:endParaRPr lang="en-US" sz="2000" kern="0">
              <a:solidFill>
                <a:srgbClr val="000000"/>
              </a:solidFill>
              <a:latin typeface="Arial"/>
            </a:endParaRPr>
          </a:p>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ℎ</a:t>
            </a:r>
            <a:r>
              <a:rPr lang="vi-VN" sz="2000" kern="0" baseline="-25000">
                <a:solidFill>
                  <a:srgbClr val="000000"/>
                </a:solidFill>
                <a:latin typeface="Arial"/>
              </a:rPr>
              <a:t>𝑡 </a:t>
            </a:r>
            <a:r>
              <a:rPr lang="vi-VN" sz="2000" i="1" kern="0">
                <a:solidFill>
                  <a:srgbClr val="000000"/>
                </a:solidFill>
                <a:latin typeface="Arial"/>
              </a:rPr>
              <a:t>=</a:t>
            </a:r>
            <a:r>
              <a:rPr lang="en-US" sz="2000" i="1" kern="0">
                <a:solidFill>
                  <a:srgbClr val="000000"/>
                </a:solidFill>
                <a:latin typeface="Arial"/>
              </a:rPr>
              <a:t> </a:t>
            </a:r>
            <a:r>
              <a:rPr lang="vi-VN" sz="2000" kern="0">
                <a:solidFill>
                  <a:srgbClr val="000000"/>
                </a:solidFill>
                <a:latin typeface="Arial"/>
              </a:rPr>
              <a:t>tanh</a:t>
            </a:r>
            <a:r>
              <a:rPr lang="vi-VN" sz="2000" i="1" kern="0">
                <a:solidFill>
                  <a:srgbClr val="000000"/>
                </a:solidFill>
                <a:latin typeface="Arial"/>
              </a:rPr>
              <a:t>(</a:t>
            </a:r>
            <a:r>
              <a:rPr lang="en-US" sz="2000" i="1" kern="0">
                <a:solidFill>
                  <a:srgbClr val="000000"/>
                </a:solidFill>
                <a:latin typeface="Arial"/>
              </a:rPr>
              <a:t>W</a:t>
            </a:r>
            <a:r>
              <a:rPr lang="en-US" sz="2000" i="1" kern="0" baseline="-25000">
                <a:solidFill>
                  <a:srgbClr val="000000"/>
                </a:solidFill>
                <a:latin typeface="Arial"/>
              </a:rPr>
              <a:t>hh</a:t>
            </a:r>
            <a:r>
              <a:rPr lang="en-US" sz="2000" i="1" kern="0">
                <a:solidFill>
                  <a:srgbClr val="000000"/>
                </a:solidFill>
                <a:latin typeface="Arial"/>
              </a:rPr>
              <a:t>.</a:t>
            </a:r>
            <a:r>
              <a:rPr lang="vi-VN" sz="2000" kern="0">
                <a:solidFill>
                  <a:srgbClr val="000000"/>
                </a:solidFill>
                <a:latin typeface="Arial"/>
              </a:rPr>
              <a:t>ℎ</a:t>
            </a:r>
            <a:r>
              <a:rPr lang="vi-VN" sz="2000" kern="0" baseline="-25000">
                <a:solidFill>
                  <a:srgbClr val="000000"/>
                </a:solidFill>
                <a:latin typeface="Arial"/>
              </a:rPr>
              <a:t>𝑡</a:t>
            </a:r>
            <a:r>
              <a:rPr lang="vi-VN" sz="2000" i="1" kern="0" baseline="-25000">
                <a:solidFill>
                  <a:srgbClr val="000000"/>
                </a:solidFill>
                <a:latin typeface="Arial"/>
              </a:rPr>
              <a:t>−1</a:t>
            </a:r>
            <a:r>
              <a:rPr lang="en-US" sz="2000" i="1" kern="0" baseline="-25000">
                <a:solidFill>
                  <a:srgbClr val="000000"/>
                </a:solidFill>
                <a:latin typeface="Arial"/>
              </a:rPr>
              <a:t> </a:t>
            </a:r>
            <a:r>
              <a:rPr lang="vi-VN" sz="2000" i="1" kern="0">
                <a:solidFill>
                  <a:srgbClr val="000000"/>
                </a:solidFill>
                <a:latin typeface="Arial"/>
              </a:rPr>
              <a:t>+</a:t>
            </a:r>
            <a:r>
              <a:rPr lang="en-US" sz="2000" i="1" kern="0">
                <a:solidFill>
                  <a:srgbClr val="000000"/>
                </a:solidFill>
                <a:latin typeface="Arial"/>
              </a:rPr>
              <a:t> W</a:t>
            </a:r>
            <a:r>
              <a:rPr lang="en-US" sz="2000" i="1" kern="0" baseline="-25000">
                <a:solidFill>
                  <a:srgbClr val="000000"/>
                </a:solidFill>
                <a:latin typeface="Arial"/>
              </a:rPr>
              <a:t>hx</a:t>
            </a:r>
            <a:r>
              <a:rPr lang="en-US" sz="2000" i="1" kern="0">
                <a:solidFill>
                  <a:srgbClr val="000000"/>
                </a:solidFill>
                <a:latin typeface="Arial"/>
              </a:rPr>
              <a:t>.x</a:t>
            </a:r>
            <a:r>
              <a:rPr lang="en-US" sz="2000" i="1" kern="0" baseline="-25000">
                <a:solidFill>
                  <a:srgbClr val="000000"/>
                </a:solidFill>
                <a:latin typeface="Arial"/>
              </a:rPr>
              <a:t>t</a:t>
            </a:r>
            <a:r>
              <a:rPr lang="vi-VN" sz="2000" i="1" kern="0">
                <a:solidFill>
                  <a:srgbClr val="000000"/>
                </a:solidFill>
                <a:latin typeface="Arial"/>
              </a:rPr>
              <a:t>)</a:t>
            </a:r>
            <a:endParaRPr lang="en-US" sz="2000" i="1" kern="0">
              <a:solidFill>
                <a:srgbClr val="000000"/>
              </a:solidFill>
              <a:latin typeface="Arial"/>
            </a:endParaRPr>
          </a:p>
          <a:p>
            <a:pPr lvl="0" algn="just" fontAlgn="auto">
              <a:lnSpc>
                <a:spcPct val="150000"/>
              </a:lnSpc>
              <a:spcBef>
                <a:spcPts val="0"/>
              </a:spcBef>
              <a:spcAft>
                <a:spcPts val="0"/>
              </a:spcAft>
              <a:defRPr/>
            </a:pPr>
            <a:r>
              <a:rPr lang="vi-VN" sz="2000" i="1" kern="0">
                <a:solidFill>
                  <a:srgbClr val="000000"/>
                </a:solidFill>
                <a:latin typeface="Arial"/>
              </a:rPr>
              <a:t>W</a:t>
            </a:r>
            <a:r>
              <a:rPr lang="vi-VN" sz="2000" i="1" kern="0" baseline="-25000">
                <a:solidFill>
                  <a:srgbClr val="000000"/>
                </a:solidFill>
                <a:latin typeface="Arial"/>
              </a:rPr>
              <a:t>hh</a:t>
            </a:r>
            <a:r>
              <a:rPr lang="vi-VN" sz="2000" i="1" kern="0">
                <a:solidFill>
                  <a:srgbClr val="000000"/>
                </a:solidFill>
                <a:latin typeface="Arial"/>
              </a:rPr>
              <a:t>​ : Ma trận trọng số cho trạng thái ẩn trước đó</a:t>
            </a:r>
            <a:endParaRPr lang="en-US" sz="2000" i="1" kern="0">
              <a:solidFill>
                <a:srgbClr val="000000"/>
              </a:solidFill>
              <a:latin typeface="Arial"/>
            </a:endParaRPr>
          </a:p>
          <a:p>
            <a:pPr lvl="0" algn="just" fontAlgn="auto">
              <a:lnSpc>
                <a:spcPct val="150000"/>
              </a:lnSpc>
              <a:spcBef>
                <a:spcPts val="0"/>
              </a:spcBef>
              <a:spcAft>
                <a:spcPts val="0"/>
              </a:spcAft>
              <a:defRPr/>
            </a:pPr>
            <a:r>
              <a:rPr lang="vi-VN" sz="2000" i="1" kern="0">
                <a:solidFill>
                  <a:srgbClr val="000000"/>
                </a:solidFill>
                <a:latin typeface="Arial"/>
              </a:rPr>
              <a:t>W</a:t>
            </a:r>
            <a:r>
              <a:rPr lang="vi-VN" sz="2000" i="1" kern="0" baseline="-25000">
                <a:solidFill>
                  <a:srgbClr val="000000"/>
                </a:solidFill>
                <a:latin typeface="Arial"/>
              </a:rPr>
              <a:t>xh</a:t>
            </a:r>
            <a:r>
              <a:rPr lang="vi-VN" sz="2000" i="1" kern="0">
                <a:solidFill>
                  <a:srgbClr val="000000"/>
                </a:solidFill>
                <a:latin typeface="Arial"/>
              </a:rPr>
              <a:t>​ : Ma trận trọng số cho đầu vào hiện tại</a:t>
            </a:r>
            <a:endParaRPr lang="en-US" sz="2000" i="1" kern="0">
              <a:solidFill>
                <a:srgbClr val="000000"/>
              </a:solidFill>
              <a:latin typeface="Arial"/>
            </a:endParaRPr>
          </a:p>
          <a:p>
            <a:pPr lvl="0" algn="just" fontAlgn="auto">
              <a:lnSpc>
                <a:spcPct val="150000"/>
              </a:lnSpc>
              <a:spcBef>
                <a:spcPts val="0"/>
              </a:spcBef>
              <a:spcAft>
                <a:spcPts val="0"/>
              </a:spcAft>
              <a:defRPr/>
            </a:pPr>
            <a:r>
              <a:rPr lang="vi-VN" sz="2000" i="1" kern="0">
                <a:solidFill>
                  <a:srgbClr val="000000"/>
                </a:solidFill>
                <a:latin typeface="Arial"/>
              </a:rPr>
              <a:t>Hàm kích hoạt tanh: Giới hạn giá trị của </a:t>
            </a:r>
            <a:r>
              <a:rPr lang="vi-VN" sz="2000" kern="0">
                <a:solidFill>
                  <a:srgbClr val="000000"/>
                </a:solidFill>
                <a:latin typeface="Arial"/>
              </a:rPr>
              <a:t>ℎ</a:t>
            </a:r>
            <a:r>
              <a:rPr lang="vi-VN" sz="2000" kern="0" baseline="-25000">
                <a:solidFill>
                  <a:srgbClr val="000000"/>
                </a:solidFill>
                <a:latin typeface="Arial"/>
              </a:rPr>
              <a:t>𝑡</a:t>
            </a:r>
            <a:r>
              <a:rPr lang="vi-VN" sz="2000" i="1" kern="0">
                <a:solidFill>
                  <a:srgbClr val="000000"/>
                </a:solidFill>
                <a:latin typeface="Arial"/>
              </a:rPr>
              <a:t>  trong khoảng [−1,1][−1,1]</a:t>
            </a:r>
            <a:endParaRPr kumimoji="0" lang="en-US" sz="2000" b="0" i="1" u="none" strike="noStrike" kern="0" cap="none" spc="0" normalizeH="0" baseline="0" noProof="0">
              <a:ln>
                <a:noFill/>
              </a:ln>
              <a:solidFill>
                <a:srgbClr val="000000"/>
              </a:solidFill>
              <a:effectLst/>
              <a:uLnTx/>
              <a:uFillTx/>
              <a:latin typeface="Arial"/>
            </a:endParaRPr>
          </a:p>
        </p:txBody>
      </p:sp>
      <p:sp>
        <p:nvSpPr>
          <p:cNvPr id="11" name="Rectangle 25">
            <a:extLst>
              <a:ext uri="{FF2B5EF4-FFF2-40B4-BE49-F238E27FC236}">
                <a16:creationId xmlns:a16="http://schemas.microsoft.com/office/drawing/2014/main" id="{CD9A27F8-0C39-0AC0-696F-BE028676883A}"/>
              </a:ext>
            </a:extLst>
          </p:cNvPr>
          <p:cNvSpPr>
            <a:spLocks noChangeArrowheads="1"/>
          </p:cNvSpPr>
          <p:nvPr/>
        </p:nvSpPr>
        <p:spPr bwMode="black">
          <a:xfrm>
            <a:off x="-1" y="4800600"/>
            <a:ext cx="6234749" cy="142032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Tính đầu ra (𝑦</a:t>
            </a:r>
            <a:r>
              <a:rPr lang="vi-VN" sz="2000" kern="0" baseline="-25000">
                <a:solidFill>
                  <a:srgbClr val="000000"/>
                </a:solidFill>
                <a:latin typeface="Arial"/>
              </a:rPr>
              <a:t>𝑡</a:t>
            </a:r>
            <a:r>
              <a:rPr lang="vi-VN" sz="2000" kern="0">
                <a:solidFill>
                  <a:srgbClr val="000000"/>
                </a:solidFill>
                <a:latin typeface="Arial"/>
              </a:rPr>
              <a:t>):</a:t>
            </a:r>
            <a:endParaRPr lang="en-US" sz="2000" kern="0">
              <a:solidFill>
                <a:srgbClr val="000000"/>
              </a:solidFill>
              <a:latin typeface="Arial"/>
            </a:endParaRPr>
          </a:p>
          <a:p>
            <a:pPr lvl="0" algn="just" fontAlgn="auto">
              <a:lnSpc>
                <a:spcPct val="150000"/>
              </a:lnSpc>
              <a:spcBef>
                <a:spcPts val="0"/>
              </a:spcBef>
              <a:spcAft>
                <a:spcPts val="0"/>
              </a:spcAft>
              <a:defRPr/>
            </a:pPr>
            <a:r>
              <a:rPr lang="vi-VN" sz="2000" kern="0">
                <a:solidFill>
                  <a:srgbClr val="000000"/>
                </a:solidFill>
                <a:latin typeface="Arial"/>
              </a:rPr>
              <a:t>𝑦</a:t>
            </a:r>
            <a:r>
              <a:rPr lang="vi-VN" sz="2000" kern="0" baseline="-25000">
                <a:solidFill>
                  <a:srgbClr val="000000"/>
                </a:solidFill>
                <a:latin typeface="Arial"/>
              </a:rPr>
              <a:t>𝑡</a:t>
            </a:r>
            <a:r>
              <a:rPr lang="en-US" sz="2000" kern="0" baseline="-25000">
                <a:solidFill>
                  <a:srgbClr val="000000"/>
                </a:solidFill>
                <a:latin typeface="Arial"/>
              </a:rPr>
              <a:t> </a:t>
            </a:r>
            <a:r>
              <a:rPr lang="vi-VN" sz="2000" kern="0">
                <a:solidFill>
                  <a:srgbClr val="000000"/>
                </a:solidFill>
                <a:latin typeface="Arial"/>
              </a:rPr>
              <a:t>=</a:t>
            </a:r>
            <a:r>
              <a:rPr lang="en-US" sz="2000" kern="0">
                <a:solidFill>
                  <a:srgbClr val="000000"/>
                </a:solidFill>
                <a:latin typeface="Arial"/>
              </a:rPr>
              <a:t> </a:t>
            </a:r>
            <a:r>
              <a:rPr lang="vi-VN" sz="2000" kern="0">
                <a:solidFill>
                  <a:srgbClr val="000000"/>
                </a:solidFill>
                <a:latin typeface="Arial"/>
              </a:rPr>
              <a:t>𝑊</a:t>
            </a:r>
            <a:r>
              <a:rPr lang="vi-VN" sz="2000" kern="0" baseline="-25000">
                <a:solidFill>
                  <a:srgbClr val="000000"/>
                </a:solidFill>
                <a:latin typeface="Arial"/>
              </a:rPr>
              <a:t>ℎ𝑦</a:t>
            </a:r>
            <a:r>
              <a:rPr lang="vi-VN" sz="2000" kern="0">
                <a:solidFill>
                  <a:srgbClr val="000000"/>
                </a:solidFill>
                <a:latin typeface="Arial"/>
              </a:rPr>
              <a:t>⋅ℎ</a:t>
            </a:r>
            <a:r>
              <a:rPr lang="vi-VN" sz="2000" kern="0" baseline="-25000">
                <a:solidFill>
                  <a:srgbClr val="000000"/>
                </a:solidFill>
                <a:latin typeface="Arial"/>
              </a:rPr>
              <a:t>𝑡</a:t>
            </a:r>
            <a:endParaRPr lang="en-US" sz="2000" kern="0" baseline="-25000">
              <a:solidFill>
                <a:srgbClr val="000000"/>
              </a:solidFill>
              <a:latin typeface="Arial"/>
            </a:endParaRPr>
          </a:p>
          <a:p>
            <a:pPr lvl="0" algn="just" fontAlgn="auto">
              <a:lnSpc>
                <a:spcPct val="150000"/>
              </a:lnSpc>
              <a:spcBef>
                <a:spcPts val="0"/>
              </a:spcBef>
              <a:spcAft>
                <a:spcPts val="0"/>
              </a:spcAft>
              <a:defRPr/>
            </a:pPr>
            <a:r>
              <a:rPr lang="vi-VN" sz="2000" kern="0">
                <a:solidFill>
                  <a:srgbClr val="000000"/>
                </a:solidFill>
                <a:latin typeface="Arial"/>
              </a:rPr>
              <a:t>𝑊</a:t>
            </a:r>
            <a:r>
              <a:rPr lang="vi-VN" sz="2000" kern="0" baseline="-25000">
                <a:solidFill>
                  <a:srgbClr val="000000"/>
                </a:solidFill>
                <a:latin typeface="Arial"/>
              </a:rPr>
              <a:t>ℎ𝑦</a:t>
            </a:r>
            <a:r>
              <a:rPr lang="vi-VN" sz="2000" kern="0">
                <a:solidFill>
                  <a:srgbClr val="000000"/>
                </a:solidFill>
                <a:latin typeface="Arial"/>
              </a:rPr>
              <a:t>: Ma trận trọng số từ trạng thái ẩn đến lớp đầu ra</a:t>
            </a:r>
            <a:endParaRPr lang="en-US" sz="2000" i="1" kern="0">
              <a:solidFill>
                <a:srgbClr val="000000"/>
              </a:solidFill>
              <a:latin typeface="Arial"/>
            </a:endParaRPr>
          </a:p>
        </p:txBody>
      </p:sp>
      <p:sp>
        <p:nvSpPr>
          <p:cNvPr id="12" name="Rectangle 25">
            <a:extLst>
              <a:ext uri="{FF2B5EF4-FFF2-40B4-BE49-F238E27FC236}">
                <a16:creationId xmlns:a16="http://schemas.microsoft.com/office/drawing/2014/main" id="{F2D089D9-C0B8-3D3F-60A9-F0075BEC7AAD}"/>
              </a:ext>
            </a:extLst>
          </p:cNvPr>
          <p:cNvSpPr>
            <a:spLocks noChangeArrowheads="1"/>
          </p:cNvSpPr>
          <p:nvPr/>
        </p:nvSpPr>
        <p:spPr bwMode="black">
          <a:xfrm>
            <a:off x="5972036" y="4800600"/>
            <a:ext cx="6234749" cy="188199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RNN sử dụng thuật toán backpropagation through time (BPTT) để cập nhật các tham số 𝑊ℎℎ,𝑊𝑥ℎ,𝑊ℎ𝑦</a:t>
            </a:r>
            <a:r>
              <a:rPr lang="en-US" sz="2000" kern="0">
                <a:solidFill>
                  <a:srgbClr val="000000"/>
                </a:solidFill>
                <a:latin typeface="Arial"/>
              </a:rPr>
              <a:t> →</a:t>
            </a:r>
            <a:r>
              <a:rPr lang="vi-VN" sz="2000" kern="0">
                <a:solidFill>
                  <a:srgbClr val="000000"/>
                </a:solidFill>
                <a:latin typeface="Arial"/>
              </a:rPr>
              <a:t> học cách phản hồi tốt hơn với dữ liệu tuần tự</a:t>
            </a:r>
            <a:endParaRPr lang="en-US" sz="2000" i="1" kern="0">
              <a:solidFill>
                <a:srgbClr val="000000"/>
              </a:solidFill>
              <a:latin typeface="Arial"/>
            </a:endParaRPr>
          </a:p>
        </p:txBody>
      </p:sp>
    </p:spTree>
    <p:extLst>
      <p:ext uri="{BB962C8B-B14F-4D97-AF65-F5344CB8AC3E}">
        <p14:creationId xmlns:p14="http://schemas.microsoft.com/office/powerpoint/2010/main" val="10171914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randombar(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randombar(horizont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randombar(horizontal)">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 grpId="0"/>
      <p:bldP spid="8" grpId="0"/>
      <p:bldP spid="11"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BFC01-6DDD-CA44-3F23-6D30EAFCF63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3E16296-5136-B666-A9AB-69F3D5CF019D}"/>
              </a:ext>
            </a:extLst>
          </p:cNvPr>
          <p:cNvPicPr>
            <a:picLocks noChangeAspect="1"/>
          </p:cNvPicPr>
          <p:nvPr/>
        </p:nvPicPr>
        <p:blipFill>
          <a:blip r:embed="rId3"/>
          <a:stretch>
            <a:fillRect/>
          </a:stretch>
        </p:blipFill>
        <p:spPr>
          <a:xfrm>
            <a:off x="-13647" y="1106491"/>
            <a:ext cx="4469636" cy="3541709"/>
          </a:xfrm>
          <a:prstGeom prst="rect">
            <a:avLst/>
          </a:prstGeom>
        </p:spPr>
      </p:pic>
      <p:sp>
        <p:nvSpPr>
          <p:cNvPr id="7170" name="Rectangle 2">
            <a:extLst>
              <a:ext uri="{FF2B5EF4-FFF2-40B4-BE49-F238E27FC236}">
                <a16:creationId xmlns:a16="http://schemas.microsoft.com/office/drawing/2014/main" id="{828CD4FF-4B23-8788-0144-7573FA08D854}"/>
              </a:ext>
            </a:extLst>
          </p:cNvPr>
          <p:cNvSpPr>
            <a:spLocks noGrp="1" noChangeArrowheads="1"/>
          </p:cNvSpPr>
          <p:nvPr>
            <p:ph type="title"/>
          </p:nvPr>
        </p:nvSpPr>
        <p:spPr/>
        <p:txBody>
          <a:bodyPr/>
          <a:lstStyle/>
          <a:p>
            <a:r>
              <a:rPr lang="vi-VN" sz="3200"/>
              <a:t>RNN</a:t>
            </a:r>
            <a:r>
              <a:rPr lang="en-US" sz="3200"/>
              <a:t> hoạt động như thế nào?</a:t>
            </a:r>
            <a:endParaRPr lang="en-US" sz="3200" dirty="0"/>
          </a:p>
        </p:txBody>
      </p:sp>
      <p:sp>
        <p:nvSpPr>
          <p:cNvPr id="2" name="Slide Number Placeholder 1">
            <a:extLst>
              <a:ext uri="{FF2B5EF4-FFF2-40B4-BE49-F238E27FC236}">
                <a16:creationId xmlns:a16="http://schemas.microsoft.com/office/drawing/2014/main" id="{8EEEAD32-288F-815D-2526-0627C508C72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Rectangle 25">
            <a:extLst>
              <a:ext uri="{FF2B5EF4-FFF2-40B4-BE49-F238E27FC236}">
                <a16:creationId xmlns:a16="http://schemas.microsoft.com/office/drawing/2014/main" id="{F4242F6A-7451-45BF-FF45-EB13F5570FD4}"/>
              </a:ext>
            </a:extLst>
          </p:cNvPr>
          <p:cNvSpPr>
            <a:spLocks noChangeArrowheads="1"/>
          </p:cNvSpPr>
          <p:nvPr/>
        </p:nvSpPr>
        <p:spPr bwMode="black">
          <a:xfrm>
            <a:off x="0" y="1094201"/>
            <a:ext cx="12191999" cy="496996"/>
          </a:xfrm>
          <a:prstGeom prst="rect">
            <a:avLst/>
          </a:prstGeom>
          <a:noFill/>
          <a:ln w="9525" algn="ctr">
            <a:noFill/>
            <a:miter lim="800000"/>
            <a:headEnd/>
            <a:tailEnd/>
          </a:ln>
          <a:effectLst/>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en-US" sz="2000" b="0" i="0" u="none" strike="noStrike" kern="0" cap="none" spc="0" normalizeH="0" baseline="0" noProof="0">
                <a:ln>
                  <a:noFill/>
                </a:ln>
                <a:solidFill>
                  <a:srgbClr val="0070C0"/>
                </a:solidFill>
                <a:effectLst/>
                <a:uLnTx/>
                <a:uFillTx/>
                <a:latin typeface="Arial"/>
                <a:ea typeface="+mn-ea"/>
                <a:cs typeface="+mn-cs"/>
              </a:rPr>
              <a:t>BPTT trong RNN</a:t>
            </a:r>
          </a:p>
        </p:txBody>
      </p:sp>
      <p:sp>
        <p:nvSpPr>
          <p:cNvPr id="5" name="Rectangle 25">
            <a:extLst>
              <a:ext uri="{FF2B5EF4-FFF2-40B4-BE49-F238E27FC236}">
                <a16:creationId xmlns:a16="http://schemas.microsoft.com/office/drawing/2014/main" id="{97AA88AA-E964-ADEC-9BC0-330F17652107}"/>
              </a:ext>
            </a:extLst>
          </p:cNvPr>
          <p:cNvSpPr>
            <a:spLocks noChangeArrowheads="1"/>
          </p:cNvSpPr>
          <p:nvPr/>
        </p:nvSpPr>
        <p:spPr bwMode="black">
          <a:xfrm>
            <a:off x="3810000" y="1143000"/>
            <a:ext cx="8366077" cy="188199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0000"/>
                </a:solidFill>
                <a:latin typeface="Arial"/>
              </a:rPr>
              <a:t>Mỗi đầu ra tại thời điểm 𝑡 phụ thuộc vào đầu ra tại thời điểm trước đó, làm cho mạng học được các phụ thuộc thời gian</a:t>
            </a:r>
            <a:endParaRPr lang="en-US" sz="2000" kern="0">
              <a:solidFill>
                <a:srgbClr val="000000"/>
              </a:solidFill>
              <a:latin typeface="Arial"/>
            </a:endParaRPr>
          </a:p>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0000"/>
                </a:solidFill>
                <a:latin typeface="Arial"/>
              </a:rPr>
              <a:t>BPTT </a:t>
            </a:r>
            <a:r>
              <a:rPr lang="vi-VN" sz="2000" kern="0">
                <a:solidFill>
                  <a:srgbClr val="000000"/>
                </a:solidFill>
                <a:latin typeface="Arial"/>
              </a:rPr>
              <a:t>cần thiết để cập nhật tham số mạng, đảm bảo nắm bắt các phụ thuộc theo thời gian</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sp>
        <p:nvSpPr>
          <p:cNvPr id="7" name="Rectangle 25">
            <a:extLst>
              <a:ext uri="{FF2B5EF4-FFF2-40B4-BE49-F238E27FC236}">
                <a16:creationId xmlns:a16="http://schemas.microsoft.com/office/drawing/2014/main" id="{92D86C11-5A80-4F98-802A-42323836C8A8}"/>
              </a:ext>
            </a:extLst>
          </p:cNvPr>
          <p:cNvSpPr>
            <a:spLocks noChangeArrowheads="1"/>
          </p:cNvSpPr>
          <p:nvPr/>
        </p:nvSpPr>
        <p:spPr bwMode="black">
          <a:xfrm>
            <a:off x="3810000" y="3024990"/>
            <a:ext cx="8366077" cy="142032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ü"/>
              <a:defRPr/>
            </a:pPr>
            <a:r>
              <a:rPr lang="vi-VN" sz="2000" kern="0">
                <a:solidFill>
                  <a:srgbClr val="C00000"/>
                </a:solidFill>
                <a:latin typeface="Arial"/>
              </a:rPr>
              <a:t>Hàm mất mát 𝐿(𝜃)</a:t>
            </a:r>
            <a:r>
              <a:rPr lang="el-GR" sz="2000" kern="0">
                <a:solidFill>
                  <a:srgbClr val="C00000"/>
                </a:solidFill>
                <a:latin typeface="Arial"/>
              </a:rPr>
              <a:t> </a:t>
            </a:r>
            <a:r>
              <a:rPr lang="vi-VN" sz="2000" kern="0">
                <a:solidFill>
                  <a:srgbClr val="C00000"/>
                </a:solidFill>
                <a:latin typeface="Arial"/>
              </a:rPr>
              <a:t>phụ thuộc vào trạng thái ẩn cuối cùng ℎ</a:t>
            </a:r>
            <a:r>
              <a:rPr lang="vi-VN" sz="2000" kern="0" baseline="-25000">
                <a:solidFill>
                  <a:srgbClr val="C00000"/>
                </a:solidFill>
                <a:latin typeface="Arial"/>
              </a:rPr>
              <a:t>3</a:t>
            </a:r>
            <a:endParaRPr lang="en-US" sz="2000" kern="0" baseline="-25000">
              <a:solidFill>
                <a:srgbClr val="C00000"/>
              </a:solidFill>
              <a:latin typeface="Arial"/>
            </a:endParaRPr>
          </a:p>
          <a:p>
            <a:pPr marL="342900" lvl="0" indent="-342900" algn="just" fontAlgn="auto">
              <a:lnSpc>
                <a:spcPct val="150000"/>
              </a:lnSpc>
              <a:spcBef>
                <a:spcPts val="0"/>
              </a:spcBef>
              <a:spcAft>
                <a:spcPts val="0"/>
              </a:spcAft>
              <a:buFont typeface="Wingdings" panose="05000000000000000000" pitchFamily="2" charset="2"/>
              <a:buChar char="ü"/>
              <a:defRPr/>
            </a:pPr>
            <a:r>
              <a:rPr lang="vi-VN" sz="2000" kern="0">
                <a:solidFill>
                  <a:srgbClr val="C00000"/>
                </a:solidFill>
                <a:latin typeface="Arial"/>
              </a:rPr>
              <a:t>​Mỗi trạng thái ẩn phụ thuộc vào các trạng thái trước đó, tạo thành một chuỗi phụ thuộc tuần tự:</a:t>
            </a:r>
            <a:endParaRPr lang="en-US" sz="2000" kern="0">
              <a:solidFill>
                <a:srgbClr val="C00000"/>
              </a:solidFill>
              <a:latin typeface="Arial"/>
            </a:endParaRPr>
          </a:p>
        </p:txBody>
      </p:sp>
      <p:sp>
        <p:nvSpPr>
          <p:cNvPr id="8" name="Rectangle 25">
            <a:extLst>
              <a:ext uri="{FF2B5EF4-FFF2-40B4-BE49-F238E27FC236}">
                <a16:creationId xmlns:a16="http://schemas.microsoft.com/office/drawing/2014/main" id="{FF811112-94FE-42F7-9D3D-BCA5AA605EE5}"/>
              </a:ext>
            </a:extLst>
          </p:cNvPr>
          <p:cNvSpPr>
            <a:spLocks noChangeArrowheads="1"/>
          </p:cNvSpPr>
          <p:nvPr/>
        </p:nvSpPr>
        <p:spPr bwMode="black">
          <a:xfrm>
            <a:off x="-1" y="4458783"/>
            <a:ext cx="12176077" cy="188199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Ø"/>
              <a:defRPr/>
            </a:pPr>
            <a:r>
              <a:rPr lang="vi-VN" sz="2000" kern="0">
                <a:solidFill>
                  <a:srgbClr val="00B050"/>
                </a:solidFill>
                <a:latin typeface="Arial"/>
              </a:rPr>
              <a:t>ℎ</a:t>
            </a:r>
            <a:r>
              <a:rPr lang="vi-VN" sz="2000" kern="0" baseline="-25000">
                <a:solidFill>
                  <a:srgbClr val="00B050"/>
                </a:solidFill>
                <a:latin typeface="Arial"/>
              </a:rPr>
              <a:t>3</a:t>
            </a:r>
            <a:r>
              <a:rPr lang="vi-VN" sz="2000" kern="0">
                <a:solidFill>
                  <a:srgbClr val="00B050"/>
                </a:solidFill>
                <a:latin typeface="Arial"/>
              </a:rPr>
              <a:t>​  phụ thuộc vào ℎ</a:t>
            </a:r>
            <a:r>
              <a:rPr lang="vi-VN" sz="2000" kern="0" baseline="-25000">
                <a:solidFill>
                  <a:srgbClr val="00B050"/>
                </a:solidFill>
                <a:latin typeface="Arial"/>
              </a:rPr>
              <a:t>2</a:t>
            </a:r>
            <a:r>
              <a:rPr lang="vi-VN" sz="2000" kern="0">
                <a:solidFill>
                  <a:srgbClr val="00B050"/>
                </a:solidFill>
                <a:latin typeface="Arial"/>
              </a:rPr>
              <a:t>​ và ma trận trọng số 𝑊</a:t>
            </a:r>
            <a:endParaRPr lang="en-US" sz="2000" kern="0">
              <a:solidFill>
                <a:srgbClr val="00B050"/>
              </a:solidFill>
              <a:latin typeface="Arial"/>
            </a:endParaRPr>
          </a:p>
          <a:p>
            <a:pPr marL="342900" lvl="0" indent="-342900" algn="just" fontAlgn="auto">
              <a:lnSpc>
                <a:spcPct val="150000"/>
              </a:lnSpc>
              <a:spcBef>
                <a:spcPts val="0"/>
              </a:spcBef>
              <a:spcAft>
                <a:spcPts val="0"/>
              </a:spcAft>
              <a:buFont typeface="Wingdings" panose="05000000000000000000" pitchFamily="2" charset="2"/>
              <a:buChar char="Ø"/>
              <a:defRPr/>
            </a:pPr>
            <a:r>
              <a:rPr lang="vi-VN" sz="2000" kern="0">
                <a:solidFill>
                  <a:srgbClr val="00B050"/>
                </a:solidFill>
                <a:latin typeface="Arial"/>
              </a:rPr>
              <a:t>ℎ</a:t>
            </a:r>
            <a:r>
              <a:rPr lang="vi-VN" sz="2000" kern="0" baseline="-25000">
                <a:solidFill>
                  <a:srgbClr val="00B050"/>
                </a:solidFill>
                <a:latin typeface="Arial"/>
              </a:rPr>
              <a:t>2</a:t>
            </a:r>
            <a:r>
              <a:rPr lang="vi-VN" sz="2000" kern="0">
                <a:solidFill>
                  <a:srgbClr val="00B050"/>
                </a:solidFill>
                <a:latin typeface="Arial"/>
              </a:rPr>
              <a:t>​  phụ thuộc vào ℎ</a:t>
            </a:r>
            <a:r>
              <a:rPr lang="vi-VN" sz="2000" kern="0" baseline="-25000">
                <a:solidFill>
                  <a:srgbClr val="00B050"/>
                </a:solidFill>
                <a:latin typeface="Arial"/>
              </a:rPr>
              <a:t>1</a:t>
            </a:r>
            <a:r>
              <a:rPr lang="vi-VN" sz="2000" kern="0">
                <a:solidFill>
                  <a:srgbClr val="00B050"/>
                </a:solidFill>
                <a:latin typeface="Arial"/>
              </a:rPr>
              <a:t>​ và 𝑊</a:t>
            </a:r>
            <a:endParaRPr lang="en-US" sz="2000" kern="0">
              <a:solidFill>
                <a:srgbClr val="00B050"/>
              </a:solidFill>
              <a:latin typeface="Arial"/>
            </a:endParaRPr>
          </a:p>
          <a:p>
            <a:pPr marL="342900" lvl="0" indent="-342900" algn="just" fontAlgn="auto">
              <a:lnSpc>
                <a:spcPct val="150000"/>
              </a:lnSpc>
              <a:spcBef>
                <a:spcPts val="0"/>
              </a:spcBef>
              <a:spcAft>
                <a:spcPts val="0"/>
              </a:spcAft>
              <a:buFont typeface="Wingdings" panose="05000000000000000000" pitchFamily="2" charset="2"/>
              <a:buChar char="Ø"/>
              <a:defRPr/>
            </a:pPr>
            <a:r>
              <a:rPr lang="vi-VN" sz="2000" kern="0">
                <a:solidFill>
                  <a:srgbClr val="00B050"/>
                </a:solidFill>
                <a:latin typeface="Arial"/>
              </a:rPr>
              <a:t>ℎ</a:t>
            </a:r>
            <a:r>
              <a:rPr lang="vi-VN" sz="2000" kern="0" baseline="-25000">
                <a:solidFill>
                  <a:srgbClr val="00B050"/>
                </a:solidFill>
                <a:latin typeface="Arial"/>
              </a:rPr>
              <a:t>1</a:t>
            </a:r>
            <a:r>
              <a:rPr lang="vi-VN" sz="2000" kern="0">
                <a:solidFill>
                  <a:srgbClr val="00B050"/>
                </a:solidFill>
                <a:latin typeface="Arial"/>
              </a:rPr>
              <a:t>  phụ thuộc vào ℎ</a:t>
            </a:r>
            <a:r>
              <a:rPr lang="vi-VN" sz="2000" kern="0" baseline="-25000">
                <a:solidFill>
                  <a:srgbClr val="00B050"/>
                </a:solidFill>
                <a:latin typeface="Arial"/>
              </a:rPr>
              <a:t>0</a:t>
            </a:r>
            <a:r>
              <a:rPr lang="vi-VN" sz="2000" kern="0">
                <a:solidFill>
                  <a:srgbClr val="00B050"/>
                </a:solidFill>
                <a:latin typeface="Arial"/>
              </a:rPr>
              <a:t>​ và 𝑊, với ℎ</a:t>
            </a:r>
            <a:r>
              <a:rPr lang="vi-VN" sz="2000" kern="0" baseline="-25000">
                <a:solidFill>
                  <a:srgbClr val="00B050"/>
                </a:solidFill>
                <a:latin typeface="Arial"/>
              </a:rPr>
              <a:t>0</a:t>
            </a:r>
            <a:r>
              <a:rPr lang="vi-VN" sz="2000" kern="0">
                <a:solidFill>
                  <a:srgbClr val="00B050"/>
                </a:solidFill>
                <a:latin typeface="Arial"/>
              </a:rPr>
              <a:t>​  là trạng thái khởi tạo, không đổi.</a:t>
            </a:r>
            <a:endParaRPr lang="en-US" sz="2000" kern="0">
              <a:solidFill>
                <a:srgbClr val="00B050"/>
              </a:solidFill>
              <a:latin typeface="Arial"/>
            </a:endParaRPr>
          </a:p>
          <a:p>
            <a:pPr lvl="0" algn="just" fontAlgn="auto">
              <a:lnSpc>
                <a:spcPct val="150000"/>
              </a:lnSpc>
              <a:spcBef>
                <a:spcPts val="0"/>
              </a:spcBef>
              <a:spcAft>
                <a:spcPts val="0"/>
              </a:spcAft>
              <a:defRPr/>
            </a:pPr>
            <a:r>
              <a:rPr lang="vi-VN" sz="2000" kern="0">
                <a:solidFill>
                  <a:srgbClr val="00B050"/>
                </a:solidFill>
                <a:latin typeface="Arial"/>
              </a:rPr>
              <a:t>Chuỗi phụ thuộc này được quản lý bằng cách lan truyền ngược gradient qua từng trạng thái trong chuỗi</a:t>
            </a:r>
            <a:endParaRPr kumimoji="0" lang="en-US" sz="2000" b="0" i="0" u="none" strike="noStrike" kern="0" cap="none" spc="0" normalizeH="0" baseline="0" noProof="0">
              <a:ln>
                <a:noFill/>
              </a:ln>
              <a:solidFill>
                <a:srgbClr val="00B050"/>
              </a:solidFill>
              <a:effectLst/>
              <a:uLnTx/>
              <a:uFillTx/>
              <a:latin typeface="Arial"/>
            </a:endParaRPr>
          </a:p>
        </p:txBody>
      </p:sp>
    </p:spTree>
    <p:extLst>
      <p:ext uri="{BB962C8B-B14F-4D97-AF65-F5344CB8AC3E}">
        <p14:creationId xmlns:p14="http://schemas.microsoft.com/office/powerpoint/2010/main" val="7279589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randombar(horizont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BFC01-6DDD-CA44-3F23-6D30EAFCF639}"/>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828CD4FF-4B23-8788-0144-7573FA08D854}"/>
              </a:ext>
            </a:extLst>
          </p:cNvPr>
          <p:cNvSpPr>
            <a:spLocks noGrp="1" noChangeArrowheads="1"/>
          </p:cNvSpPr>
          <p:nvPr>
            <p:ph type="title"/>
          </p:nvPr>
        </p:nvSpPr>
        <p:spPr/>
        <p:txBody>
          <a:bodyPr/>
          <a:lstStyle/>
          <a:p>
            <a:r>
              <a:rPr lang="vi-VN" sz="3200"/>
              <a:t>Quá trình </a:t>
            </a:r>
            <a:r>
              <a:rPr lang="en-US" sz="3200"/>
              <a:t>huấn luyện </a:t>
            </a:r>
            <a:r>
              <a:rPr lang="vi-VN" sz="3200"/>
              <a:t>trong </a:t>
            </a:r>
            <a:r>
              <a:rPr lang="en-US" sz="3200"/>
              <a:t>RNN</a:t>
            </a:r>
            <a:endParaRPr lang="en-US" sz="3200" dirty="0"/>
          </a:p>
        </p:txBody>
      </p:sp>
      <p:sp>
        <p:nvSpPr>
          <p:cNvPr id="2" name="Slide Number Placeholder 1">
            <a:extLst>
              <a:ext uri="{FF2B5EF4-FFF2-40B4-BE49-F238E27FC236}">
                <a16:creationId xmlns:a16="http://schemas.microsoft.com/office/drawing/2014/main" id="{8EEEAD32-288F-815D-2526-0627C508C72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Rectangle 25">
            <a:extLst>
              <a:ext uri="{FF2B5EF4-FFF2-40B4-BE49-F238E27FC236}">
                <a16:creationId xmlns:a16="http://schemas.microsoft.com/office/drawing/2014/main" id="{F4242F6A-7451-45BF-FF45-EB13F5570FD4}"/>
              </a:ext>
            </a:extLst>
          </p:cNvPr>
          <p:cNvSpPr>
            <a:spLocks noChangeArrowheads="1"/>
          </p:cNvSpPr>
          <p:nvPr/>
        </p:nvSpPr>
        <p:spPr bwMode="black">
          <a:xfrm>
            <a:off x="0" y="1094201"/>
            <a:ext cx="12191999" cy="142032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vi-VN" sz="2000" kern="0">
                <a:solidFill>
                  <a:srgbClr val="0070C0"/>
                </a:solidFill>
                <a:latin typeface="Arial"/>
              </a:rPr>
              <a:t>Dữ liệu đầu vào tại mỗi bước thời gian</a:t>
            </a:r>
            <a:endParaRPr lang="en-US" sz="2000" kern="0">
              <a:solidFill>
                <a:srgbClr val="0070C0"/>
              </a:solidFill>
              <a:latin typeface="Arial"/>
            </a:endParaRPr>
          </a:p>
          <a:p>
            <a:pPr lvl="0" algn="just" fontAlgn="auto">
              <a:lnSpc>
                <a:spcPct val="150000"/>
              </a:lnSpc>
              <a:spcBef>
                <a:spcPts val="0"/>
              </a:spcBef>
              <a:spcAft>
                <a:spcPts val="0"/>
              </a:spcAft>
              <a:defRPr/>
            </a:pPr>
            <a:r>
              <a:rPr lang="vi-VN" sz="2000" kern="0">
                <a:solidFill>
                  <a:srgbClr val="000000"/>
                </a:solidFill>
                <a:latin typeface="Arial"/>
              </a:rPr>
              <a:t>Tại mỗi bước thời gian 𝑡, một vector đầu vào duy nhất 𝑥</a:t>
            </a:r>
            <a:r>
              <a:rPr lang="vi-VN" sz="2000" kern="0" baseline="-25000">
                <a:solidFill>
                  <a:srgbClr val="000000"/>
                </a:solidFill>
                <a:latin typeface="Arial"/>
              </a:rPr>
              <a:t>𝑡</a:t>
            </a:r>
            <a:r>
              <a:rPr lang="vi-VN" sz="2000" kern="0">
                <a:solidFill>
                  <a:srgbClr val="000000"/>
                </a:solidFill>
                <a:latin typeface="Arial"/>
              </a:rPr>
              <a:t>​ được cung cấp cho mạng</a:t>
            </a:r>
            <a:r>
              <a:rPr lang="en-US" sz="2000" kern="0">
                <a:solidFill>
                  <a:srgbClr val="000000"/>
                </a:solidFill>
                <a:latin typeface="Arial"/>
              </a:rPr>
              <a:t> →</a:t>
            </a:r>
            <a:r>
              <a:rPr lang="vi-VN" sz="2000" kern="0">
                <a:solidFill>
                  <a:srgbClr val="000000"/>
                </a:solidFill>
                <a:latin typeface="Arial"/>
              </a:rPr>
              <a:t> đại diện cho thông tin từ chuỗi đầu vào tại thời điểm hiện tại</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sp>
        <p:nvSpPr>
          <p:cNvPr id="13" name="Rectangle 25">
            <a:extLst>
              <a:ext uri="{FF2B5EF4-FFF2-40B4-BE49-F238E27FC236}">
                <a16:creationId xmlns:a16="http://schemas.microsoft.com/office/drawing/2014/main" id="{659A9F65-A6B3-497B-ACC8-53581FDA2C47}"/>
              </a:ext>
            </a:extLst>
          </p:cNvPr>
          <p:cNvSpPr>
            <a:spLocks noChangeArrowheads="1"/>
          </p:cNvSpPr>
          <p:nvPr/>
        </p:nvSpPr>
        <p:spPr bwMode="black">
          <a:xfrm>
            <a:off x="-1" y="2514526"/>
            <a:ext cx="12191999" cy="188199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en-US" sz="2000" kern="0">
                <a:solidFill>
                  <a:srgbClr val="0070C0"/>
                </a:solidFill>
                <a:latin typeface="Arial"/>
              </a:rPr>
              <a:t>T</a:t>
            </a:r>
            <a:r>
              <a:rPr lang="vi-VN" sz="2000" kern="0">
                <a:solidFill>
                  <a:srgbClr val="0070C0"/>
                </a:solidFill>
                <a:latin typeface="Arial"/>
              </a:rPr>
              <a:t>ính toán trạng thái ẩn ℎ</a:t>
            </a:r>
            <a:r>
              <a:rPr lang="vi-VN" sz="2000" kern="0" baseline="-25000">
                <a:solidFill>
                  <a:srgbClr val="0070C0"/>
                </a:solidFill>
                <a:latin typeface="Arial"/>
              </a:rPr>
              <a:t>𝑡</a:t>
            </a:r>
            <a:endParaRPr lang="en-US" sz="2000" kern="0" baseline="-25000">
              <a:solidFill>
                <a:srgbClr val="0070C0"/>
              </a:solidFill>
              <a:latin typeface="Arial"/>
            </a:endParaRPr>
          </a:p>
          <a:p>
            <a:pPr algn="just" fontAlgn="auto">
              <a:lnSpc>
                <a:spcPct val="150000"/>
              </a:lnSpc>
              <a:spcBef>
                <a:spcPts val="0"/>
              </a:spcBef>
              <a:spcAft>
                <a:spcPts val="0"/>
              </a:spcAft>
              <a:defRPr/>
            </a:pPr>
            <a:r>
              <a:rPr lang="vi-VN" sz="2000" kern="0">
                <a:solidFill>
                  <a:srgbClr val="000000"/>
                </a:solidFill>
                <a:latin typeface="Arial"/>
              </a:rPr>
              <a:t>Trạng thái ẩn tại bước thời gian 𝑡, ký hiệu là ℎ</a:t>
            </a:r>
            <a:r>
              <a:rPr lang="vi-VN" sz="2000" kern="0" baseline="-25000">
                <a:solidFill>
                  <a:srgbClr val="000000"/>
                </a:solidFill>
                <a:latin typeface="Arial"/>
              </a:rPr>
              <a:t>𝑡</a:t>
            </a:r>
            <a:r>
              <a:rPr lang="vi-VN" sz="2000" kern="0">
                <a:solidFill>
                  <a:srgbClr val="000000"/>
                </a:solidFill>
                <a:latin typeface="Arial"/>
              </a:rPr>
              <a:t>, được tính toán bằng cách sử dụng đầu vào tại thời điểm 𝑡 (tức là 𝑥</a:t>
            </a:r>
            <a:r>
              <a:rPr lang="vi-VN" sz="2000" kern="0" baseline="-25000">
                <a:solidFill>
                  <a:srgbClr val="000000"/>
                </a:solidFill>
                <a:latin typeface="Arial"/>
              </a:rPr>
              <a:t>𝑡</a:t>
            </a:r>
            <a:r>
              <a:rPr lang="vi-VN" sz="2000" kern="0">
                <a:solidFill>
                  <a:srgbClr val="000000"/>
                </a:solidFill>
                <a:latin typeface="Arial"/>
              </a:rPr>
              <a:t>​) và trạng thái ẩn trước đó ℎ</a:t>
            </a:r>
            <a:r>
              <a:rPr lang="vi-VN" sz="2000" kern="0" baseline="-25000">
                <a:solidFill>
                  <a:srgbClr val="000000"/>
                </a:solidFill>
                <a:latin typeface="Arial"/>
              </a:rPr>
              <a:t>𝑡−1</a:t>
            </a:r>
            <a:r>
              <a:rPr lang="vi-VN" sz="2000" kern="0">
                <a:solidFill>
                  <a:srgbClr val="000000"/>
                </a:solidFill>
                <a:latin typeface="Arial"/>
              </a:rPr>
              <a:t>​ . Công thức tính trạng thái ẩn như sau:</a:t>
            </a:r>
            <a:endParaRPr lang="en-US" sz="2000" kern="0">
              <a:solidFill>
                <a:srgbClr val="000000"/>
              </a:solidFill>
              <a:latin typeface="Arial"/>
            </a:endParaRPr>
          </a:p>
          <a:p>
            <a:pPr algn="just" fontAlgn="auto">
              <a:lnSpc>
                <a:spcPct val="150000"/>
              </a:lnSpc>
              <a:spcBef>
                <a:spcPts val="0"/>
              </a:spcBef>
              <a:spcAft>
                <a:spcPts val="0"/>
              </a:spcAft>
              <a:defRPr/>
            </a:pPr>
            <a:r>
              <a:rPr lang="vi-VN" sz="2000" kern="0">
                <a:solidFill>
                  <a:srgbClr val="000000"/>
                </a:solidFill>
                <a:latin typeface="Arial"/>
              </a:rPr>
              <a:t>ℎ</a:t>
            </a:r>
            <a:r>
              <a:rPr lang="vi-VN" sz="2000" kern="0" baseline="-25000">
                <a:solidFill>
                  <a:srgbClr val="000000"/>
                </a:solidFill>
                <a:latin typeface="Arial"/>
              </a:rPr>
              <a:t>𝑡 </a:t>
            </a:r>
            <a:r>
              <a:rPr lang="vi-VN" sz="2000" i="1" kern="0">
                <a:solidFill>
                  <a:srgbClr val="000000"/>
                </a:solidFill>
                <a:latin typeface="Arial"/>
              </a:rPr>
              <a:t>=</a:t>
            </a:r>
            <a:r>
              <a:rPr lang="en-US" sz="2000" i="1" kern="0">
                <a:solidFill>
                  <a:srgbClr val="000000"/>
                </a:solidFill>
                <a:latin typeface="Arial"/>
              </a:rPr>
              <a:t> </a:t>
            </a:r>
            <a:r>
              <a:rPr lang="vi-VN" sz="2000" kern="0">
                <a:solidFill>
                  <a:srgbClr val="000000"/>
                </a:solidFill>
                <a:latin typeface="Arial"/>
              </a:rPr>
              <a:t>tanh</a:t>
            </a:r>
            <a:r>
              <a:rPr lang="vi-VN" sz="2000" i="1" kern="0">
                <a:solidFill>
                  <a:srgbClr val="000000"/>
                </a:solidFill>
                <a:latin typeface="Arial"/>
              </a:rPr>
              <a:t>(</a:t>
            </a:r>
            <a:r>
              <a:rPr lang="en-US" sz="2000" i="1" kern="0">
                <a:solidFill>
                  <a:srgbClr val="000000"/>
                </a:solidFill>
                <a:latin typeface="Arial"/>
              </a:rPr>
              <a:t>W</a:t>
            </a:r>
            <a:r>
              <a:rPr lang="en-US" sz="2000" i="1" kern="0" baseline="-25000">
                <a:solidFill>
                  <a:srgbClr val="000000"/>
                </a:solidFill>
                <a:latin typeface="Arial"/>
              </a:rPr>
              <a:t>hh</a:t>
            </a:r>
            <a:r>
              <a:rPr lang="en-US" sz="2000" i="1" kern="0">
                <a:solidFill>
                  <a:srgbClr val="000000"/>
                </a:solidFill>
                <a:latin typeface="Arial"/>
              </a:rPr>
              <a:t>.</a:t>
            </a:r>
            <a:r>
              <a:rPr lang="vi-VN" sz="2000" kern="0">
                <a:solidFill>
                  <a:srgbClr val="000000"/>
                </a:solidFill>
                <a:latin typeface="Arial"/>
              </a:rPr>
              <a:t>ℎ</a:t>
            </a:r>
            <a:r>
              <a:rPr lang="vi-VN" sz="2000" kern="0" baseline="-25000">
                <a:solidFill>
                  <a:srgbClr val="000000"/>
                </a:solidFill>
                <a:latin typeface="Arial"/>
              </a:rPr>
              <a:t>𝑡</a:t>
            </a:r>
            <a:r>
              <a:rPr lang="vi-VN" sz="2000" i="1" kern="0" baseline="-25000">
                <a:solidFill>
                  <a:srgbClr val="000000"/>
                </a:solidFill>
                <a:latin typeface="Arial"/>
              </a:rPr>
              <a:t>−1</a:t>
            </a:r>
            <a:r>
              <a:rPr lang="en-US" sz="2000" i="1" kern="0" baseline="-25000">
                <a:solidFill>
                  <a:srgbClr val="000000"/>
                </a:solidFill>
                <a:latin typeface="Arial"/>
              </a:rPr>
              <a:t> </a:t>
            </a:r>
            <a:r>
              <a:rPr lang="vi-VN" sz="2000" i="1" kern="0">
                <a:solidFill>
                  <a:srgbClr val="000000"/>
                </a:solidFill>
                <a:latin typeface="Arial"/>
              </a:rPr>
              <a:t>+</a:t>
            </a:r>
            <a:r>
              <a:rPr lang="en-US" sz="2000" i="1" kern="0">
                <a:solidFill>
                  <a:srgbClr val="000000"/>
                </a:solidFill>
                <a:latin typeface="Arial"/>
              </a:rPr>
              <a:t> W</a:t>
            </a:r>
            <a:r>
              <a:rPr lang="en-US" sz="2000" i="1" kern="0" baseline="-25000">
                <a:solidFill>
                  <a:srgbClr val="000000"/>
                </a:solidFill>
                <a:latin typeface="Arial"/>
              </a:rPr>
              <a:t>hx</a:t>
            </a:r>
            <a:r>
              <a:rPr lang="en-US" sz="2000" i="1" kern="0">
                <a:solidFill>
                  <a:srgbClr val="000000"/>
                </a:solidFill>
                <a:latin typeface="Arial"/>
              </a:rPr>
              <a:t>.x</a:t>
            </a:r>
            <a:r>
              <a:rPr lang="en-US" sz="2000" i="1" kern="0" baseline="-25000">
                <a:solidFill>
                  <a:srgbClr val="000000"/>
                </a:solidFill>
                <a:latin typeface="Arial"/>
              </a:rPr>
              <a:t>t</a:t>
            </a:r>
            <a:r>
              <a:rPr lang="vi-VN" sz="2000" i="1" kern="0">
                <a:solidFill>
                  <a:srgbClr val="000000"/>
                </a:solidFill>
                <a:latin typeface="Arial"/>
              </a:rPr>
              <a:t>)</a:t>
            </a:r>
            <a:endParaRPr lang="en-US" sz="2000" i="1" kern="0">
              <a:solidFill>
                <a:srgbClr val="000000"/>
              </a:solidFill>
              <a:latin typeface="Arial"/>
            </a:endParaRPr>
          </a:p>
        </p:txBody>
      </p:sp>
      <p:sp>
        <p:nvSpPr>
          <p:cNvPr id="14" name="Rectangle 25">
            <a:extLst>
              <a:ext uri="{FF2B5EF4-FFF2-40B4-BE49-F238E27FC236}">
                <a16:creationId xmlns:a16="http://schemas.microsoft.com/office/drawing/2014/main" id="{39D36F2C-D6B5-4ECC-8C3C-9396FDA929F2}"/>
              </a:ext>
            </a:extLst>
          </p:cNvPr>
          <p:cNvSpPr>
            <a:spLocks noChangeArrowheads="1"/>
          </p:cNvSpPr>
          <p:nvPr/>
        </p:nvSpPr>
        <p:spPr bwMode="black">
          <a:xfrm>
            <a:off x="-2" y="4418769"/>
            <a:ext cx="12191999" cy="142032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en-US" sz="2000" kern="0">
                <a:solidFill>
                  <a:srgbClr val="0070C0"/>
                </a:solidFill>
                <a:latin typeface="Arial"/>
              </a:rPr>
              <a:t>Chuyển Đổi Trạng Thái</a:t>
            </a:r>
          </a:p>
          <a:p>
            <a:pPr lvl="0" algn="just" fontAlgn="auto">
              <a:lnSpc>
                <a:spcPct val="150000"/>
              </a:lnSpc>
              <a:spcBef>
                <a:spcPts val="0"/>
              </a:spcBef>
              <a:spcAft>
                <a:spcPts val="0"/>
              </a:spcAft>
              <a:defRPr/>
            </a:pPr>
            <a:r>
              <a:rPr lang="vi-VN" sz="2000" kern="0">
                <a:solidFill>
                  <a:srgbClr val="000000"/>
                </a:solidFill>
                <a:latin typeface="Arial"/>
              </a:rPr>
              <a:t>Sau khi tính toán trạng thái ẩn ℎ</a:t>
            </a:r>
            <a:r>
              <a:rPr lang="vi-VN" sz="2000" kern="0" baseline="-25000">
                <a:solidFill>
                  <a:srgbClr val="000000"/>
                </a:solidFill>
                <a:latin typeface="Arial"/>
              </a:rPr>
              <a:t>𝑡</a:t>
            </a:r>
            <a:r>
              <a:rPr lang="vi-VN" sz="2000" kern="0">
                <a:solidFill>
                  <a:srgbClr val="000000"/>
                </a:solidFill>
                <a:latin typeface="Arial"/>
              </a:rPr>
              <a:t>, nó sẽ trở thành trạng thái ẩn ℎ</a:t>
            </a:r>
            <a:r>
              <a:rPr lang="vi-VN" sz="2000" kern="0" baseline="-25000">
                <a:solidFill>
                  <a:srgbClr val="000000"/>
                </a:solidFill>
                <a:latin typeface="Arial"/>
              </a:rPr>
              <a:t>𝑡−1</a:t>
            </a:r>
            <a:r>
              <a:rPr lang="vi-VN" sz="2000" kern="0">
                <a:solidFill>
                  <a:srgbClr val="000000"/>
                </a:solidFill>
                <a:latin typeface="Arial"/>
              </a:rPr>
              <a:t> tại bước thời gian tiếp theo, phục vụ cho việc tính toán ở bước thời gian tiếp theo</a:t>
            </a:r>
            <a:endParaRPr lang="en-US" sz="2000" i="1" kern="0">
              <a:solidFill>
                <a:srgbClr val="000000"/>
              </a:solidFill>
              <a:latin typeface="Arial"/>
            </a:endParaRPr>
          </a:p>
        </p:txBody>
      </p:sp>
    </p:spTree>
    <p:extLst>
      <p:ext uri="{BB962C8B-B14F-4D97-AF65-F5344CB8AC3E}">
        <p14:creationId xmlns:p14="http://schemas.microsoft.com/office/powerpoint/2010/main" val="1409978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randombar(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randombar(horizontal)">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BFC01-6DDD-CA44-3F23-6D30EAFCF639}"/>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828CD4FF-4B23-8788-0144-7573FA08D854}"/>
              </a:ext>
            </a:extLst>
          </p:cNvPr>
          <p:cNvSpPr>
            <a:spLocks noGrp="1" noChangeArrowheads="1"/>
          </p:cNvSpPr>
          <p:nvPr>
            <p:ph type="title"/>
          </p:nvPr>
        </p:nvSpPr>
        <p:spPr/>
        <p:txBody>
          <a:bodyPr/>
          <a:lstStyle/>
          <a:p>
            <a:r>
              <a:rPr lang="vi-VN" sz="3200"/>
              <a:t>Quá trình </a:t>
            </a:r>
            <a:r>
              <a:rPr lang="en-US" sz="3200"/>
              <a:t>huấn luyện </a:t>
            </a:r>
            <a:r>
              <a:rPr lang="vi-VN" sz="3200"/>
              <a:t>trong </a:t>
            </a:r>
            <a:r>
              <a:rPr lang="en-US" sz="3200"/>
              <a:t>RNN</a:t>
            </a:r>
            <a:endParaRPr lang="en-US" sz="3200" dirty="0"/>
          </a:p>
        </p:txBody>
      </p:sp>
      <p:sp>
        <p:nvSpPr>
          <p:cNvPr id="2" name="Slide Number Placeholder 1">
            <a:extLst>
              <a:ext uri="{FF2B5EF4-FFF2-40B4-BE49-F238E27FC236}">
                <a16:creationId xmlns:a16="http://schemas.microsoft.com/office/drawing/2014/main" id="{8EEEAD32-288F-815D-2526-0627C508C72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Rectangle 25">
            <a:extLst>
              <a:ext uri="{FF2B5EF4-FFF2-40B4-BE49-F238E27FC236}">
                <a16:creationId xmlns:a16="http://schemas.microsoft.com/office/drawing/2014/main" id="{F4242F6A-7451-45BF-FF45-EB13F5570FD4}"/>
              </a:ext>
            </a:extLst>
          </p:cNvPr>
          <p:cNvSpPr>
            <a:spLocks noChangeArrowheads="1"/>
          </p:cNvSpPr>
          <p:nvPr/>
        </p:nvSpPr>
        <p:spPr bwMode="black">
          <a:xfrm>
            <a:off x="0" y="1094201"/>
            <a:ext cx="12191999" cy="142032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vi-VN" sz="2000" kern="0">
                <a:solidFill>
                  <a:srgbClr val="0070C0"/>
                </a:solidFill>
                <a:latin typeface="Arial"/>
              </a:rPr>
              <a:t>Tạo đầu ra và tính</a:t>
            </a:r>
            <a:r>
              <a:rPr lang="en-US" sz="2000" kern="0">
                <a:solidFill>
                  <a:srgbClr val="0070C0"/>
                </a:solidFill>
                <a:latin typeface="Arial"/>
              </a:rPr>
              <a:t> sai số</a:t>
            </a:r>
            <a:endParaRPr kumimoji="0" lang="en-US" sz="2000" b="0" i="0" u="none" strike="noStrike" kern="0" cap="none" spc="0" normalizeH="0" baseline="0" noProof="0">
              <a:ln>
                <a:noFill/>
              </a:ln>
              <a:solidFill>
                <a:srgbClr val="0070C0"/>
              </a:solidFill>
              <a:effectLst/>
              <a:uLnTx/>
              <a:uFillTx/>
              <a:latin typeface="Arial"/>
              <a:ea typeface="+mn-ea"/>
              <a:cs typeface="+mn-cs"/>
            </a:endParaRPr>
          </a:p>
          <a:p>
            <a:pPr lvl="0" algn="just" fontAlgn="auto">
              <a:lnSpc>
                <a:spcPct val="150000"/>
              </a:lnSpc>
              <a:spcBef>
                <a:spcPts val="0"/>
              </a:spcBef>
              <a:spcAft>
                <a:spcPts val="0"/>
              </a:spcAft>
              <a:defRPr/>
            </a:pPr>
            <a:r>
              <a:rPr lang="vi-VN" sz="2000" kern="0">
                <a:solidFill>
                  <a:srgbClr val="000000"/>
                </a:solidFill>
                <a:latin typeface="Arial"/>
              </a:rPr>
              <a:t>Trạng thái ẩn cuối cùng được sử dụng để tính toán đầu ra của mạng, sau đó được so sánh với đầu ra mục tiêu thực tế để tạo ra </a:t>
            </a:r>
            <a:r>
              <a:rPr lang="en-US" sz="2000" kern="0">
                <a:solidFill>
                  <a:srgbClr val="000000"/>
                </a:solidFill>
                <a:latin typeface="Arial"/>
              </a:rPr>
              <a:t>sai số</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sp>
        <p:nvSpPr>
          <p:cNvPr id="13" name="Rectangle 25">
            <a:extLst>
              <a:ext uri="{FF2B5EF4-FFF2-40B4-BE49-F238E27FC236}">
                <a16:creationId xmlns:a16="http://schemas.microsoft.com/office/drawing/2014/main" id="{659A9F65-A6B3-497B-ACC8-53581FDA2C47}"/>
              </a:ext>
            </a:extLst>
          </p:cNvPr>
          <p:cNvSpPr>
            <a:spLocks noChangeArrowheads="1"/>
          </p:cNvSpPr>
          <p:nvPr/>
        </p:nvSpPr>
        <p:spPr bwMode="black">
          <a:xfrm>
            <a:off x="-1" y="2514526"/>
            <a:ext cx="12191999" cy="95866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vi-VN" sz="2000" kern="0">
                <a:solidFill>
                  <a:srgbClr val="0070C0"/>
                </a:solidFill>
                <a:latin typeface="Arial"/>
              </a:rPr>
              <a:t>Lan truyền ngược theo thời gian (BPTT):</a:t>
            </a:r>
            <a:endParaRPr lang="en-US" sz="2000" kern="0">
              <a:solidFill>
                <a:srgbClr val="0070C0"/>
              </a:solidFill>
              <a:latin typeface="Arial"/>
            </a:endParaRPr>
          </a:p>
          <a:p>
            <a:pPr lvl="0" algn="just" fontAlgn="auto">
              <a:lnSpc>
                <a:spcPct val="150000"/>
              </a:lnSpc>
              <a:spcBef>
                <a:spcPts val="0"/>
              </a:spcBef>
              <a:spcAft>
                <a:spcPts val="0"/>
              </a:spcAft>
              <a:defRPr/>
            </a:pPr>
            <a:r>
              <a:rPr lang="en-US" sz="2000" kern="0">
                <a:solidFill>
                  <a:srgbClr val="000000"/>
                </a:solidFill>
                <a:latin typeface="Arial"/>
              </a:rPr>
              <a:t>Sai số </a:t>
            </a:r>
            <a:r>
              <a:rPr lang="vi-VN" sz="2000" kern="0">
                <a:solidFill>
                  <a:srgbClr val="000000"/>
                </a:solidFill>
                <a:latin typeface="Arial"/>
              </a:rPr>
              <a:t>này được truyền ngược qua từng bước thời gian để cập nhật trọng số và </a:t>
            </a:r>
            <a:r>
              <a:rPr lang="en-US" sz="2000" kern="0">
                <a:solidFill>
                  <a:srgbClr val="000000"/>
                </a:solidFill>
                <a:latin typeface="Arial"/>
              </a:rPr>
              <a:t>huấn luyện </a:t>
            </a:r>
            <a:r>
              <a:rPr lang="vi-VN" sz="2000" kern="0">
                <a:solidFill>
                  <a:srgbClr val="000000"/>
                </a:solidFill>
                <a:latin typeface="Arial"/>
              </a:rPr>
              <a:t>RNN</a:t>
            </a:r>
            <a:endParaRPr kumimoji="0" lang="en-US" sz="2000" b="0" i="1" u="none" strike="noStrike" kern="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7639859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endParaRPr lang="vi-VN" sz="3200" dirty="0"/>
          </a:p>
        </p:txBody>
      </p:sp>
      <p:sp>
        <p:nvSpPr>
          <p:cNvPr id="2" name="Slide Number Placeholder 1">
            <a:extLst>
              <a:ext uri="{FF2B5EF4-FFF2-40B4-BE49-F238E27FC236}">
                <a16:creationId xmlns:a16="http://schemas.microsoft.com/office/drawing/2014/main" id="{94D98416-5966-4429-8FC9-45E4C827526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30" name="Text Box 15">
            <a:extLst>
              <a:ext uri="{FF2B5EF4-FFF2-40B4-BE49-F238E27FC236}">
                <a16:creationId xmlns:a16="http://schemas.microsoft.com/office/drawing/2014/main" id="{A7CECB34-55BD-45B3-AB4C-AEC8A6D54E9D}"/>
              </a:ext>
            </a:extLst>
          </p:cNvPr>
          <p:cNvSpPr txBox="1">
            <a:spLocks noChangeArrowheads="1"/>
          </p:cNvSpPr>
          <p:nvPr/>
        </p:nvSpPr>
        <p:spPr bwMode="gray">
          <a:xfrm>
            <a:off x="3366756" y="3482975"/>
            <a:ext cx="354013" cy="457200"/>
          </a:xfrm>
          <a:prstGeom prst="rect">
            <a:avLst/>
          </a:prstGeom>
          <a:noFill/>
          <a:ln w="9525" algn="ctr">
            <a:noFill/>
            <a:miter lim="800000"/>
            <a:headEnd/>
            <a:tailEnd/>
          </a:ln>
          <a:effec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rial" charset="0"/>
                <a:ea typeface="+mn-ea"/>
                <a:cs typeface="Arial" charset="0"/>
              </a:rPr>
              <a:t>3</a:t>
            </a:r>
          </a:p>
        </p:txBody>
      </p:sp>
      <p:sp>
        <p:nvSpPr>
          <p:cNvPr id="33" name="Text Box 12">
            <a:extLst>
              <a:ext uri="{FF2B5EF4-FFF2-40B4-BE49-F238E27FC236}">
                <a16:creationId xmlns:a16="http://schemas.microsoft.com/office/drawing/2014/main" id="{CC10F6ED-E08F-497F-9DF7-EA572D0688FE}"/>
              </a:ext>
            </a:extLst>
          </p:cNvPr>
          <p:cNvSpPr txBox="1">
            <a:spLocks noChangeArrowheads="1"/>
          </p:cNvSpPr>
          <p:nvPr/>
        </p:nvSpPr>
        <p:spPr bwMode="gray">
          <a:xfrm>
            <a:off x="3366755" y="1795463"/>
            <a:ext cx="354013" cy="457200"/>
          </a:xfrm>
          <a:prstGeom prst="rect">
            <a:avLst/>
          </a:prstGeom>
          <a:noFill/>
          <a:ln w="9525" algn="ctr">
            <a:noFill/>
            <a:miter lim="800000"/>
            <a:headEnd/>
            <a:tailEnd/>
          </a:ln>
          <a:effec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charset="0"/>
                <a:ea typeface="+mn-ea"/>
                <a:cs typeface="Arial" charset="0"/>
              </a:rPr>
              <a:t>1</a:t>
            </a:r>
          </a:p>
        </p:txBody>
      </p:sp>
      <p:sp>
        <p:nvSpPr>
          <p:cNvPr id="36" name="Text Box 15">
            <a:extLst>
              <a:ext uri="{FF2B5EF4-FFF2-40B4-BE49-F238E27FC236}">
                <a16:creationId xmlns:a16="http://schemas.microsoft.com/office/drawing/2014/main" id="{8C9CEF5F-083A-4E8D-AF07-F151B057DD5C}"/>
              </a:ext>
            </a:extLst>
          </p:cNvPr>
          <p:cNvSpPr txBox="1">
            <a:spLocks noChangeArrowheads="1"/>
          </p:cNvSpPr>
          <p:nvPr/>
        </p:nvSpPr>
        <p:spPr bwMode="gray">
          <a:xfrm>
            <a:off x="3366756" y="4292646"/>
            <a:ext cx="354013" cy="457200"/>
          </a:xfrm>
          <a:prstGeom prst="rect">
            <a:avLst/>
          </a:prstGeom>
          <a:noFill/>
          <a:ln w="9525" algn="ctr">
            <a:noFill/>
            <a:miter lim="800000"/>
            <a:headEnd/>
            <a:tailEnd/>
          </a:ln>
          <a:effec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charset="0"/>
                <a:ea typeface="+mn-ea"/>
                <a:cs typeface="Arial" charset="0"/>
              </a:rPr>
              <a:t>4</a:t>
            </a:r>
          </a:p>
        </p:txBody>
      </p:sp>
      <p:sp>
        <p:nvSpPr>
          <p:cNvPr id="43" name="Text Box 15">
            <a:extLst>
              <a:ext uri="{FF2B5EF4-FFF2-40B4-BE49-F238E27FC236}">
                <a16:creationId xmlns:a16="http://schemas.microsoft.com/office/drawing/2014/main" id="{A0FE4705-1ADE-4554-A9AA-B21C929CF4E9}"/>
              </a:ext>
            </a:extLst>
          </p:cNvPr>
          <p:cNvSpPr txBox="1">
            <a:spLocks noChangeArrowheads="1"/>
          </p:cNvSpPr>
          <p:nvPr/>
        </p:nvSpPr>
        <p:spPr bwMode="gray">
          <a:xfrm>
            <a:off x="3365168" y="5073788"/>
            <a:ext cx="354013" cy="457200"/>
          </a:xfrm>
          <a:prstGeom prst="rect">
            <a:avLst/>
          </a:prstGeom>
          <a:noFill/>
          <a:ln w="9525" algn="ctr">
            <a:noFill/>
            <a:miter lim="800000"/>
            <a:headEnd/>
            <a:tailEnd/>
          </a:ln>
          <a:effec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charset="0"/>
                <a:ea typeface="+mn-ea"/>
                <a:cs typeface="Arial" charset="0"/>
              </a:rPr>
              <a:t>5</a:t>
            </a:r>
          </a:p>
        </p:txBody>
      </p:sp>
      <p:sp>
        <p:nvSpPr>
          <p:cNvPr id="35" name="Rectangle 2">
            <a:extLst>
              <a:ext uri="{FF2B5EF4-FFF2-40B4-BE49-F238E27FC236}">
                <a16:creationId xmlns:a16="http://schemas.microsoft.com/office/drawing/2014/main" id="{951CC16F-0599-4A0E-B9AC-4763892333C1}"/>
              </a:ext>
            </a:extLst>
          </p:cNvPr>
          <p:cNvSpPr txBox="1">
            <a:spLocks noChangeArrowheads="1"/>
          </p:cNvSpPr>
          <p:nvPr/>
        </p:nvSpPr>
        <p:spPr>
          <a:xfrm>
            <a:off x="1752600" y="2072547"/>
            <a:ext cx="8610600" cy="1896157"/>
          </a:xfrm>
          <a:prstGeom prst="rect">
            <a:avLst/>
          </a:prstGeom>
        </p:spPr>
        <p:txBody>
          <a:bodyPr/>
          <a:lstStyle>
            <a:lvl1pPr algn="l" rtl="0" eaLnBrk="1" fontAlgn="base" hangingPunct="1">
              <a:spcBef>
                <a:spcPct val="0"/>
              </a:spcBef>
              <a:spcAft>
                <a:spcPct val="0"/>
              </a:spcAft>
              <a:defRPr sz="3600" b="1">
                <a:solidFill>
                  <a:srgbClr val="FFFFFF"/>
                </a:solidFill>
                <a:latin typeface="+mj-lt"/>
                <a:ea typeface="+mj-ea"/>
                <a:cs typeface="+mj-cs"/>
              </a:defRPr>
            </a:lvl1pPr>
            <a:lvl2pPr algn="l" rtl="0" eaLnBrk="1" fontAlgn="base" hangingPunct="1">
              <a:spcBef>
                <a:spcPct val="0"/>
              </a:spcBef>
              <a:spcAft>
                <a:spcPct val="0"/>
              </a:spcAft>
              <a:defRPr sz="4400" b="1">
                <a:solidFill>
                  <a:srgbClr val="FFFFFF"/>
                </a:solidFill>
                <a:latin typeface="Arial" charset="0"/>
              </a:defRPr>
            </a:lvl2pPr>
            <a:lvl3pPr algn="l" rtl="0" eaLnBrk="1" fontAlgn="base" hangingPunct="1">
              <a:spcBef>
                <a:spcPct val="0"/>
              </a:spcBef>
              <a:spcAft>
                <a:spcPct val="0"/>
              </a:spcAft>
              <a:defRPr sz="4400" b="1">
                <a:solidFill>
                  <a:srgbClr val="FFFFFF"/>
                </a:solidFill>
                <a:latin typeface="Arial" charset="0"/>
              </a:defRPr>
            </a:lvl3pPr>
            <a:lvl4pPr algn="l" rtl="0" eaLnBrk="1" fontAlgn="base" hangingPunct="1">
              <a:spcBef>
                <a:spcPct val="0"/>
              </a:spcBef>
              <a:spcAft>
                <a:spcPct val="0"/>
              </a:spcAft>
              <a:defRPr sz="4400" b="1">
                <a:solidFill>
                  <a:srgbClr val="FFFFFF"/>
                </a:solidFill>
                <a:latin typeface="Arial" charset="0"/>
              </a:defRPr>
            </a:lvl4pPr>
            <a:lvl5pPr algn="l" rtl="0" eaLnBrk="1" fontAlgn="base" hangingPunct="1">
              <a:spcBef>
                <a:spcPct val="0"/>
              </a:spcBef>
              <a:spcAft>
                <a:spcPct val="0"/>
              </a:spcAft>
              <a:defRPr sz="4400" b="1">
                <a:solidFill>
                  <a:srgbClr val="FFFFFF"/>
                </a:solidFill>
                <a:latin typeface="Arial" charset="0"/>
              </a:defRPr>
            </a:lvl5pPr>
            <a:lvl6pPr marL="457200" algn="l" rtl="0" eaLnBrk="1" fontAlgn="base" hangingPunct="1">
              <a:spcBef>
                <a:spcPct val="0"/>
              </a:spcBef>
              <a:spcAft>
                <a:spcPct val="0"/>
              </a:spcAft>
              <a:defRPr sz="4400" b="1">
                <a:solidFill>
                  <a:srgbClr val="FFFFFF"/>
                </a:solidFill>
                <a:latin typeface="Arial" charset="0"/>
              </a:defRPr>
            </a:lvl6pPr>
            <a:lvl7pPr marL="914400" algn="l" rtl="0" eaLnBrk="1" fontAlgn="base" hangingPunct="1">
              <a:spcBef>
                <a:spcPct val="0"/>
              </a:spcBef>
              <a:spcAft>
                <a:spcPct val="0"/>
              </a:spcAft>
              <a:defRPr sz="4400" b="1">
                <a:solidFill>
                  <a:srgbClr val="FFFFFF"/>
                </a:solidFill>
                <a:latin typeface="Arial" charset="0"/>
              </a:defRPr>
            </a:lvl7pPr>
            <a:lvl8pPr marL="1371600" algn="l" rtl="0" eaLnBrk="1" fontAlgn="base" hangingPunct="1">
              <a:spcBef>
                <a:spcPct val="0"/>
              </a:spcBef>
              <a:spcAft>
                <a:spcPct val="0"/>
              </a:spcAft>
              <a:defRPr sz="4400" b="1">
                <a:solidFill>
                  <a:srgbClr val="FFFFFF"/>
                </a:solidFill>
                <a:latin typeface="Arial" charset="0"/>
              </a:defRPr>
            </a:lvl8pPr>
            <a:lvl9pPr marL="1828800" algn="l" rtl="0" eaLnBrk="1" fontAlgn="base" hangingPunct="1">
              <a:spcBef>
                <a:spcPct val="0"/>
              </a:spcBef>
              <a:spcAft>
                <a:spcPct val="0"/>
              </a:spcAft>
              <a:defRPr sz="4400" b="1">
                <a:solidFill>
                  <a:srgbClr val="FFFFFF"/>
                </a:solidFill>
                <a:latin typeface="Arial" charset="0"/>
              </a:defRPr>
            </a:lvl9p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en-US" sz="3600" b="1" i="0" u="none" strike="noStrike" kern="1200" cap="none" spc="0" normalizeH="0" baseline="0" noProof="0">
                <a:ln>
                  <a:noFill/>
                </a:ln>
                <a:solidFill>
                  <a:srgbClr val="0070C0"/>
                </a:solidFill>
                <a:effectLst/>
                <a:uLnTx/>
                <a:uFillTx/>
                <a:latin typeface="Arial"/>
                <a:ea typeface="+mj-ea"/>
                <a:cs typeface="+mj-cs"/>
              </a:rPr>
              <a:t>Triển khai trình tạo văn bản bằng RNN</a:t>
            </a:r>
            <a:endParaRPr kumimoji="0" lang="en-US" sz="3600" b="1" i="0" u="none" strike="noStrike" kern="0" cap="none" spc="0" normalizeH="0" baseline="0" noProof="0" dirty="0">
              <a:ln>
                <a:noFill/>
              </a:ln>
              <a:solidFill>
                <a:srgbClr val="0070C0"/>
              </a:solidFill>
              <a:effectLst/>
              <a:uLnTx/>
              <a:uFillTx/>
              <a:latin typeface="Arial"/>
              <a:ea typeface="+mj-ea"/>
              <a:cs typeface="+mj-cs"/>
            </a:endParaRPr>
          </a:p>
        </p:txBody>
      </p:sp>
    </p:spTree>
    <p:extLst>
      <p:ext uri="{BB962C8B-B14F-4D97-AF65-F5344CB8AC3E}">
        <p14:creationId xmlns:p14="http://schemas.microsoft.com/office/powerpoint/2010/main" val="337406061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sz="3200"/>
              <a:t>Các bước thực hiện</a:t>
            </a:r>
            <a:endParaRPr lang="en-US" sz="3200" dirty="0"/>
          </a:p>
        </p:txBody>
      </p:sp>
      <p:sp>
        <p:nvSpPr>
          <p:cNvPr id="2" name="Slide Number Placeholder 1">
            <a:extLst>
              <a:ext uri="{FF2B5EF4-FFF2-40B4-BE49-F238E27FC236}">
                <a16:creationId xmlns:a16="http://schemas.microsoft.com/office/drawing/2014/main" id="{94D98416-5966-4429-8FC9-45E4C827526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6" name="Rectangle 25">
            <a:extLst>
              <a:ext uri="{FF2B5EF4-FFF2-40B4-BE49-F238E27FC236}">
                <a16:creationId xmlns:a16="http://schemas.microsoft.com/office/drawing/2014/main" id="{71B6AF97-5BEE-4F75-8C76-2F985CCD9B8A}"/>
              </a:ext>
            </a:extLst>
          </p:cNvPr>
          <p:cNvSpPr>
            <a:spLocks noChangeArrowheads="1"/>
          </p:cNvSpPr>
          <p:nvPr/>
        </p:nvSpPr>
        <p:spPr bwMode="black">
          <a:xfrm>
            <a:off x="0" y="1094275"/>
            <a:ext cx="12192000" cy="958660"/>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en-US" sz="2000" kern="0">
                <a:solidFill>
                  <a:srgbClr val="0070C0"/>
                </a:solidFill>
                <a:latin typeface="Arial"/>
              </a:rPr>
              <a:t>Mục tiêu: c</a:t>
            </a:r>
            <a:r>
              <a:rPr lang="vi-VN" sz="2000" kern="0">
                <a:solidFill>
                  <a:srgbClr val="0070C0"/>
                </a:solidFill>
                <a:latin typeface="Arial"/>
              </a:rPr>
              <a:t>ách triển khai một trình tạo văn bản sử dụng RNN trong TensorFlow và Keras</a:t>
            </a:r>
            <a:r>
              <a:rPr lang="en-US" sz="2000" kern="0">
                <a:solidFill>
                  <a:srgbClr val="0070C0"/>
                </a:solidFill>
                <a:latin typeface="Arial"/>
              </a:rPr>
              <a:t> → </a:t>
            </a:r>
            <a:r>
              <a:rPr lang="vi-VN" sz="2000" kern="0">
                <a:solidFill>
                  <a:srgbClr val="0070C0"/>
                </a:solidFill>
                <a:latin typeface="Arial"/>
              </a:rPr>
              <a:t>tạo một mô hình RNN học các mẫu từ một chuỗi văn bản và sinh ra văn bản mới theo từng ký tự</a:t>
            </a:r>
            <a:endParaRPr kumimoji="0" lang="en-US" sz="2000" b="0" i="0" u="none" strike="noStrike" kern="0" cap="none" spc="0" normalizeH="0" baseline="0" noProof="0">
              <a:ln>
                <a:noFill/>
              </a:ln>
              <a:solidFill>
                <a:srgbClr val="0070C0"/>
              </a:solidFill>
              <a:effectLst/>
              <a:uLnTx/>
              <a:uFillTx/>
              <a:latin typeface="Arial"/>
              <a:ea typeface="+mn-ea"/>
              <a:cs typeface="+mn-cs"/>
            </a:endParaRPr>
          </a:p>
        </p:txBody>
      </p:sp>
      <p:sp>
        <p:nvSpPr>
          <p:cNvPr id="10" name="Rectangle 25">
            <a:extLst>
              <a:ext uri="{FF2B5EF4-FFF2-40B4-BE49-F238E27FC236}">
                <a16:creationId xmlns:a16="http://schemas.microsoft.com/office/drawing/2014/main" id="{18485B51-B14F-4669-AFC0-58E34972ED50}"/>
              </a:ext>
            </a:extLst>
          </p:cNvPr>
          <p:cNvSpPr>
            <a:spLocks noChangeArrowheads="1"/>
          </p:cNvSpPr>
          <p:nvPr/>
        </p:nvSpPr>
        <p:spPr bwMode="black">
          <a:xfrm>
            <a:off x="0" y="1981200"/>
            <a:ext cx="12192000" cy="496996"/>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lang="vi-VN" sz="2000" kern="0">
                <a:solidFill>
                  <a:srgbClr val="0070C0"/>
                </a:solidFill>
                <a:latin typeface="Arial"/>
              </a:rPr>
              <a:t>Bước 1: </a:t>
            </a:r>
            <a:r>
              <a:rPr lang="en-US" sz="2000" kern="0">
                <a:solidFill>
                  <a:srgbClr val="0070C0"/>
                </a:solidFill>
                <a:latin typeface="Arial"/>
              </a:rPr>
              <a:t>import</a:t>
            </a:r>
            <a:r>
              <a:rPr lang="vi-VN" sz="2000" kern="0">
                <a:solidFill>
                  <a:srgbClr val="0070C0"/>
                </a:solidFill>
                <a:latin typeface="Arial"/>
              </a:rPr>
              <a:t> các thư viện cần thiết</a:t>
            </a:r>
            <a:endParaRPr kumimoji="0" lang="en-US" sz="2000" b="0" i="0" u="none" strike="noStrike" kern="0" cap="none" spc="0" normalizeH="0" baseline="0" noProof="0">
              <a:ln>
                <a:noFill/>
              </a:ln>
              <a:solidFill>
                <a:srgbClr val="0070C0"/>
              </a:solidFill>
              <a:effectLst/>
              <a:uLnTx/>
              <a:uFillTx/>
              <a:latin typeface="Arial"/>
              <a:ea typeface="+mn-ea"/>
              <a:cs typeface="+mn-cs"/>
            </a:endParaRPr>
          </a:p>
        </p:txBody>
      </p:sp>
      <p:sp>
        <p:nvSpPr>
          <p:cNvPr id="13" name="Rectangle 25">
            <a:extLst>
              <a:ext uri="{FF2B5EF4-FFF2-40B4-BE49-F238E27FC236}">
                <a16:creationId xmlns:a16="http://schemas.microsoft.com/office/drawing/2014/main" id="{D7A5B5B1-2D94-4D62-99B6-24DF29FB4835}"/>
              </a:ext>
            </a:extLst>
          </p:cNvPr>
          <p:cNvSpPr>
            <a:spLocks noChangeArrowheads="1"/>
          </p:cNvSpPr>
          <p:nvPr/>
        </p:nvSpPr>
        <p:spPr bwMode="black">
          <a:xfrm>
            <a:off x="0" y="3581400"/>
            <a:ext cx="12192000" cy="142032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kumimoji="0" lang="en-US" sz="2000" b="0" i="0" u="none" strike="noStrike" kern="0" cap="none" spc="0" normalizeH="0" baseline="0" noProof="0">
                <a:ln>
                  <a:noFill/>
                </a:ln>
                <a:solidFill>
                  <a:srgbClr val="0070C0"/>
                </a:solidFill>
                <a:effectLst/>
                <a:uLnTx/>
                <a:uFillTx/>
                <a:latin typeface="Arial"/>
                <a:ea typeface="+mn-ea"/>
                <a:cs typeface="+mn-cs"/>
              </a:rPr>
              <a:t>Bước</a:t>
            </a:r>
            <a:r>
              <a:rPr lang="en-US" sz="2000" kern="0">
                <a:solidFill>
                  <a:srgbClr val="0070C0"/>
                </a:solidFill>
                <a:latin typeface="Arial"/>
              </a:rPr>
              <a:t> 2: Xác định văn bản đầu vào và bộ ký tự</a:t>
            </a:r>
          </a:p>
          <a:p>
            <a:pPr marL="342900" lvl="0" indent="-342900" algn="just" fontAlgn="auto">
              <a:lnSpc>
                <a:spcPct val="150000"/>
              </a:lnSpc>
              <a:spcBef>
                <a:spcPts val="0"/>
              </a:spcBef>
              <a:spcAft>
                <a:spcPts val="0"/>
              </a:spcAft>
              <a:buFont typeface="Wingdings" panose="05000000000000000000" pitchFamily="2" charset="2"/>
              <a:buChar char="§"/>
              <a:defRPr/>
            </a:pPr>
            <a:r>
              <a:rPr lang="vi-VN" sz="2000" kern="0">
                <a:solidFill>
                  <a:srgbClr val="0070C0"/>
                </a:solidFill>
                <a:latin typeface="Arial"/>
              </a:rPr>
              <a:t>Văn bản đầu vào được cung cấp dưới dạng một chuỗi, và sau đó xác định tất cả các ký tự duy nhất từ văn bản</a:t>
            </a:r>
            <a:endParaRPr lang="en-US" sz="2000" kern="0">
              <a:solidFill>
                <a:srgbClr val="0070C0"/>
              </a:solidFill>
              <a:latin typeface="Arial"/>
            </a:endParaRPr>
          </a:p>
        </p:txBody>
      </p:sp>
      <p:pic>
        <p:nvPicPr>
          <p:cNvPr id="4" name="Picture 3">
            <a:extLst>
              <a:ext uri="{FF2B5EF4-FFF2-40B4-BE49-F238E27FC236}">
                <a16:creationId xmlns:a16="http://schemas.microsoft.com/office/drawing/2014/main" id="{58CCC37E-5692-4BC1-9C87-AB745BE08C3F}"/>
              </a:ext>
            </a:extLst>
          </p:cNvPr>
          <p:cNvPicPr>
            <a:picLocks noChangeAspect="1"/>
          </p:cNvPicPr>
          <p:nvPr/>
        </p:nvPicPr>
        <p:blipFill>
          <a:blip r:embed="rId3"/>
          <a:stretch>
            <a:fillRect/>
          </a:stretch>
        </p:blipFill>
        <p:spPr>
          <a:xfrm>
            <a:off x="0" y="2478196"/>
            <a:ext cx="6238356" cy="1103204"/>
          </a:xfrm>
          <a:prstGeom prst="rect">
            <a:avLst/>
          </a:prstGeom>
        </p:spPr>
      </p:pic>
      <p:pic>
        <p:nvPicPr>
          <p:cNvPr id="8" name="Picture 7">
            <a:extLst>
              <a:ext uri="{FF2B5EF4-FFF2-40B4-BE49-F238E27FC236}">
                <a16:creationId xmlns:a16="http://schemas.microsoft.com/office/drawing/2014/main" id="{0387E947-9A1D-4D36-945B-040215808BCB}"/>
              </a:ext>
            </a:extLst>
          </p:cNvPr>
          <p:cNvPicPr>
            <a:picLocks noChangeAspect="1"/>
          </p:cNvPicPr>
          <p:nvPr/>
        </p:nvPicPr>
        <p:blipFill>
          <a:blip r:embed="rId4"/>
          <a:stretch>
            <a:fillRect/>
          </a:stretch>
        </p:blipFill>
        <p:spPr>
          <a:xfrm>
            <a:off x="5800317" y="5134034"/>
            <a:ext cx="6306366" cy="958660"/>
          </a:xfrm>
          <a:prstGeom prst="rect">
            <a:avLst/>
          </a:prstGeom>
        </p:spPr>
      </p:pic>
      <p:sp>
        <p:nvSpPr>
          <p:cNvPr id="14" name="Rectangle 25">
            <a:extLst>
              <a:ext uri="{FF2B5EF4-FFF2-40B4-BE49-F238E27FC236}">
                <a16:creationId xmlns:a16="http://schemas.microsoft.com/office/drawing/2014/main" id="{4A6B000C-9B89-4825-8165-3F94310B09EC}"/>
              </a:ext>
            </a:extLst>
          </p:cNvPr>
          <p:cNvSpPr>
            <a:spLocks noChangeArrowheads="1"/>
          </p:cNvSpPr>
          <p:nvPr/>
        </p:nvSpPr>
        <p:spPr bwMode="black">
          <a:xfrm>
            <a:off x="0" y="4952207"/>
            <a:ext cx="5715000" cy="142032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
              <a:defRPr/>
            </a:pPr>
            <a:r>
              <a:rPr lang="en-US" sz="2000" kern="0">
                <a:solidFill>
                  <a:srgbClr val="0070C0"/>
                </a:solidFill>
                <a:latin typeface="Arial"/>
              </a:rPr>
              <a:t>Tạo ra các ánh xạ từ ký tự sang chỉ số (char_to_index) và từ chỉ số sang ký tự (index_to_char)</a:t>
            </a:r>
            <a:endParaRPr kumimoji="0" lang="en-US" sz="2000" b="0" i="0" u="none" strike="noStrike" kern="0" cap="none" spc="0" normalizeH="0" baseline="0" noProof="0">
              <a:ln>
                <a:noFill/>
              </a:ln>
              <a:solidFill>
                <a:srgbClr val="0070C0"/>
              </a:solidFill>
              <a:effectLst/>
              <a:uLnTx/>
              <a:uFillTx/>
              <a:latin typeface="Arial"/>
              <a:ea typeface="+mn-ea"/>
              <a:cs typeface="+mn-cs"/>
            </a:endParaRPr>
          </a:p>
        </p:txBody>
      </p:sp>
    </p:spTree>
    <p:extLst>
      <p:ext uri="{BB962C8B-B14F-4D97-AF65-F5344CB8AC3E}">
        <p14:creationId xmlns:p14="http://schemas.microsoft.com/office/powerpoint/2010/main" val="13222853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randombar(horizontal)">
                                      <p:cBhvr>
                                        <p:cTn id="12" dur="500"/>
                                        <p:tgtEl>
                                          <p:spTgt spid="10"/>
                                        </p:tgtEl>
                                      </p:cBhvr>
                                    </p:animEffect>
                                  </p:childTnLst>
                                </p:cTn>
                              </p:par>
                              <p:par>
                                <p:cTn id="13" presetID="14" presetClass="entr" presetSubtype="1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randombar(horizontal)">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randombar(horizontal)">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randombar(horizontal)">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randombar(horizontal)">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3" grpId="0"/>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sz="3200"/>
              <a:t>Các bước thực hiện</a:t>
            </a:r>
            <a:endParaRPr lang="en-US" sz="3200" dirty="0"/>
          </a:p>
        </p:txBody>
      </p:sp>
      <p:sp>
        <p:nvSpPr>
          <p:cNvPr id="2" name="Slide Number Placeholder 1">
            <a:extLst>
              <a:ext uri="{FF2B5EF4-FFF2-40B4-BE49-F238E27FC236}">
                <a16:creationId xmlns:a16="http://schemas.microsoft.com/office/drawing/2014/main" id="{94D98416-5966-4429-8FC9-45E4C827526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0" name="Rectangle 25">
            <a:extLst>
              <a:ext uri="{FF2B5EF4-FFF2-40B4-BE49-F238E27FC236}">
                <a16:creationId xmlns:a16="http://schemas.microsoft.com/office/drawing/2014/main" id="{18485B51-B14F-4669-AFC0-58E34972ED50}"/>
              </a:ext>
            </a:extLst>
          </p:cNvPr>
          <p:cNvSpPr>
            <a:spLocks noChangeArrowheads="1"/>
          </p:cNvSpPr>
          <p:nvPr/>
        </p:nvSpPr>
        <p:spPr bwMode="black">
          <a:xfrm>
            <a:off x="0" y="1066800"/>
            <a:ext cx="12192000" cy="1420325"/>
          </a:xfrm>
          <a:prstGeom prst="rect">
            <a:avLst/>
          </a:prstGeom>
          <a:noFill/>
          <a:ln w="9525" algn="ctr">
            <a:noFill/>
            <a:miter lim="800000"/>
            <a:headEnd/>
            <a:tailEnd/>
          </a:ln>
          <a:effectLst/>
        </p:spPr>
        <p:txBody>
          <a:bodyPr wrap="square">
            <a:spAutoFit/>
          </a:bodyPr>
          <a:lstStyle/>
          <a:p>
            <a:pPr marL="342900" lvl="0" indent="-342900" algn="just" fontAlgn="auto">
              <a:lnSpc>
                <a:spcPct val="150000"/>
              </a:lnSpc>
              <a:spcBef>
                <a:spcPts val="0"/>
              </a:spcBef>
              <a:spcAft>
                <a:spcPts val="0"/>
              </a:spcAft>
              <a:buFont typeface="Wingdings" panose="05000000000000000000" pitchFamily="2" charset="2"/>
              <a:buChar char="v"/>
              <a:defRPr/>
            </a:pPr>
            <a:r>
              <a:rPr kumimoji="0" lang="vi-VN" sz="2000" b="0" i="0" u="none" strike="noStrike" kern="0" cap="none" spc="0" normalizeH="0" baseline="0" noProof="0">
                <a:ln>
                  <a:noFill/>
                </a:ln>
                <a:solidFill>
                  <a:srgbClr val="0070C0"/>
                </a:solidFill>
                <a:effectLst/>
                <a:uLnTx/>
                <a:uFillTx/>
                <a:latin typeface="Arial"/>
                <a:ea typeface="+mn-ea"/>
                <a:cs typeface="+mn-cs"/>
              </a:rPr>
              <a:t>Bước </a:t>
            </a:r>
            <a:r>
              <a:rPr kumimoji="0" lang="en-US" sz="2000" b="0" i="0" u="none" strike="noStrike" kern="0" cap="none" spc="0" normalizeH="0" baseline="0" noProof="0">
                <a:ln>
                  <a:noFill/>
                </a:ln>
                <a:solidFill>
                  <a:srgbClr val="0070C0"/>
                </a:solidFill>
                <a:effectLst/>
                <a:uLnTx/>
                <a:uFillTx/>
                <a:latin typeface="Arial"/>
                <a:ea typeface="+mn-ea"/>
                <a:cs typeface="+mn-cs"/>
              </a:rPr>
              <a:t>3</a:t>
            </a:r>
            <a:r>
              <a:rPr kumimoji="0" lang="vi-VN" sz="2000" b="0" i="0" u="none" strike="noStrike" kern="0" cap="none" spc="0" normalizeH="0" baseline="0" noProof="0">
                <a:ln>
                  <a:noFill/>
                </a:ln>
                <a:solidFill>
                  <a:srgbClr val="0070C0"/>
                </a:solidFill>
                <a:effectLst/>
                <a:uLnTx/>
                <a:uFillTx/>
                <a:latin typeface="Arial"/>
                <a:ea typeface="+mn-ea"/>
                <a:cs typeface="+mn-cs"/>
              </a:rPr>
              <a:t>: </a:t>
            </a:r>
            <a:r>
              <a:rPr lang="en-US" sz="2000" kern="0">
                <a:solidFill>
                  <a:srgbClr val="0070C0"/>
                </a:solidFill>
                <a:latin typeface="Arial"/>
              </a:rPr>
              <a:t>Tạo chuỗi và nhãn</a:t>
            </a:r>
          </a:p>
          <a:p>
            <a:pPr lvl="0" algn="just" fontAlgn="auto">
              <a:lnSpc>
                <a:spcPct val="150000"/>
              </a:lnSpc>
              <a:spcBef>
                <a:spcPts val="0"/>
              </a:spcBef>
              <a:spcAft>
                <a:spcPts val="0"/>
              </a:spcAft>
              <a:defRPr/>
            </a:pPr>
            <a:r>
              <a:rPr lang="en-US" sz="2000" kern="0">
                <a:solidFill>
                  <a:srgbClr val="000000"/>
                </a:solidFill>
                <a:latin typeface="Arial"/>
              </a:rPr>
              <a:t>Để huấn luyện mô hình RNN, cần tạo các chuỗi có độ dài cố định (ở đây là seq_length = 3) và ký tự theo sau mỗi chuỗi là nhãn</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pic>
        <p:nvPicPr>
          <p:cNvPr id="9" name="Picture 8">
            <a:extLst>
              <a:ext uri="{FF2B5EF4-FFF2-40B4-BE49-F238E27FC236}">
                <a16:creationId xmlns:a16="http://schemas.microsoft.com/office/drawing/2014/main" id="{DCA1476F-9DA6-4423-AC97-A05F9863B144}"/>
              </a:ext>
            </a:extLst>
          </p:cNvPr>
          <p:cNvPicPr>
            <a:picLocks noChangeAspect="1"/>
          </p:cNvPicPr>
          <p:nvPr/>
        </p:nvPicPr>
        <p:blipFill>
          <a:blip r:embed="rId3"/>
          <a:stretch>
            <a:fillRect/>
          </a:stretch>
        </p:blipFill>
        <p:spPr>
          <a:xfrm>
            <a:off x="76199" y="2487125"/>
            <a:ext cx="6501113" cy="2923075"/>
          </a:xfrm>
          <a:prstGeom prst="rect">
            <a:avLst/>
          </a:prstGeom>
        </p:spPr>
      </p:pic>
    </p:spTree>
    <p:extLst>
      <p:ext uri="{BB962C8B-B14F-4D97-AF65-F5344CB8AC3E}">
        <p14:creationId xmlns:p14="http://schemas.microsoft.com/office/powerpoint/2010/main" val="109289371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sz="3200"/>
              <a:t>Các bước thực hiện</a:t>
            </a:r>
            <a:endParaRPr lang="en-US" sz="3200" dirty="0"/>
          </a:p>
        </p:txBody>
      </p:sp>
      <p:sp>
        <p:nvSpPr>
          <p:cNvPr id="2" name="Slide Number Placeholder 1">
            <a:extLst>
              <a:ext uri="{FF2B5EF4-FFF2-40B4-BE49-F238E27FC236}">
                <a16:creationId xmlns:a16="http://schemas.microsoft.com/office/drawing/2014/main" id="{94D98416-5966-4429-8FC9-45E4C827526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0" name="Rectangle 25">
            <a:extLst>
              <a:ext uri="{FF2B5EF4-FFF2-40B4-BE49-F238E27FC236}">
                <a16:creationId xmlns:a16="http://schemas.microsoft.com/office/drawing/2014/main" id="{18485B51-B14F-4669-AFC0-58E34972ED50}"/>
              </a:ext>
            </a:extLst>
          </p:cNvPr>
          <p:cNvSpPr>
            <a:spLocks noChangeArrowheads="1"/>
          </p:cNvSpPr>
          <p:nvPr/>
        </p:nvSpPr>
        <p:spPr bwMode="black">
          <a:xfrm>
            <a:off x="0" y="1066800"/>
            <a:ext cx="12192000" cy="1420325"/>
          </a:xfrm>
          <a:prstGeom prst="rect">
            <a:avLst/>
          </a:prstGeom>
          <a:noFill/>
          <a:ln w="9525" algn="ctr">
            <a:noFill/>
            <a:miter lim="800000"/>
            <a:headEnd/>
            <a:tailEnd/>
          </a:ln>
          <a:effectLst/>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vi-VN" sz="2000" b="0" i="0" u="none" strike="noStrike" kern="0" cap="none" spc="0" normalizeH="0" baseline="0" noProof="0">
                <a:ln>
                  <a:noFill/>
                </a:ln>
                <a:solidFill>
                  <a:srgbClr val="0070C0"/>
                </a:solidFill>
                <a:effectLst/>
                <a:uLnTx/>
                <a:uFillTx/>
                <a:latin typeface="Arial"/>
                <a:ea typeface="+mn-ea"/>
                <a:cs typeface="+mn-cs"/>
              </a:rPr>
              <a:t>Bước </a:t>
            </a:r>
            <a:r>
              <a:rPr lang="en-US" sz="2000" kern="0">
                <a:solidFill>
                  <a:srgbClr val="0070C0"/>
                </a:solidFill>
                <a:latin typeface="Arial"/>
              </a:rPr>
              <a:t>4</a:t>
            </a:r>
            <a:r>
              <a:rPr kumimoji="0" lang="vi-VN" sz="2000" b="0" i="0" u="none" strike="noStrike" kern="0" cap="none" spc="0" normalizeH="0" baseline="0" noProof="0">
                <a:ln>
                  <a:noFill/>
                </a:ln>
                <a:solidFill>
                  <a:srgbClr val="0070C0"/>
                </a:solidFill>
                <a:effectLst/>
                <a:uLnTx/>
                <a:uFillTx/>
                <a:latin typeface="Arial"/>
                <a:ea typeface="+mn-ea"/>
                <a:cs typeface="+mn-cs"/>
              </a:rPr>
              <a:t>: </a:t>
            </a:r>
            <a:r>
              <a:rPr kumimoji="0" lang="en-US" sz="2000" b="0" i="0" u="none" strike="noStrike" kern="0" cap="none" spc="0" normalizeH="0" baseline="0" noProof="0">
                <a:ln>
                  <a:noFill/>
                </a:ln>
                <a:solidFill>
                  <a:srgbClr val="0070C0"/>
                </a:solidFill>
                <a:effectLst/>
                <a:uLnTx/>
                <a:uFillTx/>
                <a:latin typeface="Arial"/>
                <a:ea typeface="+mn-ea"/>
                <a:cs typeface="+mn-cs"/>
              </a:rPr>
              <a:t>Chuyển đổi chuỗi và nhãn thành mã hóa one-hot</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a:ea typeface="+mn-ea"/>
                <a:cs typeface="+mn-cs"/>
              </a:rPr>
              <a:t>Để huấn luyện mô hình RNN, cần tạo các chuỗi có độ dài cố định (ở đây là seq_length = 3) và ký tự theo sau mỗi chuỗi là nhãn</a:t>
            </a:r>
          </a:p>
        </p:txBody>
      </p:sp>
      <p:pic>
        <p:nvPicPr>
          <p:cNvPr id="4" name="Picture 3">
            <a:extLst>
              <a:ext uri="{FF2B5EF4-FFF2-40B4-BE49-F238E27FC236}">
                <a16:creationId xmlns:a16="http://schemas.microsoft.com/office/drawing/2014/main" id="{7F30D2BD-B8F1-4981-A436-4A7314F1585C}"/>
              </a:ext>
            </a:extLst>
          </p:cNvPr>
          <p:cNvPicPr>
            <a:picLocks noChangeAspect="1"/>
          </p:cNvPicPr>
          <p:nvPr/>
        </p:nvPicPr>
        <p:blipFill>
          <a:blip r:embed="rId3"/>
          <a:stretch>
            <a:fillRect/>
          </a:stretch>
        </p:blipFill>
        <p:spPr>
          <a:xfrm>
            <a:off x="152400" y="2479751"/>
            <a:ext cx="5172442" cy="637075"/>
          </a:xfrm>
          <a:prstGeom prst="rect">
            <a:avLst/>
          </a:prstGeom>
        </p:spPr>
      </p:pic>
      <p:sp>
        <p:nvSpPr>
          <p:cNvPr id="8" name="Rectangle 25">
            <a:extLst>
              <a:ext uri="{FF2B5EF4-FFF2-40B4-BE49-F238E27FC236}">
                <a16:creationId xmlns:a16="http://schemas.microsoft.com/office/drawing/2014/main" id="{A62473C1-72E3-42DC-BCC0-7E4D6C055B93}"/>
              </a:ext>
            </a:extLst>
          </p:cNvPr>
          <p:cNvSpPr>
            <a:spLocks noChangeArrowheads="1"/>
          </p:cNvSpPr>
          <p:nvPr/>
        </p:nvSpPr>
        <p:spPr bwMode="black">
          <a:xfrm>
            <a:off x="-7037" y="3064626"/>
            <a:ext cx="12192000" cy="958660"/>
          </a:xfrm>
          <a:prstGeom prst="rect">
            <a:avLst/>
          </a:prstGeom>
          <a:noFill/>
          <a:ln w="9525" algn="ctr">
            <a:noFill/>
            <a:miter lim="800000"/>
            <a:headEnd/>
            <a:tailEnd/>
          </a:ln>
          <a:effectLst/>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vi-VN" sz="2000" b="0" i="0" u="none" strike="noStrike" kern="0" cap="none" spc="0" normalizeH="0" baseline="0" noProof="0">
                <a:ln>
                  <a:noFill/>
                </a:ln>
                <a:solidFill>
                  <a:srgbClr val="0070C0"/>
                </a:solidFill>
                <a:effectLst/>
                <a:uLnTx/>
                <a:uFillTx/>
                <a:latin typeface="Arial"/>
                <a:ea typeface="+mn-ea"/>
                <a:cs typeface="+mn-cs"/>
              </a:rPr>
              <a:t>Bước </a:t>
            </a:r>
            <a:r>
              <a:rPr kumimoji="0" lang="en-US" sz="2000" b="0" i="0" u="none" strike="noStrike" kern="0" cap="none" spc="0" normalizeH="0" baseline="0" noProof="0">
                <a:ln>
                  <a:noFill/>
                </a:ln>
                <a:solidFill>
                  <a:srgbClr val="0070C0"/>
                </a:solidFill>
                <a:effectLst/>
                <a:uLnTx/>
                <a:uFillTx/>
                <a:latin typeface="Arial"/>
                <a:ea typeface="+mn-ea"/>
                <a:cs typeface="+mn-cs"/>
              </a:rPr>
              <a:t>5</a:t>
            </a:r>
            <a:r>
              <a:rPr kumimoji="0" lang="vi-VN" sz="2000" b="0" i="0" u="none" strike="noStrike" kern="0" cap="none" spc="0" normalizeH="0" baseline="0" noProof="0">
                <a:ln>
                  <a:noFill/>
                </a:ln>
                <a:solidFill>
                  <a:srgbClr val="0070C0"/>
                </a:solidFill>
                <a:effectLst/>
                <a:uLnTx/>
                <a:uFillTx/>
                <a:latin typeface="Arial"/>
                <a:ea typeface="+mn-ea"/>
                <a:cs typeface="+mn-cs"/>
              </a:rPr>
              <a:t>: Xây dựng mô hình RNN</a:t>
            </a:r>
            <a:endParaRPr kumimoji="0" lang="en-US" sz="2000" b="0" i="0" u="none" strike="noStrike" kern="0" cap="none" spc="0" normalizeH="0" baseline="0" noProof="0">
              <a:ln>
                <a:noFill/>
              </a:ln>
              <a:solidFill>
                <a:srgbClr val="0070C0"/>
              </a:solidFill>
              <a:effectLst/>
              <a:uLnTx/>
              <a:uFillTx/>
              <a:latin typeface="Arial"/>
              <a:ea typeface="+mn-ea"/>
              <a:cs typeface="+mn-cs"/>
            </a:endParaRPr>
          </a:p>
          <a:p>
            <a:pPr marR="0" lvl="0" algn="just" defTabSz="914400" rtl="0" eaLnBrk="1" fontAlgn="auto" latinLnBrk="0" hangingPunct="1">
              <a:lnSpc>
                <a:spcPct val="150000"/>
              </a:lnSpc>
              <a:spcBef>
                <a:spcPts val="0"/>
              </a:spcBef>
              <a:spcAft>
                <a:spcPts val="0"/>
              </a:spcAft>
              <a:buClrTx/>
              <a:buSzTx/>
              <a:tabLst/>
              <a:defRPr/>
            </a:pPr>
            <a:r>
              <a:rPr lang="en-US" sz="2000" kern="0">
                <a:solidFill>
                  <a:srgbClr val="000000"/>
                </a:solidFill>
                <a:latin typeface="Arial"/>
              </a:rPr>
              <a:t>Đ</a:t>
            </a:r>
            <a:r>
              <a:rPr kumimoji="0" lang="vi-VN" sz="2000" b="0" i="0" u="none" strike="noStrike" kern="0" cap="none" spc="0" normalizeH="0" baseline="0" noProof="0">
                <a:ln>
                  <a:noFill/>
                </a:ln>
                <a:solidFill>
                  <a:srgbClr val="000000"/>
                </a:solidFill>
                <a:effectLst/>
                <a:uLnTx/>
                <a:uFillTx/>
                <a:latin typeface="Arial"/>
                <a:ea typeface="+mn-ea"/>
                <a:cs typeface="+mn-cs"/>
              </a:rPr>
              <a:t>ược xây dựng với một lớp ẩn có 50 đơn vị và một lớp đầu ra Dense với hàm kích hoạt softmax</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pic>
        <p:nvPicPr>
          <p:cNvPr id="6" name="Picture 5">
            <a:extLst>
              <a:ext uri="{FF2B5EF4-FFF2-40B4-BE49-F238E27FC236}">
                <a16:creationId xmlns:a16="http://schemas.microsoft.com/office/drawing/2014/main" id="{9C32C975-A988-4E67-93AE-673E9C8E6152}"/>
              </a:ext>
            </a:extLst>
          </p:cNvPr>
          <p:cNvPicPr>
            <a:picLocks noChangeAspect="1"/>
          </p:cNvPicPr>
          <p:nvPr/>
        </p:nvPicPr>
        <p:blipFill>
          <a:blip r:embed="rId4"/>
          <a:stretch>
            <a:fillRect/>
          </a:stretch>
        </p:blipFill>
        <p:spPr>
          <a:xfrm>
            <a:off x="38992" y="4023286"/>
            <a:ext cx="7777653" cy="1200858"/>
          </a:xfrm>
          <a:prstGeom prst="rect">
            <a:avLst/>
          </a:prstGeom>
        </p:spPr>
      </p:pic>
    </p:spTree>
    <p:extLst>
      <p:ext uri="{BB962C8B-B14F-4D97-AF65-F5344CB8AC3E}">
        <p14:creationId xmlns:p14="http://schemas.microsoft.com/office/powerpoint/2010/main" val="811824425"/>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sz="3200"/>
              <a:t>Các bước thực hiện</a:t>
            </a:r>
            <a:endParaRPr lang="en-US" sz="3200" dirty="0"/>
          </a:p>
        </p:txBody>
      </p:sp>
      <p:sp>
        <p:nvSpPr>
          <p:cNvPr id="2" name="Slide Number Placeholder 1">
            <a:extLst>
              <a:ext uri="{FF2B5EF4-FFF2-40B4-BE49-F238E27FC236}">
                <a16:creationId xmlns:a16="http://schemas.microsoft.com/office/drawing/2014/main" id="{94D98416-5966-4429-8FC9-45E4C827526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F2E8D5-BEF0-49D0-9908-6830265409D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0" name="Rectangle 25">
            <a:extLst>
              <a:ext uri="{FF2B5EF4-FFF2-40B4-BE49-F238E27FC236}">
                <a16:creationId xmlns:a16="http://schemas.microsoft.com/office/drawing/2014/main" id="{18485B51-B14F-4669-AFC0-58E34972ED50}"/>
              </a:ext>
            </a:extLst>
          </p:cNvPr>
          <p:cNvSpPr>
            <a:spLocks noChangeArrowheads="1"/>
          </p:cNvSpPr>
          <p:nvPr/>
        </p:nvSpPr>
        <p:spPr bwMode="black">
          <a:xfrm>
            <a:off x="0" y="1066800"/>
            <a:ext cx="12192000" cy="1420325"/>
          </a:xfrm>
          <a:prstGeom prst="rect">
            <a:avLst/>
          </a:prstGeom>
          <a:noFill/>
          <a:ln w="9525" algn="ctr">
            <a:noFill/>
            <a:miter lim="800000"/>
            <a:headEnd/>
            <a:tailEnd/>
          </a:ln>
          <a:effectLst/>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vi-VN" sz="2000" b="0" i="0" u="none" strike="noStrike" kern="0" cap="none" spc="0" normalizeH="0" baseline="0" noProof="0">
                <a:ln>
                  <a:noFill/>
                </a:ln>
                <a:solidFill>
                  <a:srgbClr val="0070C0"/>
                </a:solidFill>
                <a:effectLst/>
                <a:uLnTx/>
                <a:uFillTx/>
                <a:latin typeface="Arial"/>
                <a:ea typeface="+mn-ea"/>
                <a:cs typeface="+mn-cs"/>
              </a:rPr>
              <a:t>Bước </a:t>
            </a:r>
            <a:r>
              <a:rPr lang="en-US" sz="2000" kern="0">
                <a:solidFill>
                  <a:srgbClr val="0070C0"/>
                </a:solidFill>
                <a:latin typeface="Arial"/>
              </a:rPr>
              <a:t>6</a:t>
            </a:r>
            <a:r>
              <a:rPr kumimoji="0" lang="vi-VN" sz="2000" b="0" i="0" u="none" strike="noStrike" kern="0" cap="none" spc="0" normalizeH="0" baseline="0" noProof="0">
                <a:ln>
                  <a:noFill/>
                </a:ln>
                <a:solidFill>
                  <a:srgbClr val="0070C0"/>
                </a:solidFill>
                <a:effectLst/>
                <a:uLnTx/>
                <a:uFillTx/>
                <a:latin typeface="Arial"/>
                <a:ea typeface="+mn-ea"/>
                <a:cs typeface="+mn-cs"/>
              </a:rPr>
              <a:t>: Biên dịch và huấn luyện mô hình</a:t>
            </a:r>
            <a:endParaRPr kumimoji="0" lang="en-US" sz="2000" b="0" i="0" u="none" strike="noStrike" kern="0" cap="none" spc="0" normalizeH="0" baseline="0" noProof="0">
              <a:ln>
                <a:noFill/>
              </a:ln>
              <a:solidFill>
                <a:srgbClr val="0070C0"/>
              </a:solidFill>
              <a:effectLst/>
              <a:uLnTx/>
              <a:uFillTx/>
              <a:latin typeface="Arial"/>
              <a:ea typeface="+mn-ea"/>
              <a:cs typeface="+mn-cs"/>
            </a:endParaRPr>
          </a:p>
          <a:p>
            <a:pPr marR="0" lvl="0" algn="just" defTabSz="914400" rtl="0" eaLnBrk="1" fontAlgn="auto" latinLnBrk="0" hangingPunct="1">
              <a:lnSpc>
                <a:spcPct val="150000"/>
              </a:lnSpc>
              <a:spcBef>
                <a:spcPts val="0"/>
              </a:spcBef>
              <a:spcAft>
                <a:spcPts val="0"/>
              </a:spcAft>
              <a:buClrTx/>
              <a:buSzTx/>
              <a:tabLst/>
              <a:defRPr/>
            </a:pPr>
            <a:r>
              <a:rPr kumimoji="0" lang="vi-VN" sz="2000" b="0" i="0" u="none" strike="noStrike" kern="0" cap="none" spc="0" normalizeH="0" baseline="0" noProof="0">
                <a:ln>
                  <a:noFill/>
                </a:ln>
                <a:solidFill>
                  <a:srgbClr val="000000"/>
                </a:solidFill>
                <a:effectLst/>
                <a:uLnTx/>
                <a:uFillTx/>
                <a:latin typeface="Arial"/>
                <a:ea typeface="+mn-ea"/>
                <a:cs typeface="+mn-cs"/>
              </a:rPr>
              <a:t>Mô hình được biên dịch với hàm mất mát categorical_crossentropy và tối ưu hóa bằng Adam. Mô hình sẽ được huấn luyện trong 100 epoch</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sp>
        <p:nvSpPr>
          <p:cNvPr id="8" name="Rectangle 25">
            <a:extLst>
              <a:ext uri="{FF2B5EF4-FFF2-40B4-BE49-F238E27FC236}">
                <a16:creationId xmlns:a16="http://schemas.microsoft.com/office/drawing/2014/main" id="{A62473C1-72E3-42DC-BCC0-7E4D6C055B93}"/>
              </a:ext>
            </a:extLst>
          </p:cNvPr>
          <p:cNvSpPr>
            <a:spLocks noChangeArrowheads="1"/>
          </p:cNvSpPr>
          <p:nvPr/>
        </p:nvSpPr>
        <p:spPr bwMode="black">
          <a:xfrm>
            <a:off x="-7037" y="3276600"/>
            <a:ext cx="12192000" cy="496996"/>
          </a:xfrm>
          <a:prstGeom prst="rect">
            <a:avLst/>
          </a:prstGeom>
          <a:noFill/>
          <a:ln w="9525" algn="ctr">
            <a:noFill/>
            <a:miter lim="800000"/>
            <a:headEnd/>
            <a:tailEnd/>
          </a:ln>
          <a:effectLst/>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vi-VN" sz="2000" b="0" i="0" u="none" strike="noStrike" kern="0" cap="none" spc="0" normalizeH="0" baseline="0" noProof="0">
                <a:ln>
                  <a:noFill/>
                </a:ln>
                <a:solidFill>
                  <a:srgbClr val="0070C0"/>
                </a:solidFill>
                <a:effectLst/>
                <a:uLnTx/>
                <a:uFillTx/>
                <a:latin typeface="Arial"/>
                <a:ea typeface="+mn-ea"/>
                <a:cs typeface="+mn-cs"/>
              </a:rPr>
              <a:t>Bước</a:t>
            </a:r>
            <a:r>
              <a:rPr kumimoji="0" lang="en-US" sz="2000" b="0" i="0" u="none" strike="noStrike" kern="0" cap="none" spc="0" normalizeH="0" baseline="0" noProof="0">
                <a:ln>
                  <a:noFill/>
                </a:ln>
                <a:solidFill>
                  <a:srgbClr val="0070C0"/>
                </a:solidFill>
                <a:effectLst/>
                <a:uLnTx/>
                <a:uFillTx/>
                <a:latin typeface="Arial"/>
                <a:ea typeface="+mn-ea"/>
                <a:cs typeface="+mn-cs"/>
              </a:rPr>
              <a:t> 7</a:t>
            </a:r>
            <a:r>
              <a:rPr kumimoji="0" lang="vi-VN" sz="2000" b="0" i="0" u="none" strike="noStrike" kern="0" cap="none" spc="0" normalizeH="0" baseline="0" noProof="0">
                <a:ln>
                  <a:noFill/>
                </a:ln>
                <a:solidFill>
                  <a:srgbClr val="0070C0"/>
                </a:solidFill>
                <a:effectLst/>
                <a:uLnTx/>
                <a:uFillTx/>
                <a:latin typeface="Arial"/>
                <a:ea typeface="+mn-ea"/>
                <a:cs typeface="+mn-cs"/>
              </a:rPr>
              <a:t>: </a:t>
            </a:r>
            <a:r>
              <a:rPr kumimoji="0" lang="en-US" sz="2000" b="0" i="0" u="none" strike="noStrike" kern="0" cap="none" spc="0" normalizeH="0" baseline="0" noProof="0">
                <a:ln>
                  <a:noFill/>
                </a:ln>
                <a:solidFill>
                  <a:srgbClr val="0070C0"/>
                </a:solidFill>
                <a:effectLst/>
                <a:uLnTx/>
                <a:uFillTx/>
                <a:latin typeface="Arial"/>
                <a:ea typeface="+mn-ea"/>
                <a:cs typeface="+mn-cs"/>
              </a:rPr>
              <a:t>S</a:t>
            </a:r>
            <a:r>
              <a:rPr kumimoji="0" lang="vi-VN" sz="2000" b="0" i="0" u="none" strike="noStrike" kern="0" cap="none" spc="0" normalizeH="0" baseline="0" noProof="0">
                <a:ln>
                  <a:noFill/>
                </a:ln>
                <a:solidFill>
                  <a:srgbClr val="0070C0"/>
                </a:solidFill>
                <a:effectLst/>
                <a:uLnTx/>
                <a:uFillTx/>
                <a:latin typeface="Arial"/>
                <a:ea typeface="+mn-ea"/>
                <a:cs typeface="+mn-cs"/>
              </a:rPr>
              <a:t>au khi huấn luyện, sử dụng một chuỗi khởi đầu để sinh ra văn bản mới theo từng ký tự</a:t>
            </a:r>
            <a:endParaRPr kumimoji="0" lang="en-US" sz="2000" b="0" i="0" u="none" strike="noStrike" kern="0" cap="none" spc="0" normalizeH="0" baseline="0" noProof="0">
              <a:ln>
                <a:noFill/>
              </a:ln>
              <a:solidFill>
                <a:srgbClr val="000000"/>
              </a:solidFill>
              <a:effectLst/>
              <a:uLnTx/>
              <a:uFillTx/>
              <a:latin typeface="Arial"/>
              <a:ea typeface="+mn-ea"/>
              <a:cs typeface="+mn-cs"/>
            </a:endParaRPr>
          </a:p>
        </p:txBody>
      </p:sp>
      <p:pic>
        <p:nvPicPr>
          <p:cNvPr id="5" name="Picture 4">
            <a:extLst>
              <a:ext uri="{FF2B5EF4-FFF2-40B4-BE49-F238E27FC236}">
                <a16:creationId xmlns:a16="http://schemas.microsoft.com/office/drawing/2014/main" id="{85B30990-6310-4F33-A127-C08DD4863FD4}"/>
              </a:ext>
            </a:extLst>
          </p:cNvPr>
          <p:cNvPicPr>
            <a:picLocks noChangeAspect="1"/>
          </p:cNvPicPr>
          <p:nvPr/>
        </p:nvPicPr>
        <p:blipFill>
          <a:blip r:embed="rId3"/>
          <a:stretch>
            <a:fillRect/>
          </a:stretch>
        </p:blipFill>
        <p:spPr>
          <a:xfrm>
            <a:off x="0" y="2466702"/>
            <a:ext cx="7818924" cy="835816"/>
          </a:xfrm>
          <a:prstGeom prst="rect">
            <a:avLst/>
          </a:prstGeom>
        </p:spPr>
      </p:pic>
      <p:pic>
        <p:nvPicPr>
          <p:cNvPr id="9" name="Picture 8">
            <a:extLst>
              <a:ext uri="{FF2B5EF4-FFF2-40B4-BE49-F238E27FC236}">
                <a16:creationId xmlns:a16="http://schemas.microsoft.com/office/drawing/2014/main" id="{F5AEB79B-D637-4E29-830A-25BC414E44F8}"/>
              </a:ext>
            </a:extLst>
          </p:cNvPr>
          <p:cNvPicPr>
            <a:picLocks noChangeAspect="1"/>
          </p:cNvPicPr>
          <p:nvPr/>
        </p:nvPicPr>
        <p:blipFill>
          <a:blip r:embed="rId4"/>
          <a:stretch>
            <a:fillRect/>
          </a:stretch>
        </p:blipFill>
        <p:spPr>
          <a:xfrm>
            <a:off x="152400" y="3773596"/>
            <a:ext cx="4695012" cy="2855624"/>
          </a:xfrm>
          <a:prstGeom prst="rect">
            <a:avLst/>
          </a:prstGeom>
        </p:spPr>
      </p:pic>
      <p:sp>
        <p:nvSpPr>
          <p:cNvPr id="12" name="Rectangle 25">
            <a:extLst>
              <a:ext uri="{FF2B5EF4-FFF2-40B4-BE49-F238E27FC236}">
                <a16:creationId xmlns:a16="http://schemas.microsoft.com/office/drawing/2014/main" id="{A48E106D-4D6E-42EF-A137-DCC5ADEB2FF7}"/>
              </a:ext>
            </a:extLst>
          </p:cNvPr>
          <p:cNvSpPr>
            <a:spLocks noChangeArrowheads="1"/>
          </p:cNvSpPr>
          <p:nvPr/>
        </p:nvSpPr>
        <p:spPr bwMode="black">
          <a:xfrm>
            <a:off x="5105400" y="4302810"/>
            <a:ext cx="7079562" cy="958660"/>
          </a:xfrm>
          <a:prstGeom prst="rect">
            <a:avLst/>
          </a:prstGeom>
          <a:noFill/>
          <a:ln w="9525" algn="ctr">
            <a:noFill/>
            <a:miter lim="800000"/>
            <a:headEnd/>
            <a:tailEnd/>
          </a:ln>
          <a:effectLst/>
        </p:spPr>
        <p:txBody>
          <a:bodyPr wrap="square">
            <a:spAutoFit/>
          </a:bodyPr>
          <a:lstStyle/>
          <a:p>
            <a:pPr marR="0" lvl="0" algn="just" defTabSz="914400" rtl="0" eaLnBrk="1" fontAlgn="auto" latinLnBrk="0" hangingPunct="1">
              <a:lnSpc>
                <a:spcPct val="150000"/>
              </a:lnSpc>
              <a:spcBef>
                <a:spcPts val="0"/>
              </a:spcBef>
              <a:spcAft>
                <a:spcPts val="0"/>
              </a:spcAft>
              <a:buClrTx/>
              <a:buSzTx/>
              <a:tabLst/>
              <a:defRPr/>
            </a:pPr>
            <a:r>
              <a:rPr kumimoji="0" lang="en-US" sz="2000" b="0" i="0" u="none" strike="noStrike" kern="0" cap="none" spc="0" normalizeH="0" baseline="0" noProof="0">
                <a:ln>
                  <a:noFill/>
                </a:ln>
                <a:solidFill>
                  <a:srgbClr val="000000"/>
                </a:solidFill>
                <a:effectLst/>
                <a:uLnTx/>
                <a:uFillTx/>
                <a:latin typeface="Arial"/>
                <a:ea typeface="+mn-ea"/>
                <a:cs typeface="+mn-cs"/>
              </a:rPr>
              <a:t>Generated Text:</a:t>
            </a:r>
          </a:p>
          <a:p>
            <a:pPr marR="0" lvl="0" algn="just" defTabSz="914400" rtl="0" eaLnBrk="1" fontAlgn="auto" latinLnBrk="0" hangingPunct="1">
              <a:lnSpc>
                <a:spcPct val="150000"/>
              </a:lnSpc>
              <a:spcBef>
                <a:spcPts val="0"/>
              </a:spcBef>
              <a:spcAft>
                <a:spcPts val="0"/>
              </a:spcAft>
              <a:buClrTx/>
              <a:buSzTx/>
              <a:tabLst/>
              <a:defRPr/>
            </a:pPr>
            <a:r>
              <a:rPr kumimoji="0" lang="en-US" sz="2000" b="0" i="0" u="none" strike="noStrike" kern="0" cap="none" spc="0" normalizeH="0" baseline="0" noProof="0">
                <a:ln>
                  <a:noFill/>
                </a:ln>
                <a:solidFill>
                  <a:srgbClr val="000000"/>
                </a:solidFill>
                <a:effectLst/>
                <a:uLnTx/>
                <a:uFillTx/>
                <a:latin typeface="Arial"/>
                <a:ea typeface="+mn-ea"/>
                <a:cs typeface="+mn-cs"/>
              </a:rPr>
              <a:t>This is RAbotic and artificial intelligence 21DRTA1s sobotic</a:t>
            </a:r>
          </a:p>
        </p:txBody>
      </p:sp>
    </p:spTree>
    <p:extLst>
      <p:ext uri="{BB962C8B-B14F-4D97-AF65-F5344CB8AC3E}">
        <p14:creationId xmlns:p14="http://schemas.microsoft.com/office/powerpoint/2010/main" val="2964476683"/>
      </p:ext>
    </p:extLst>
  </p:cSld>
  <p:clrMapOvr>
    <a:masterClrMapping/>
  </p:clrMapOvr>
  <p:transition/>
</p:sld>
</file>

<file path=ppt/theme/theme1.xml><?xml version="1.0" encoding="utf-8"?>
<a:theme xmlns:a="http://schemas.openxmlformats.org/drawingml/2006/main" name="574TGp_natural_light_ani">
  <a:themeElements>
    <a:clrScheme name="Default Design 2">
      <a:dk1>
        <a:srgbClr val="808080"/>
      </a:dk1>
      <a:lt1>
        <a:srgbClr val="9BD3E5"/>
      </a:lt1>
      <a:dk2>
        <a:srgbClr val="357DA9"/>
      </a:dk2>
      <a:lt2>
        <a:srgbClr val="101C56"/>
      </a:lt2>
      <a:accent1>
        <a:srgbClr val="58BECC"/>
      </a:accent1>
      <a:accent2>
        <a:srgbClr val="8A5BDF"/>
      </a:accent2>
      <a:accent3>
        <a:srgbClr val="AEBFD1"/>
      </a:accent3>
      <a:accent4>
        <a:srgbClr val="84B4C3"/>
      </a:accent4>
      <a:accent5>
        <a:srgbClr val="B4DBE2"/>
      </a:accent5>
      <a:accent6>
        <a:srgbClr val="7D52CA"/>
      </a:accent6>
      <a:hlink>
        <a:srgbClr val="6ECC4C"/>
      </a:hlink>
      <a:folHlink>
        <a:srgbClr val="DD693B"/>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808080"/>
        </a:dk1>
        <a:lt1>
          <a:srgbClr val="EADCC0"/>
        </a:lt1>
        <a:dk2>
          <a:srgbClr val="F97407"/>
        </a:dk2>
        <a:lt2>
          <a:srgbClr val="E65D00"/>
        </a:lt2>
        <a:accent1>
          <a:srgbClr val="FBCF2D"/>
        </a:accent1>
        <a:accent2>
          <a:srgbClr val="5C8CDA"/>
        </a:accent2>
        <a:accent3>
          <a:srgbClr val="FBBCAA"/>
        </a:accent3>
        <a:accent4>
          <a:srgbClr val="C8BCA4"/>
        </a:accent4>
        <a:accent5>
          <a:srgbClr val="FDE4AD"/>
        </a:accent5>
        <a:accent6>
          <a:srgbClr val="537EC5"/>
        </a:accent6>
        <a:hlink>
          <a:srgbClr val="87D242"/>
        </a:hlink>
        <a:folHlink>
          <a:srgbClr val="DA6478"/>
        </a:folHlink>
      </a:clrScheme>
      <a:clrMap bg1="dk2" tx1="lt1" bg2="dk1" tx2="lt2" accent1="accent1" accent2="accent2" accent3="accent3" accent4="accent4" accent5="accent5" accent6="accent6" hlink="hlink" folHlink="folHlink"/>
    </a:extraClrScheme>
    <a:extraClrScheme>
      <a:clrScheme name="Default Design 2">
        <a:dk1>
          <a:srgbClr val="808080"/>
        </a:dk1>
        <a:lt1>
          <a:srgbClr val="9BD3E5"/>
        </a:lt1>
        <a:dk2>
          <a:srgbClr val="357DA9"/>
        </a:dk2>
        <a:lt2>
          <a:srgbClr val="101C56"/>
        </a:lt2>
        <a:accent1>
          <a:srgbClr val="58BECC"/>
        </a:accent1>
        <a:accent2>
          <a:srgbClr val="8A5BDF"/>
        </a:accent2>
        <a:accent3>
          <a:srgbClr val="AEBFD1"/>
        </a:accent3>
        <a:accent4>
          <a:srgbClr val="84B4C3"/>
        </a:accent4>
        <a:accent5>
          <a:srgbClr val="B4DBE2"/>
        </a:accent5>
        <a:accent6>
          <a:srgbClr val="7D52CA"/>
        </a:accent6>
        <a:hlink>
          <a:srgbClr val="6ECC4C"/>
        </a:hlink>
        <a:folHlink>
          <a:srgbClr val="DD693B"/>
        </a:folHlink>
      </a:clrScheme>
      <a:clrMap bg1="dk2" tx1="lt1" bg2="dk1" tx2="lt2" accent1="accent1" accent2="accent2" accent3="accent3" accent4="accent4" accent5="accent5" accent6="accent6" hlink="hlink" folHlink="folHlink"/>
    </a:extraClrScheme>
    <a:extraClrScheme>
      <a:clrScheme name="Default Design 3">
        <a:dk1>
          <a:srgbClr val="808080"/>
        </a:dk1>
        <a:lt1>
          <a:srgbClr val="DDE89A"/>
        </a:lt1>
        <a:dk2>
          <a:srgbClr val="329A2A"/>
        </a:dk2>
        <a:lt2>
          <a:srgbClr val="185E25"/>
        </a:lt2>
        <a:accent1>
          <a:srgbClr val="80CB35"/>
        </a:accent1>
        <a:accent2>
          <a:srgbClr val="518CD3"/>
        </a:accent2>
        <a:accent3>
          <a:srgbClr val="ADCAAC"/>
        </a:accent3>
        <a:accent4>
          <a:srgbClr val="BDC683"/>
        </a:accent4>
        <a:accent5>
          <a:srgbClr val="C0E2AE"/>
        </a:accent5>
        <a:accent6>
          <a:srgbClr val="497EBF"/>
        </a:accent6>
        <a:hlink>
          <a:srgbClr val="E15D7C"/>
        </a:hlink>
        <a:folHlink>
          <a:srgbClr val="DB915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574TGp_natural_light_ani.potx" id="{DDF4D210-2475-40A5-A718-CAA8F83961FF}" vid="{48ADF561-6F08-41CB-9CB4-8EBE6A06E71B}"/>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574TGp_natural_light_ani</Template>
  <TotalTime>50132</TotalTime>
  <Words>3026</Words>
  <Application>Microsoft Office PowerPoint</Application>
  <PresentationFormat>Widescreen</PresentationFormat>
  <Paragraphs>242</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Cambria Math</vt:lpstr>
      <vt:lpstr>Wingdings</vt:lpstr>
      <vt:lpstr>574TGp_natural_light_ani</vt:lpstr>
      <vt:lpstr>PowerPoint Presentation</vt:lpstr>
      <vt:lpstr>PowerPoint Presentation</vt:lpstr>
      <vt:lpstr>Đặt vấn đề</vt:lpstr>
      <vt:lpstr>RNN là gì?</vt:lpstr>
      <vt:lpstr>Sự khác biệt giữa RNN và mạng nơ-ron truyền thẳng</vt:lpstr>
      <vt:lpstr>Sự khác biệt giữa RNN và mạng nơ-ron truyền thẳng</vt:lpstr>
      <vt:lpstr>Các thành phần chính của RNN</vt:lpstr>
      <vt:lpstr>Các loại RNN</vt:lpstr>
      <vt:lpstr>Các loại RNN</vt:lpstr>
      <vt:lpstr>Các biến thể của RNN</vt:lpstr>
      <vt:lpstr>Các biến thể của RNN</vt:lpstr>
      <vt:lpstr>Các biến thể của RNN</vt:lpstr>
      <vt:lpstr>Các biến thể của RNN</vt:lpstr>
      <vt:lpstr>Các biến thể của RNN</vt:lpstr>
      <vt:lpstr>Cấu trúc của RNN</vt:lpstr>
      <vt:lpstr>Cấu trúc của RNN</vt:lpstr>
      <vt:lpstr>Cấu trúc của RNN</vt:lpstr>
      <vt:lpstr>Cấu trúc của RNN</vt:lpstr>
      <vt:lpstr>RNN hoạt động như thế nào?</vt:lpstr>
      <vt:lpstr>RNN hoạt động như thế nào?</vt:lpstr>
      <vt:lpstr>Quá trình huấn luyện trong RNN</vt:lpstr>
      <vt:lpstr>Quá trình huấn luyện trong RNN</vt:lpstr>
      <vt:lpstr>PowerPoint Presentation</vt:lpstr>
      <vt:lpstr>Các bước thực hiện</vt:lpstr>
      <vt:lpstr>Các bước thực hiện</vt:lpstr>
      <vt:lpstr>Các bước thực hiện</vt:lpstr>
      <vt:lpstr>Các bước thực hiện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K510</dc:creator>
  <cp:lastModifiedBy>Admin</cp:lastModifiedBy>
  <cp:revision>2069</cp:revision>
  <dcterms:created xsi:type="dcterms:W3CDTF">2020-05-14T09:21:55Z</dcterms:created>
  <dcterms:modified xsi:type="dcterms:W3CDTF">2025-12-10T05:43:28Z</dcterms:modified>
</cp:coreProperties>
</file>